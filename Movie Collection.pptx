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286" r:id="rId6"/>
    <p:sldId id="287" r:id="rId7"/>
    <p:sldId id="258" r:id="rId8"/>
    <p:sldId id="288" r:id="rId9"/>
    <p:sldId id="289"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0" d="100"/>
          <a:sy n="100" d="100"/>
        </p:scale>
        <p:origin x="96" y="31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7FBC2C-7374-47D2-80FB-7EEFCC3436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0F84FE9-52D2-4850-9A80-36CE7D6CF24A}">
      <dgm:prSet/>
      <dgm:spPr/>
      <dgm:t>
        <a:bodyPr/>
        <a:lstStyle/>
        <a:p>
          <a:r>
            <a:rPr lang="en-US"/>
            <a:t>We have imported the data in visual studio code. We discovered that we have data type in int and float and object types.</a:t>
          </a:r>
        </a:p>
      </dgm:t>
    </dgm:pt>
    <dgm:pt modelId="{3F1AAF7F-F6C2-4B1F-9867-E23C3DC3302F}" type="parTrans" cxnId="{CFBDBFCD-42EE-4E53-AC9D-CAED1D9FDEB4}">
      <dgm:prSet/>
      <dgm:spPr/>
      <dgm:t>
        <a:bodyPr/>
        <a:lstStyle/>
        <a:p>
          <a:endParaRPr lang="en-US"/>
        </a:p>
      </dgm:t>
    </dgm:pt>
    <dgm:pt modelId="{CAEFBE66-8173-4B02-BB39-D34F4E3C0083}" type="sibTrans" cxnId="{CFBDBFCD-42EE-4E53-AC9D-CAED1D9FDEB4}">
      <dgm:prSet/>
      <dgm:spPr/>
      <dgm:t>
        <a:bodyPr/>
        <a:lstStyle/>
        <a:p>
          <a:endParaRPr lang="en-US"/>
        </a:p>
      </dgm:t>
    </dgm:pt>
    <dgm:pt modelId="{4D56077F-F903-4B71-AC64-7C556CD2DCD9}">
      <dgm:prSet/>
      <dgm:spPr/>
      <dgm:t>
        <a:bodyPr/>
        <a:lstStyle/>
        <a:p>
          <a:r>
            <a:rPr lang="en-US"/>
            <a:t>There was 12 null values in Time taken column. We have removed the null values as it was less than 3%.</a:t>
          </a:r>
        </a:p>
      </dgm:t>
    </dgm:pt>
    <dgm:pt modelId="{4DED0CC4-ED84-49A6-9502-C3816C61F13F}" type="parTrans" cxnId="{7BE96534-7B64-41CF-AF47-9F65317DB0C3}">
      <dgm:prSet/>
      <dgm:spPr/>
      <dgm:t>
        <a:bodyPr/>
        <a:lstStyle/>
        <a:p>
          <a:endParaRPr lang="en-US"/>
        </a:p>
      </dgm:t>
    </dgm:pt>
    <dgm:pt modelId="{C92577BA-1844-41FF-A4D5-9262FAE801AD}" type="sibTrans" cxnId="{7BE96534-7B64-41CF-AF47-9F65317DB0C3}">
      <dgm:prSet/>
      <dgm:spPr/>
      <dgm:t>
        <a:bodyPr/>
        <a:lstStyle/>
        <a:p>
          <a:endParaRPr lang="en-US"/>
        </a:p>
      </dgm:t>
    </dgm:pt>
    <dgm:pt modelId="{7C936063-1905-4BFB-82F0-FB0978F3C629}">
      <dgm:prSet/>
      <dgm:spPr/>
      <dgm:t>
        <a:bodyPr/>
        <a:lstStyle/>
        <a:p>
          <a:r>
            <a:rPr lang="en-US"/>
            <a:t>There was no duplicate values present. The data was almost clean without any noise.</a:t>
          </a:r>
        </a:p>
      </dgm:t>
    </dgm:pt>
    <dgm:pt modelId="{BD06F4B8-F509-4B8A-9CAD-8C1FE142E00B}" type="parTrans" cxnId="{253932F9-6AB4-4653-9F01-3ADFB9FE5FC4}">
      <dgm:prSet/>
      <dgm:spPr/>
      <dgm:t>
        <a:bodyPr/>
        <a:lstStyle/>
        <a:p>
          <a:endParaRPr lang="en-US"/>
        </a:p>
      </dgm:t>
    </dgm:pt>
    <dgm:pt modelId="{5B51F4EE-1D4D-4F2A-B8F4-F4F4DD795921}" type="sibTrans" cxnId="{253932F9-6AB4-4653-9F01-3ADFB9FE5FC4}">
      <dgm:prSet/>
      <dgm:spPr/>
      <dgm:t>
        <a:bodyPr/>
        <a:lstStyle/>
        <a:p>
          <a:endParaRPr lang="en-US"/>
        </a:p>
      </dgm:t>
    </dgm:pt>
    <dgm:pt modelId="{2DB9F25B-2E00-4042-9C98-B76E87BC9C37}" type="pres">
      <dgm:prSet presAssocID="{D57FBC2C-7374-47D2-80FB-7EEFCC343649}" presName="root" presStyleCnt="0">
        <dgm:presLayoutVars>
          <dgm:dir/>
          <dgm:resizeHandles val="exact"/>
        </dgm:presLayoutVars>
      </dgm:prSet>
      <dgm:spPr/>
    </dgm:pt>
    <dgm:pt modelId="{D5E0B696-D7DF-4467-89F2-4C7569238084}" type="pres">
      <dgm:prSet presAssocID="{90F84FE9-52D2-4850-9A80-36CE7D6CF24A}" presName="compNode" presStyleCnt="0"/>
      <dgm:spPr/>
    </dgm:pt>
    <dgm:pt modelId="{6F69487B-907C-44C6-8EA0-9C46CEE0BE7B}" type="pres">
      <dgm:prSet presAssocID="{90F84FE9-52D2-4850-9A80-36CE7D6CF24A}" presName="bgRect" presStyleLbl="bgShp" presStyleIdx="0" presStyleCnt="3"/>
      <dgm:spPr/>
    </dgm:pt>
    <dgm:pt modelId="{9FAE1156-9FB2-46A6-B808-55D69368C834}" type="pres">
      <dgm:prSet presAssocID="{90F84FE9-52D2-4850-9A80-36CE7D6CF24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5FCEE325-313E-437F-AD52-7521C06C4858}" type="pres">
      <dgm:prSet presAssocID="{90F84FE9-52D2-4850-9A80-36CE7D6CF24A}" presName="spaceRect" presStyleCnt="0"/>
      <dgm:spPr/>
    </dgm:pt>
    <dgm:pt modelId="{36242C59-7F00-46E3-99C4-D0303FE14EEC}" type="pres">
      <dgm:prSet presAssocID="{90F84FE9-52D2-4850-9A80-36CE7D6CF24A}" presName="parTx" presStyleLbl="revTx" presStyleIdx="0" presStyleCnt="3">
        <dgm:presLayoutVars>
          <dgm:chMax val="0"/>
          <dgm:chPref val="0"/>
        </dgm:presLayoutVars>
      </dgm:prSet>
      <dgm:spPr/>
    </dgm:pt>
    <dgm:pt modelId="{D82B54D3-6B34-43C1-90C8-100C68255EAF}" type="pres">
      <dgm:prSet presAssocID="{CAEFBE66-8173-4B02-BB39-D34F4E3C0083}" presName="sibTrans" presStyleCnt="0"/>
      <dgm:spPr/>
    </dgm:pt>
    <dgm:pt modelId="{FBBEAF96-FD97-48C7-B98A-9750801077EE}" type="pres">
      <dgm:prSet presAssocID="{4D56077F-F903-4B71-AC64-7C556CD2DCD9}" presName="compNode" presStyleCnt="0"/>
      <dgm:spPr/>
    </dgm:pt>
    <dgm:pt modelId="{886522E6-92FA-4305-8548-39F228BCC156}" type="pres">
      <dgm:prSet presAssocID="{4D56077F-F903-4B71-AC64-7C556CD2DCD9}" presName="bgRect" presStyleLbl="bgShp" presStyleIdx="1" presStyleCnt="3"/>
      <dgm:spPr/>
    </dgm:pt>
    <dgm:pt modelId="{FCBBE4F0-ED0D-4D12-870D-40661A5A569D}" type="pres">
      <dgm:prSet presAssocID="{4D56077F-F903-4B71-AC64-7C556CD2DCD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0F5403D2-D6DA-4E5A-BE94-C8A4D92309FF}" type="pres">
      <dgm:prSet presAssocID="{4D56077F-F903-4B71-AC64-7C556CD2DCD9}" presName="spaceRect" presStyleCnt="0"/>
      <dgm:spPr/>
    </dgm:pt>
    <dgm:pt modelId="{F90EAD04-3576-4EB6-8FAD-A50A93DB9198}" type="pres">
      <dgm:prSet presAssocID="{4D56077F-F903-4B71-AC64-7C556CD2DCD9}" presName="parTx" presStyleLbl="revTx" presStyleIdx="1" presStyleCnt="3">
        <dgm:presLayoutVars>
          <dgm:chMax val="0"/>
          <dgm:chPref val="0"/>
        </dgm:presLayoutVars>
      </dgm:prSet>
      <dgm:spPr/>
    </dgm:pt>
    <dgm:pt modelId="{6C4DF1B8-486D-44DE-A0D9-F114756FB2AC}" type="pres">
      <dgm:prSet presAssocID="{C92577BA-1844-41FF-A4D5-9262FAE801AD}" presName="sibTrans" presStyleCnt="0"/>
      <dgm:spPr/>
    </dgm:pt>
    <dgm:pt modelId="{E0535AAE-F2B8-4994-B69D-A93CB9B5C43E}" type="pres">
      <dgm:prSet presAssocID="{7C936063-1905-4BFB-82F0-FB0978F3C629}" presName="compNode" presStyleCnt="0"/>
      <dgm:spPr/>
    </dgm:pt>
    <dgm:pt modelId="{1828F100-D584-4363-ABEF-5025D9C2D272}" type="pres">
      <dgm:prSet presAssocID="{7C936063-1905-4BFB-82F0-FB0978F3C629}" presName="bgRect" presStyleLbl="bgShp" presStyleIdx="2" presStyleCnt="3"/>
      <dgm:spPr/>
    </dgm:pt>
    <dgm:pt modelId="{7C33919E-566C-41AE-B83C-EF5A8B2AABFE}" type="pres">
      <dgm:prSet presAssocID="{7C936063-1905-4BFB-82F0-FB0978F3C62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DA03B3F4-D971-4A1B-9168-8EE3ADAE212D}" type="pres">
      <dgm:prSet presAssocID="{7C936063-1905-4BFB-82F0-FB0978F3C629}" presName="spaceRect" presStyleCnt="0"/>
      <dgm:spPr/>
    </dgm:pt>
    <dgm:pt modelId="{99BB02ED-AF38-4926-8B94-791C7D031686}" type="pres">
      <dgm:prSet presAssocID="{7C936063-1905-4BFB-82F0-FB0978F3C629}" presName="parTx" presStyleLbl="revTx" presStyleIdx="2" presStyleCnt="3">
        <dgm:presLayoutVars>
          <dgm:chMax val="0"/>
          <dgm:chPref val="0"/>
        </dgm:presLayoutVars>
      </dgm:prSet>
      <dgm:spPr/>
    </dgm:pt>
  </dgm:ptLst>
  <dgm:cxnLst>
    <dgm:cxn modelId="{699F5E03-0E86-447C-9BCF-6DEDED09D980}" type="presOf" srcId="{90F84FE9-52D2-4850-9A80-36CE7D6CF24A}" destId="{36242C59-7F00-46E3-99C4-D0303FE14EEC}" srcOrd="0" destOrd="0" presId="urn:microsoft.com/office/officeart/2018/2/layout/IconVerticalSolidList"/>
    <dgm:cxn modelId="{A3663C13-6B8E-48A7-8894-CD38FF1B6D0C}" type="presOf" srcId="{7C936063-1905-4BFB-82F0-FB0978F3C629}" destId="{99BB02ED-AF38-4926-8B94-791C7D031686}" srcOrd="0" destOrd="0" presId="urn:microsoft.com/office/officeart/2018/2/layout/IconVerticalSolidList"/>
    <dgm:cxn modelId="{7BE96534-7B64-41CF-AF47-9F65317DB0C3}" srcId="{D57FBC2C-7374-47D2-80FB-7EEFCC343649}" destId="{4D56077F-F903-4B71-AC64-7C556CD2DCD9}" srcOrd="1" destOrd="0" parTransId="{4DED0CC4-ED84-49A6-9502-C3816C61F13F}" sibTransId="{C92577BA-1844-41FF-A4D5-9262FAE801AD}"/>
    <dgm:cxn modelId="{C3A1EC64-70FD-40AF-98B3-CE7E9C9BCC98}" type="presOf" srcId="{4D56077F-F903-4B71-AC64-7C556CD2DCD9}" destId="{F90EAD04-3576-4EB6-8FAD-A50A93DB9198}" srcOrd="0" destOrd="0" presId="urn:microsoft.com/office/officeart/2018/2/layout/IconVerticalSolidList"/>
    <dgm:cxn modelId="{CFBDBFCD-42EE-4E53-AC9D-CAED1D9FDEB4}" srcId="{D57FBC2C-7374-47D2-80FB-7EEFCC343649}" destId="{90F84FE9-52D2-4850-9A80-36CE7D6CF24A}" srcOrd="0" destOrd="0" parTransId="{3F1AAF7F-F6C2-4B1F-9867-E23C3DC3302F}" sibTransId="{CAEFBE66-8173-4B02-BB39-D34F4E3C0083}"/>
    <dgm:cxn modelId="{4B0D1AD2-86F4-4223-B547-C882195170FE}" type="presOf" srcId="{D57FBC2C-7374-47D2-80FB-7EEFCC343649}" destId="{2DB9F25B-2E00-4042-9C98-B76E87BC9C37}" srcOrd="0" destOrd="0" presId="urn:microsoft.com/office/officeart/2018/2/layout/IconVerticalSolidList"/>
    <dgm:cxn modelId="{253932F9-6AB4-4653-9F01-3ADFB9FE5FC4}" srcId="{D57FBC2C-7374-47D2-80FB-7EEFCC343649}" destId="{7C936063-1905-4BFB-82F0-FB0978F3C629}" srcOrd="2" destOrd="0" parTransId="{BD06F4B8-F509-4B8A-9CAD-8C1FE142E00B}" sibTransId="{5B51F4EE-1D4D-4F2A-B8F4-F4F4DD795921}"/>
    <dgm:cxn modelId="{BC7841E9-6F62-451D-AFEA-9C56FCBBA887}" type="presParOf" srcId="{2DB9F25B-2E00-4042-9C98-B76E87BC9C37}" destId="{D5E0B696-D7DF-4467-89F2-4C7569238084}" srcOrd="0" destOrd="0" presId="urn:microsoft.com/office/officeart/2018/2/layout/IconVerticalSolidList"/>
    <dgm:cxn modelId="{E3969D44-D1F7-46F1-9A82-E5FD77744271}" type="presParOf" srcId="{D5E0B696-D7DF-4467-89F2-4C7569238084}" destId="{6F69487B-907C-44C6-8EA0-9C46CEE0BE7B}" srcOrd="0" destOrd="0" presId="urn:microsoft.com/office/officeart/2018/2/layout/IconVerticalSolidList"/>
    <dgm:cxn modelId="{CCD7A5DE-02A0-4F9E-9EEB-2F4BFE85D106}" type="presParOf" srcId="{D5E0B696-D7DF-4467-89F2-4C7569238084}" destId="{9FAE1156-9FB2-46A6-B808-55D69368C834}" srcOrd="1" destOrd="0" presId="urn:microsoft.com/office/officeart/2018/2/layout/IconVerticalSolidList"/>
    <dgm:cxn modelId="{DCA3A4B9-052F-42EE-8CCB-B80461E8E26B}" type="presParOf" srcId="{D5E0B696-D7DF-4467-89F2-4C7569238084}" destId="{5FCEE325-313E-437F-AD52-7521C06C4858}" srcOrd="2" destOrd="0" presId="urn:microsoft.com/office/officeart/2018/2/layout/IconVerticalSolidList"/>
    <dgm:cxn modelId="{39DDEEEF-C479-4842-BE25-30F9C28AF95F}" type="presParOf" srcId="{D5E0B696-D7DF-4467-89F2-4C7569238084}" destId="{36242C59-7F00-46E3-99C4-D0303FE14EEC}" srcOrd="3" destOrd="0" presId="urn:microsoft.com/office/officeart/2018/2/layout/IconVerticalSolidList"/>
    <dgm:cxn modelId="{1031AF1C-5656-4B3B-8B02-0FAD66ABC023}" type="presParOf" srcId="{2DB9F25B-2E00-4042-9C98-B76E87BC9C37}" destId="{D82B54D3-6B34-43C1-90C8-100C68255EAF}" srcOrd="1" destOrd="0" presId="urn:microsoft.com/office/officeart/2018/2/layout/IconVerticalSolidList"/>
    <dgm:cxn modelId="{BA36913E-79D9-4AEC-89E1-AC73DE2E44DB}" type="presParOf" srcId="{2DB9F25B-2E00-4042-9C98-B76E87BC9C37}" destId="{FBBEAF96-FD97-48C7-B98A-9750801077EE}" srcOrd="2" destOrd="0" presId="urn:microsoft.com/office/officeart/2018/2/layout/IconVerticalSolidList"/>
    <dgm:cxn modelId="{85AFC1F2-8D42-4A0A-AF2E-111297458DF6}" type="presParOf" srcId="{FBBEAF96-FD97-48C7-B98A-9750801077EE}" destId="{886522E6-92FA-4305-8548-39F228BCC156}" srcOrd="0" destOrd="0" presId="urn:microsoft.com/office/officeart/2018/2/layout/IconVerticalSolidList"/>
    <dgm:cxn modelId="{2EFE2C5A-11AB-4F20-A426-2F2D4B1C1499}" type="presParOf" srcId="{FBBEAF96-FD97-48C7-B98A-9750801077EE}" destId="{FCBBE4F0-ED0D-4D12-870D-40661A5A569D}" srcOrd="1" destOrd="0" presId="urn:microsoft.com/office/officeart/2018/2/layout/IconVerticalSolidList"/>
    <dgm:cxn modelId="{B12D53DE-1A86-4174-BDEA-8927EAACD81A}" type="presParOf" srcId="{FBBEAF96-FD97-48C7-B98A-9750801077EE}" destId="{0F5403D2-D6DA-4E5A-BE94-C8A4D92309FF}" srcOrd="2" destOrd="0" presId="urn:microsoft.com/office/officeart/2018/2/layout/IconVerticalSolidList"/>
    <dgm:cxn modelId="{0CFCF7B6-1622-4A61-8755-8FC547E16BF4}" type="presParOf" srcId="{FBBEAF96-FD97-48C7-B98A-9750801077EE}" destId="{F90EAD04-3576-4EB6-8FAD-A50A93DB9198}" srcOrd="3" destOrd="0" presId="urn:microsoft.com/office/officeart/2018/2/layout/IconVerticalSolidList"/>
    <dgm:cxn modelId="{665F539B-4F5F-4C7C-9B2D-CD9C817604F6}" type="presParOf" srcId="{2DB9F25B-2E00-4042-9C98-B76E87BC9C37}" destId="{6C4DF1B8-486D-44DE-A0D9-F114756FB2AC}" srcOrd="3" destOrd="0" presId="urn:microsoft.com/office/officeart/2018/2/layout/IconVerticalSolidList"/>
    <dgm:cxn modelId="{FBC28C8C-AD43-4FF6-A473-57FA916280B2}" type="presParOf" srcId="{2DB9F25B-2E00-4042-9C98-B76E87BC9C37}" destId="{E0535AAE-F2B8-4994-B69D-A93CB9B5C43E}" srcOrd="4" destOrd="0" presId="urn:microsoft.com/office/officeart/2018/2/layout/IconVerticalSolidList"/>
    <dgm:cxn modelId="{7EC5CCAD-3A2E-4EFB-BDD4-17982A914211}" type="presParOf" srcId="{E0535AAE-F2B8-4994-B69D-A93CB9B5C43E}" destId="{1828F100-D584-4363-ABEF-5025D9C2D272}" srcOrd="0" destOrd="0" presId="urn:microsoft.com/office/officeart/2018/2/layout/IconVerticalSolidList"/>
    <dgm:cxn modelId="{1AB2BECE-7EF7-45D2-92D4-2D59857F7618}" type="presParOf" srcId="{E0535AAE-F2B8-4994-B69D-A93CB9B5C43E}" destId="{7C33919E-566C-41AE-B83C-EF5A8B2AABFE}" srcOrd="1" destOrd="0" presId="urn:microsoft.com/office/officeart/2018/2/layout/IconVerticalSolidList"/>
    <dgm:cxn modelId="{C3038DC8-61A9-481F-A582-F3F38C516041}" type="presParOf" srcId="{E0535AAE-F2B8-4994-B69D-A93CB9B5C43E}" destId="{DA03B3F4-D971-4A1B-9168-8EE3ADAE212D}" srcOrd="2" destOrd="0" presId="urn:microsoft.com/office/officeart/2018/2/layout/IconVerticalSolidList"/>
    <dgm:cxn modelId="{25783D57-EF6C-486A-8F2D-9C96C90B0552}" type="presParOf" srcId="{E0535AAE-F2B8-4994-B69D-A93CB9B5C43E}" destId="{99BB02ED-AF38-4926-8B94-791C7D0316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9487B-907C-44C6-8EA0-9C46CEE0BE7B}">
      <dsp:nvSpPr>
        <dsp:cNvPr id="0" name=""/>
        <dsp:cNvSpPr/>
      </dsp:nvSpPr>
      <dsp:spPr>
        <a:xfrm>
          <a:off x="0" y="531"/>
          <a:ext cx="11215234"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AE1156-9FB2-46A6-B808-55D69368C834}">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242C59-7F00-46E3-99C4-D0303FE14EEC}">
      <dsp:nvSpPr>
        <dsp:cNvPr id="0" name=""/>
        <dsp:cNvSpPr/>
      </dsp:nvSpPr>
      <dsp:spPr>
        <a:xfrm>
          <a:off x="1435590" y="531"/>
          <a:ext cx="977964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We have imported the data in visual studio code. We discovered that we have data type in int and float and object types.</a:t>
          </a:r>
        </a:p>
      </dsp:txBody>
      <dsp:txXfrm>
        <a:off x="1435590" y="531"/>
        <a:ext cx="9779644" cy="1242935"/>
      </dsp:txXfrm>
    </dsp:sp>
    <dsp:sp modelId="{886522E6-92FA-4305-8548-39F228BCC156}">
      <dsp:nvSpPr>
        <dsp:cNvPr id="0" name=""/>
        <dsp:cNvSpPr/>
      </dsp:nvSpPr>
      <dsp:spPr>
        <a:xfrm>
          <a:off x="0" y="1554201"/>
          <a:ext cx="11215234"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BBE4F0-ED0D-4D12-870D-40661A5A569D}">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0EAD04-3576-4EB6-8FAD-A50A93DB9198}">
      <dsp:nvSpPr>
        <dsp:cNvPr id="0" name=""/>
        <dsp:cNvSpPr/>
      </dsp:nvSpPr>
      <dsp:spPr>
        <a:xfrm>
          <a:off x="1435590" y="1554201"/>
          <a:ext cx="977964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There was 12 null values in Time taken column. We have removed the null values as it was less than 3%.</a:t>
          </a:r>
        </a:p>
      </dsp:txBody>
      <dsp:txXfrm>
        <a:off x="1435590" y="1554201"/>
        <a:ext cx="9779644" cy="1242935"/>
      </dsp:txXfrm>
    </dsp:sp>
    <dsp:sp modelId="{1828F100-D584-4363-ABEF-5025D9C2D272}">
      <dsp:nvSpPr>
        <dsp:cNvPr id="0" name=""/>
        <dsp:cNvSpPr/>
      </dsp:nvSpPr>
      <dsp:spPr>
        <a:xfrm>
          <a:off x="0" y="3107870"/>
          <a:ext cx="11215234"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33919E-566C-41AE-B83C-EF5A8B2AABFE}">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BB02ED-AF38-4926-8B94-791C7D031686}">
      <dsp:nvSpPr>
        <dsp:cNvPr id="0" name=""/>
        <dsp:cNvSpPr/>
      </dsp:nvSpPr>
      <dsp:spPr>
        <a:xfrm>
          <a:off x="1435590" y="3107870"/>
          <a:ext cx="977964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There was no duplicate values present. The data was almost clean without any noise.</a:t>
          </a:r>
        </a:p>
      </dsp:txBody>
      <dsp:txXfrm>
        <a:off x="1435590" y="3107870"/>
        <a:ext cx="977964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8/17/2026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8/17/2026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Movie Collection.</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Logistic Regression analysis.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FE19-9D59-37D7-1EBC-B0209A8A80EB}"/>
              </a:ext>
            </a:extLst>
          </p:cNvPr>
          <p:cNvSpPr>
            <a:spLocks noGrp="1"/>
          </p:cNvSpPr>
          <p:nvPr>
            <p:ph type="ctrTitle"/>
          </p:nvPr>
        </p:nvSpPr>
        <p:spPr>
          <a:xfrm>
            <a:off x="3990213" y="152400"/>
            <a:ext cx="7077456" cy="838200"/>
          </a:xfrm>
        </p:spPr>
        <p:txBody>
          <a:bodyPr/>
          <a:lstStyle/>
          <a:p>
            <a:r>
              <a:rPr lang="en-IN" dirty="0"/>
              <a:t>Index.</a:t>
            </a:r>
          </a:p>
        </p:txBody>
      </p:sp>
      <p:sp>
        <p:nvSpPr>
          <p:cNvPr id="3" name="Subtitle 2">
            <a:extLst>
              <a:ext uri="{FF2B5EF4-FFF2-40B4-BE49-F238E27FC236}">
                <a16:creationId xmlns:a16="http://schemas.microsoft.com/office/drawing/2014/main" id="{63FFB0B3-4712-37E0-B496-C5CE19A40F98}"/>
              </a:ext>
            </a:extLst>
          </p:cNvPr>
          <p:cNvSpPr>
            <a:spLocks noGrp="1"/>
          </p:cNvSpPr>
          <p:nvPr>
            <p:ph type="subTitle" idx="1"/>
          </p:nvPr>
        </p:nvSpPr>
        <p:spPr>
          <a:xfrm>
            <a:off x="2761488" y="990600"/>
            <a:ext cx="7077456" cy="5386197"/>
          </a:xfrm>
        </p:spPr>
        <p:txBody>
          <a:bodyPr>
            <a:normAutofit/>
          </a:bodyPr>
          <a:lstStyle/>
          <a:p>
            <a:pPr marL="285750" indent="-285750">
              <a:buFont typeface="Wingdings" panose="05000000000000000000" pitchFamily="2" charset="2"/>
              <a:buChar char="q"/>
            </a:pPr>
            <a:r>
              <a:rPr lang="en-IN" dirty="0">
                <a:latin typeface="Amasis MT Pro Light" panose="02040304050005020304" pitchFamily="18" charset="0"/>
              </a:rPr>
              <a:t>Introduction.</a:t>
            </a:r>
          </a:p>
          <a:p>
            <a:pPr marL="285750" indent="-285750">
              <a:buFont typeface="Wingdings" panose="05000000000000000000" pitchFamily="2" charset="2"/>
              <a:buChar char="q"/>
            </a:pPr>
            <a:r>
              <a:rPr lang="en-IN" dirty="0">
                <a:latin typeface="Amasis MT Pro Light" panose="02040304050005020304" pitchFamily="18" charset="0"/>
              </a:rPr>
              <a:t>Tools Used</a:t>
            </a:r>
          </a:p>
          <a:p>
            <a:pPr marL="285750" indent="-285750">
              <a:buFont typeface="Wingdings" panose="05000000000000000000" pitchFamily="2" charset="2"/>
              <a:buChar char="q"/>
            </a:pPr>
            <a:r>
              <a:rPr lang="en-IN" dirty="0">
                <a:latin typeface="Amasis MT Pro Light" panose="02040304050005020304" pitchFamily="18" charset="0"/>
              </a:rPr>
              <a:t>Import Data and Cleaning.</a:t>
            </a:r>
          </a:p>
          <a:p>
            <a:pPr marL="285750" indent="-285750">
              <a:buFont typeface="Wingdings" panose="05000000000000000000" pitchFamily="2" charset="2"/>
              <a:buChar char="q"/>
            </a:pPr>
            <a:r>
              <a:rPr lang="en-IN" u="sng" dirty="0">
                <a:latin typeface="Amasis MT Pro Light" panose="02040304050005020304" pitchFamily="18" charset="0"/>
              </a:rPr>
              <a:t>Data Analysis:</a:t>
            </a:r>
          </a:p>
          <a:p>
            <a:pPr marL="285750" indent="-285750">
              <a:buFont typeface="Wingdings" panose="05000000000000000000" pitchFamily="2" charset="2"/>
              <a:buChar char="§"/>
            </a:pPr>
            <a:r>
              <a:rPr lang="en-IN" dirty="0">
                <a:latin typeface="Amasis MT Pro Light" panose="02040304050005020304" pitchFamily="18" charset="0"/>
              </a:rPr>
              <a:t>Distribution of collection</a:t>
            </a:r>
          </a:p>
          <a:p>
            <a:pPr marL="285750" indent="-285750">
              <a:buFont typeface="Wingdings" panose="05000000000000000000" pitchFamily="2" charset="2"/>
              <a:buChar char="§"/>
            </a:pPr>
            <a:r>
              <a:rPr lang="en-IN" dirty="0">
                <a:latin typeface="Amasis MT Pro Light" panose="02040304050005020304" pitchFamily="18" charset="0"/>
              </a:rPr>
              <a:t>Outlier Detection</a:t>
            </a:r>
          </a:p>
          <a:p>
            <a:pPr marL="285750" indent="-285750">
              <a:buFont typeface="Wingdings" panose="05000000000000000000" pitchFamily="2" charset="2"/>
              <a:buChar char="§"/>
            </a:pPr>
            <a:r>
              <a:rPr lang="en-IN" dirty="0">
                <a:latin typeface="Amasis MT Pro Light" panose="02040304050005020304" pitchFamily="18" charset="0"/>
              </a:rPr>
              <a:t>Outlier Treatment.</a:t>
            </a:r>
          </a:p>
          <a:p>
            <a:pPr marL="285750" indent="-285750">
              <a:buFont typeface="Wingdings" panose="05000000000000000000" pitchFamily="2" charset="2"/>
              <a:buChar char="§"/>
            </a:pPr>
            <a:r>
              <a:rPr lang="en-IN" dirty="0">
                <a:latin typeface="Amasis MT Pro Light" panose="02040304050005020304" pitchFamily="18" charset="0"/>
              </a:rPr>
              <a:t>Distribution of movies on the basis of collection.</a:t>
            </a:r>
          </a:p>
          <a:p>
            <a:pPr marL="285750" indent="-285750">
              <a:buFont typeface="Wingdings" panose="05000000000000000000" pitchFamily="2" charset="2"/>
              <a:buChar char="§"/>
            </a:pPr>
            <a:r>
              <a:rPr lang="en-IN" dirty="0">
                <a:latin typeface="Amasis MT Pro Light" panose="02040304050005020304" pitchFamily="18" charset="0"/>
              </a:rPr>
              <a:t>Market expenses basis of Genre.</a:t>
            </a:r>
          </a:p>
          <a:p>
            <a:pPr marL="285750" indent="-285750">
              <a:buFont typeface="Wingdings" panose="05000000000000000000" pitchFamily="2" charset="2"/>
              <a:buChar char="§"/>
            </a:pPr>
            <a:r>
              <a:rPr lang="en-IN" dirty="0">
                <a:latin typeface="Amasis MT Pro Light" panose="02040304050005020304" pitchFamily="18" charset="0"/>
              </a:rPr>
              <a:t>Production expenses.</a:t>
            </a:r>
          </a:p>
          <a:p>
            <a:pPr marL="285750" indent="-285750">
              <a:buFont typeface="Wingdings" panose="05000000000000000000" pitchFamily="2" charset="2"/>
              <a:buChar char="§"/>
            </a:pPr>
            <a:r>
              <a:rPr lang="en-IN" dirty="0">
                <a:latin typeface="Amasis MT Pro Light" panose="02040304050005020304" pitchFamily="18" charset="0"/>
              </a:rPr>
              <a:t>Director Rating.</a:t>
            </a:r>
          </a:p>
          <a:p>
            <a:pPr marL="285750" indent="-285750">
              <a:buFont typeface="Wingdings" panose="05000000000000000000" pitchFamily="2" charset="2"/>
              <a:buChar char="§"/>
            </a:pPr>
            <a:r>
              <a:rPr lang="en-IN" dirty="0">
                <a:latin typeface="Amasis MT Pro Light" panose="02040304050005020304" pitchFamily="18" charset="0"/>
              </a:rPr>
              <a:t>3D movies.</a:t>
            </a:r>
          </a:p>
          <a:p>
            <a:pPr marL="285750" indent="-285750">
              <a:buFont typeface="Wingdings" panose="05000000000000000000" pitchFamily="2" charset="2"/>
              <a:buChar char="q"/>
            </a:pPr>
            <a:r>
              <a:rPr lang="en-IN" dirty="0">
                <a:latin typeface="Amasis MT Pro Light" panose="02040304050005020304" pitchFamily="18" charset="0"/>
              </a:rPr>
              <a:t>Dummies.</a:t>
            </a:r>
          </a:p>
          <a:p>
            <a:pPr marL="285750" indent="-285750">
              <a:buFont typeface="Wingdings" panose="05000000000000000000" pitchFamily="2" charset="2"/>
              <a:buChar char="q"/>
            </a:pPr>
            <a:r>
              <a:rPr lang="en-IN" dirty="0">
                <a:latin typeface="Amasis MT Pro Light" panose="02040304050005020304" pitchFamily="18" charset="0"/>
              </a:rPr>
              <a:t>Conclusion.</a:t>
            </a: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1899096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AC91-6A6A-4E8E-0A4F-3A86F7DBEE92}"/>
              </a:ext>
            </a:extLst>
          </p:cNvPr>
          <p:cNvSpPr>
            <a:spLocks noGrp="1"/>
          </p:cNvSpPr>
          <p:nvPr>
            <p:ph type="title"/>
          </p:nvPr>
        </p:nvSpPr>
        <p:spPr/>
        <p:txBody>
          <a:bodyPr/>
          <a:lstStyle/>
          <a:p>
            <a:r>
              <a:rPr lang="en-IN" dirty="0"/>
              <a:t>Introduction.</a:t>
            </a:r>
          </a:p>
        </p:txBody>
      </p:sp>
      <p:sp>
        <p:nvSpPr>
          <p:cNvPr id="3" name="Slide Number Placeholder 2">
            <a:extLst>
              <a:ext uri="{FF2B5EF4-FFF2-40B4-BE49-F238E27FC236}">
                <a16:creationId xmlns:a16="http://schemas.microsoft.com/office/drawing/2014/main" id="{A9DF1D56-2188-A9EB-1369-74511B265A48}"/>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a:extLst>
              <a:ext uri="{FF2B5EF4-FFF2-40B4-BE49-F238E27FC236}">
                <a16:creationId xmlns:a16="http://schemas.microsoft.com/office/drawing/2014/main" id="{5F38AD48-2363-F503-3804-2D9DF37359AF}"/>
              </a:ext>
            </a:extLst>
          </p:cNvPr>
          <p:cNvSpPr>
            <a:spLocks noGrp="1"/>
          </p:cNvSpPr>
          <p:nvPr>
            <p:ph type="body" sz="quarter" idx="13"/>
          </p:nvPr>
        </p:nvSpPr>
        <p:spPr>
          <a:xfrm>
            <a:off x="320675" y="1606334"/>
            <a:ext cx="8156576" cy="4508715"/>
          </a:xfrm>
        </p:spPr>
        <p:txBody>
          <a:bodyPr/>
          <a:lstStyle/>
          <a:p>
            <a:r>
              <a:rPr lang="en-IN" sz="2000" dirty="0">
                <a:latin typeface="Abadi" panose="020B0604020104020204" pitchFamily="34" charset="0"/>
              </a:rPr>
              <a:t>We are looking forward to work with  movie collection dataset. Our target variable is “Start Tech Oscar”. According to the data set we have multiple independent variables such as collection, marketing expense, production expenses, Multiplex coverage, budget, movie length, Actor and actress rating, director and producer rating etc.</a:t>
            </a:r>
          </a:p>
          <a:p>
            <a:r>
              <a:rPr lang="en-IN" sz="2000" dirty="0">
                <a:latin typeface="Abadi" panose="020B0604020104020204" pitchFamily="34" charset="0"/>
              </a:rPr>
              <a:t>As this is a binary outcome. We decided to use logistic regression to predict the model. Logistic regression specially used when there is a binary outcome.</a:t>
            </a:r>
          </a:p>
          <a:p>
            <a:r>
              <a:rPr lang="en-IN" sz="2000" dirty="0">
                <a:latin typeface="Abadi" panose="020B0604020104020204" pitchFamily="34" charset="0"/>
              </a:rPr>
              <a:t>Our main goal is to predict whether the movie will get the star tech Oscar or no. For this there is various factors come to picture. </a:t>
            </a:r>
          </a:p>
          <a:p>
            <a:r>
              <a:rPr lang="en-IN" sz="2000" dirty="0">
                <a:latin typeface="Abadi" panose="020B0604020104020204" pitchFamily="34" charset="0"/>
              </a:rPr>
              <a:t>We also done analysing various other variable to understand the dataset better.</a:t>
            </a:r>
          </a:p>
          <a:p>
            <a:endParaRPr lang="en-IN" dirty="0"/>
          </a:p>
        </p:txBody>
      </p:sp>
    </p:spTree>
    <p:extLst>
      <p:ext uri="{BB962C8B-B14F-4D97-AF65-F5344CB8AC3E}">
        <p14:creationId xmlns:p14="http://schemas.microsoft.com/office/powerpoint/2010/main" val="3499157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Tools used.</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4</a:t>
            </a:fld>
            <a:endParaRPr lang="en-US"/>
          </a:p>
        </p:txBody>
      </p:sp>
      <p:sp>
        <p:nvSpPr>
          <p:cNvPr id="10" name="Text Placeholder 9">
            <a:extLst>
              <a:ext uri="{FF2B5EF4-FFF2-40B4-BE49-F238E27FC236}">
                <a16:creationId xmlns:a16="http://schemas.microsoft.com/office/drawing/2014/main" id="{EF2BC084-E6DB-4DE7-B309-042A85EBA700}"/>
              </a:ext>
            </a:extLst>
          </p:cNvPr>
          <p:cNvSpPr>
            <a:spLocks noGrp="1"/>
          </p:cNvSpPr>
          <p:nvPr>
            <p:ph idx="1"/>
          </p:nvPr>
        </p:nvSpPr>
        <p:spPr>
          <a:xfrm>
            <a:off x="443365" y="1825625"/>
            <a:ext cx="11215235" cy="4351338"/>
          </a:xfrm>
        </p:spPr>
        <p:txBody>
          <a:bodyPr>
            <a:normAutofit/>
          </a:bodyPr>
          <a:lstStyle/>
          <a:p>
            <a:r>
              <a:rPr lang="en-US" dirty="0"/>
              <a:t>We have only used one tool that is python.</a:t>
            </a:r>
          </a:p>
          <a:p>
            <a:r>
              <a:rPr lang="en-US" dirty="0"/>
              <a:t>Using visual studio code, we have interpreted the result.</a:t>
            </a:r>
          </a:p>
          <a:p>
            <a:r>
              <a:rPr lang="en-US" dirty="0"/>
              <a:t>Using scikit learn we have run the logistic regression model to interpret the results.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D8D7FFF-923A-FA77-9EB6-34724E60C6D3}"/>
              </a:ext>
            </a:extLst>
          </p:cNvPr>
          <p:cNvSpPr>
            <a:spLocks noGrp="1"/>
          </p:cNvSpPr>
          <p:nvPr>
            <p:ph type="title"/>
          </p:nvPr>
        </p:nvSpPr>
        <p:spPr>
          <a:xfrm>
            <a:off x="444500" y="542925"/>
            <a:ext cx="11214100" cy="535531"/>
          </a:xfrm>
        </p:spPr>
        <p:txBody>
          <a:bodyPr wrap="square" anchor="t">
            <a:normAutofit/>
          </a:bodyPr>
          <a:lstStyle/>
          <a:p>
            <a:r>
              <a:rPr lang="en-IN"/>
              <a:t>Import Data and Cleaning.</a:t>
            </a:r>
            <a:endParaRPr lang="en-US" dirty="0"/>
          </a:p>
        </p:txBody>
      </p:sp>
      <p:sp>
        <p:nvSpPr>
          <p:cNvPr id="3" name="Slide Number Placeholder 2">
            <a:extLst>
              <a:ext uri="{FF2B5EF4-FFF2-40B4-BE49-F238E27FC236}">
                <a16:creationId xmlns:a16="http://schemas.microsoft.com/office/drawing/2014/main" id="{FFC6B46C-C928-0AC9-43C4-92DD45EEC595}"/>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noProof="0" smtClean="0"/>
              <a:pPr>
                <a:spcAft>
                  <a:spcPts val="600"/>
                </a:spcAft>
              </a:pPr>
              <a:t>5</a:t>
            </a:fld>
            <a:endParaRPr lang="en-US" noProof="0"/>
          </a:p>
        </p:txBody>
      </p:sp>
      <p:graphicFrame>
        <p:nvGraphicFramePr>
          <p:cNvPr id="13" name="Text Placeholder 3">
            <a:extLst>
              <a:ext uri="{FF2B5EF4-FFF2-40B4-BE49-F238E27FC236}">
                <a16:creationId xmlns:a16="http://schemas.microsoft.com/office/drawing/2014/main" id="{1F1D3561-C5A0-13E4-7393-CE95E618D399}"/>
              </a:ext>
            </a:extLst>
          </p:cNvPr>
          <p:cNvGraphicFramePr/>
          <p:nvPr>
            <p:extLst>
              <p:ext uri="{D42A27DB-BD31-4B8C-83A1-F6EECF244321}">
                <p14:modId xmlns:p14="http://schemas.microsoft.com/office/powerpoint/2010/main" val="745026055"/>
              </p:ext>
            </p:extLst>
          </p:nvPr>
        </p:nvGraphicFramePr>
        <p:xfrm>
          <a:off x="443365" y="1825625"/>
          <a:ext cx="1121523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5858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F4AB8-F247-3D33-6372-C6EFEE16CCE7}"/>
              </a:ext>
            </a:extLst>
          </p:cNvPr>
          <p:cNvSpPr>
            <a:spLocks noGrp="1"/>
          </p:cNvSpPr>
          <p:nvPr>
            <p:ph type="title"/>
          </p:nvPr>
        </p:nvSpPr>
        <p:spPr/>
        <p:txBody>
          <a:bodyPr/>
          <a:lstStyle/>
          <a:p>
            <a:r>
              <a:rPr lang="en-IN" dirty="0"/>
              <a:t>Data Analysis.</a:t>
            </a:r>
          </a:p>
        </p:txBody>
      </p:sp>
      <p:sp>
        <p:nvSpPr>
          <p:cNvPr id="3" name="Slide Number Placeholder 2">
            <a:extLst>
              <a:ext uri="{FF2B5EF4-FFF2-40B4-BE49-F238E27FC236}">
                <a16:creationId xmlns:a16="http://schemas.microsoft.com/office/drawing/2014/main" id="{405F4FD7-8B65-5FDE-FBB1-45023E702781}"/>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Content Placeholder 3">
            <a:extLst>
              <a:ext uri="{FF2B5EF4-FFF2-40B4-BE49-F238E27FC236}">
                <a16:creationId xmlns:a16="http://schemas.microsoft.com/office/drawing/2014/main" id="{13C91AC3-9D65-ADAC-DD86-CE02E88424A4}"/>
              </a:ext>
            </a:extLst>
          </p:cNvPr>
          <p:cNvSpPr>
            <a:spLocks noGrp="1"/>
          </p:cNvSpPr>
          <p:nvPr>
            <p:ph idx="1"/>
          </p:nvPr>
        </p:nvSpPr>
        <p:spPr/>
        <p:txBody>
          <a:bodyPr/>
          <a:lstStyle/>
          <a:p>
            <a:r>
              <a:rPr lang="en-IN" dirty="0"/>
              <a:t>In data analysis part, we have studding various variable in python. </a:t>
            </a:r>
          </a:p>
          <a:p>
            <a:r>
              <a:rPr lang="en-IN" dirty="0"/>
              <a:t>We have used seaborn library and matplotlib to visualize the data.</a:t>
            </a:r>
          </a:p>
          <a:p>
            <a:r>
              <a:rPr lang="en-IN" dirty="0"/>
              <a:t>There are few outliers which has been collected and also treated them accordingly.</a:t>
            </a:r>
          </a:p>
          <a:p>
            <a:r>
              <a:rPr lang="en-IN" dirty="0"/>
              <a:t>There is various colour palate has been used to make the visuals more attractive.</a:t>
            </a:r>
          </a:p>
          <a:p>
            <a:endParaRPr lang="en-IN" dirty="0"/>
          </a:p>
        </p:txBody>
      </p:sp>
    </p:spTree>
    <p:extLst>
      <p:ext uri="{BB962C8B-B14F-4D97-AF65-F5344CB8AC3E}">
        <p14:creationId xmlns:p14="http://schemas.microsoft.com/office/powerpoint/2010/main" val="3857953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4E40-3ED1-FE4D-8BAD-AD28C07F3ABF}"/>
              </a:ext>
            </a:extLst>
          </p:cNvPr>
          <p:cNvSpPr>
            <a:spLocks noGrp="1"/>
          </p:cNvSpPr>
          <p:nvPr>
            <p:ph type="title"/>
          </p:nvPr>
        </p:nvSpPr>
        <p:spPr>
          <a:xfrm>
            <a:off x="488950" y="297118"/>
            <a:ext cx="11214100" cy="626807"/>
          </a:xfrm>
        </p:spPr>
        <p:txBody>
          <a:bodyPr wrap="square" anchor="t">
            <a:normAutofit fontScale="90000"/>
          </a:bodyPr>
          <a:lstStyle/>
          <a:p>
            <a:r>
              <a:rPr lang="en-IN" sz="2200" dirty="0"/>
              <a:t>Data Analysis.</a:t>
            </a:r>
            <a:br>
              <a:rPr lang="en-IN" sz="2200" dirty="0"/>
            </a:br>
            <a:r>
              <a:rPr lang="en-IN" sz="2200" dirty="0"/>
              <a:t>Distribution of collection</a:t>
            </a:r>
            <a:br>
              <a:rPr lang="en-IN" sz="1000" dirty="0"/>
            </a:br>
            <a:endParaRPr lang="en-IN" sz="1000" dirty="0"/>
          </a:p>
        </p:txBody>
      </p:sp>
      <p:sp>
        <p:nvSpPr>
          <p:cNvPr id="3" name="Slide Number Placeholder 2">
            <a:extLst>
              <a:ext uri="{FF2B5EF4-FFF2-40B4-BE49-F238E27FC236}">
                <a16:creationId xmlns:a16="http://schemas.microsoft.com/office/drawing/2014/main" id="{8795411C-C29B-38E7-07CE-C9EFD8492EFA}"/>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noProof="0" smtClean="0"/>
              <a:pPr>
                <a:spcAft>
                  <a:spcPts val="600"/>
                </a:spcAft>
              </a:pPr>
              <a:t>7</a:t>
            </a:fld>
            <a:endParaRPr lang="en-US" noProof="0"/>
          </a:p>
        </p:txBody>
      </p:sp>
      <p:sp>
        <p:nvSpPr>
          <p:cNvPr id="12" name="Content Placeholder 4">
            <a:extLst>
              <a:ext uri="{FF2B5EF4-FFF2-40B4-BE49-F238E27FC236}">
                <a16:creationId xmlns:a16="http://schemas.microsoft.com/office/drawing/2014/main" id="{540E132C-4800-7F41-20B3-097AF6CB0680}"/>
              </a:ext>
            </a:extLst>
          </p:cNvPr>
          <p:cNvSpPr>
            <a:spLocks noGrp="1"/>
          </p:cNvSpPr>
          <p:nvPr>
            <p:ph sz="half" idx="2"/>
          </p:nvPr>
        </p:nvSpPr>
        <p:spPr>
          <a:xfrm>
            <a:off x="5771535" y="1517715"/>
            <a:ext cx="5887065" cy="4659248"/>
          </a:xfrm>
        </p:spPr>
        <p:txBody>
          <a:bodyPr/>
          <a:lstStyle/>
          <a:p>
            <a:r>
              <a:rPr lang="en-IN" dirty="0"/>
              <a:t>Most of the movies are concentrated between 35000 to 450000.</a:t>
            </a:r>
          </a:p>
          <a:p>
            <a:r>
              <a:rPr lang="en-IN" dirty="0"/>
              <a:t>The distribution is positively skewed that means most of the outlier are detected on the right hand side</a:t>
            </a:r>
          </a:p>
          <a:p>
            <a:r>
              <a:rPr lang="en-IN" dirty="0"/>
              <a:t>There are few collection of movies which is close to 100000. We should further investigate for potential outliers.</a:t>
            </a:r>
          </a:p>
          <a:p>
            <a:endParaRPr lang="en-US" dirty="0"/>
          </a:p>
        </p:txBody>
      </p:sp>
      <p:pic>
        <p:nvPicPr>
          <p:cNvPr id="11" name="Content Placeholder 10">
            <a:extLst>
              <a:ext uri="{FF2B5EF4-FFF2-40B4-BE49-F238E27FC236}">
                <a16:creationId xmlns:a16="http://schemas.microsoft.com/office/drawing/2014/main" id="{864E92CA-3788-596B-2662-2D6C119F8259}"/>
              </a:ext>
            </a:extLst>
          </p:cNvPr>
          <p:cNvPicPr>
            <a:picLocks noGrp="1" noChangeAspect="1"/>
          </p:cNvPicPr>
          <p:nvPr>
            <p:ph sz="half" idx="1"/>
          </p:nvPr>
        </p:nvPicPr>
        <p:blipFill>
          <a:blip r:embed="rId2"/>
          <a:stretch>
            <a:fillRect/>
          </a:stretch>
        </p:blipFill>
        <p:spPr>
          <a:xfrm>
            <a:off x="442971" y="1776186"/>
            <a:ext cx="5184658" cy="4142240"/>
          </a:xfrm>
          <a:prstGeom prst="rect">
            <a:avLst/>
          </a:prstGeom>
        </p:spPr>
      </p:pic>
    </p:spTree>
    <p:extLst>
      <p:ext uri="{BB962C8B-B14F-4D97-AF65-F5344CB8AC3E}">
        <p14:creationId xmlns:p14="http://schemas.microsoft.com/office/powerpoint/2010/main" val="1026731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B7DD-C2D6-EE61-FCF1-BFBC4743F980}"/>
              </a:ext>
            </a:extLst>
          </p:cNvPr>
          <p:cNvSpPr>
            <a:spLocks noGrp="1"/>
          </p:cNvSpPr>
          <p:nvPr>
            <p:ph type="title"/>
          </p:nvPr>
        </p:nvSpPr>
        <p:spPr>
          <a:xfrm>
            <a:off x="488950" y="262698"/>
            <a:ext cx="11214100" cy="836678"/>
          </a:xfrm>
        </p:spPr>
        <p:txBody>
          <a:bodyPr/>
          <a:lstStyle/>
          <a:p>
            <a:r>
              <a:rPr lang="en-IN" sz="2400" dirty="0"/>
              <a:t>Data Analysis.</a:t>
            </a:r>
            <a:br>
              <a:rPr lang="en-IN" sz="2400" dirty="0"/>
            </a:br>
            <a:r>
              <a:rPr lang="en-IN" sz="2400" dirty="0">
                <a:latin typeface="Amasis MT Pro Light" panose="02040304050005020304" pitchFamily="18" charset="0"/>
              </a:rPr>
              <a:t>Outlier Detection</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239CE255-2789-D733-CD55-CAD3C6D8386E}"/>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5" name="Content Placeholder 4">
            <a:extLst>
              <a:ext uri="{FF2B5EF4-FFF2-40B4-BE49-F238E27FC236}">
                <a16:creationId xmlns:a16="http://schemas.microsoft.com/office/drawing/2014/main" id="{E4EB858C-EBD3-37B3-5D6D-56E140917E3D}"/>
              </a:ext>
            </a:extLst>
          </p:cNvPr>
          <p:cNvSpPr>
            <a:spLocks noGrp="1"/>
          </p:cNvSpPr>
          <p:nvPr>
            <p:ph sz="half" idx="2"/>
          </p:nvPr>
        </p:nvSpPr>
        <p:spPr/>
        <p:txBody>
          <a:bodyPr/>
          <a:lstStyle/>
          <a:p>
            <a:r>
              <a:rPr lang="en-IN" dirty="0"/>
              <a:t>Collection has 39 Outliers</a:t>
            </a:r>
          </a:p>
          <a:p>
            <a:r>
              <a:rPr lang="en-IN" dirty="0"/>
              <a:t>Marketing Expenses has 66 Outlier</a:t>
            </a:r>
          </a:p>
          <a:p>
            <a:r>
              <a:rPr lang="en-IN" dirty="0"/>
              <a:t>We are going to treat this outlier as this has an extreme value rest of the outlier we are leaving as it is</a:t>
            </a:r>
          </a:p>
          <a:p>
            <a:endParaRPr lang="en-IN" dirty="0"/>
          </a:p>
        </p:txBody>
      </p:sp>
      <p:pic>
        <p:nvPicPr>
          <p:cNvPr id="11" name="Content Placeholder 10">
            <a:extLst>
              <a:ext uri="{FF2B5EF4-FFF2-40B4-BE49-F238E27FC236}">
                <a16:creationId xmlns:a16="http://schemas.microsoft.com/office/drawing/2014/main" id="{D92B50A6-6C4D-91DB-8CC9-FE573BB2A718}"/>
              </a:ext>
            </a:extLst>
          </p:cNvPr>
          <p:cNvPicPr>
            <a:picLocks noGrp="1" noChangeAspect="1"/>
          </p:cNvPicPr>
          <p:nvPr>
            <p:ph sz="half" idx="1"/>
          </p:nvPr>
        </p:nvPicPr>
        <p:blipFill>
          <a:blip r:embed="rId2"/>
          <a:stretch>
            <a:fillRect/>
          </a:stretch>
        </p:blipFill>
        <p:spPr>
          <a:xfrm>
            <a:off x="411439" y="1517715"/>
            <a:ext cx="5038173" cy="4659313"/>
          </a:xfrm>
          <a:prstGeom prst="rect">
            <a:avLst/>
          </a:prstGeom>
        </p:spPr>
      </p:pic>
    </p:spTree>
    <p:extLst>
      <p:ext uri="{BB962C8B-B14F-4D97-AF65-F5344CB8AC3E}">
        <p14:creationId xmlns:p14="http://schemas.microsoft.com/office/powerpoint/2010/main" val="768654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50DA-B528-142D-AD36-C47F44A69B1F}"/>
              </a:ext>
            </a:extLst>
          </p:cNvPr>
          <p:cNvSpPr>
            <a:spLocks noGrp="1"/>
          </p:cNvSpPr>
          <p:nvPr>
            <p:ph type="title"/>
          </p:nvPr>
        </p:nvSpPr>
        <p:spPr/>
        <p:txBody>
          <a:bodyPr/>
          <a:lstStyle/>
          <a:p>
            <a:r>
              <a:rPr lang="en-IN" dirty="0"/>
              <a:t>Outliers Treatment.</a:t>
            </a:r>
          </a:p>
        </p:txBody>
      </p:sp>
      <p:sp>
        <p:nvSpPr>
          <p:cNvPr id="3" name="Slide Number Placeholder 2">
            <a:extLst>
              <a:ext uri="{FF2B5EF4-FFF2-40B4-BE49-F238E27FC236}">
                <a16:creationId xmlns:a16="http://schemas.microsoft.com/office/drawing/2014/main" id="{0520931B-BB1F-1B3A-DB02-C5118565A20C}"/>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7" name="Content Placeholder 6">
            <a:extLst>
              <a:ext uri="{FF2B5EF4-FFF2-40B4-BE49-F238E27FC236}">
                <a16:creationId xmlns:a16="http://schemas.microsoft.com/office/drawing/2014/main" id="{DFF928DA-9069-2BDC-B006-959168A7F3E4}"/>
              </a:ext>
            </a:extLst>
          </p:cNvPr>
          <p:cNvPicPr>
            <a:picLocks noGrp="1" noChangeAspect="1"/>
          </p:cNvPicPr>
          <p:nvPr>
            <p:ph sz="half" idx="1"/>
          </p:nvPr>
        </p:nvPicPr>
        <p:blipFill>
          <a:blip r:embed="rId2"/>
          <a:stretch>
            <a:fillRect/>
          </a:stretch>
        </p:blipFill>
        <p:spPr>
          <a:xfrm>
            <a:off x="105270" y="1399728"/>
            <a:ext cx="5079167" cy="2029272"/>
          </a:xfrm>
          <a:prstGeom prst="rect">
            <a:avLst/>
          </a:prstGeom>
        </p:spPr>
      </p:pic>
      <p:sp>
        <p:nvSpPr>
          <p:cNvPr id="5" name="Content Placeholder 4">
            <a:extLst>
              <a:ext uri="{FF2B5EF4-FFF2-40B4-BE49-F238E27FC236}">
                <a16:creationId xmlns:a16="http://schemas.microsoft.com/office/drawing/2014/main" id="{1341D72C-5299-BAD9-E826-294CB8553A68}"/>
              </a:ext>
            </a:extLst>
          </p:cNvPr>
          <p:cNvSpPr>
            <a:spLocks noGrp="1"/>
          </p:cNvSpPr>
          <p:nvPr>
            <p:ph sz="half" idx="2"/>
          </p:nvPr>
        </p:nvSpPr>
        <p:spPr/>
        <p:txBody>
          <a:bodyPr/>
          <a:lstStyle/>
          <a:p>
            <a:r>
              <a:rPr lang="en-IN" dirty="0"/>
              <a:t>In collection we can see that there are 2 in lower fence and 37 in upper fence. This outlier is going to treated using clip method.</a:t>
            </a:r>
          </a:p>
          <a:p>
            <a:r>
              <a:rPr lang="en-IN" dirty="0"/>
              <a:t>Clip means the values of the lower limit become lower limit and the value of upper limit becomes upper limit.</a:t>
            </a:r>
          </a:p>
          <a:p>
            <a:r>
              <a:rPr lang="en-IN" dirty="0"/>
              <a:t>After treating the outlier in the second image we can see that there is no more outlier and we can analysis data without any noise.</a:t>
            </a:r>
          </a:p>
        </p:txBody>
      </p:sp>
      <p:pic>
        <p:nvPicPr>
          <p:cNvPr id="9" name="Picture 8">
            <a:extLst>
              <a:ext uri="{FF2B5EF4-FFF2-40B4-BE49-F238E27FC236}">
                <a16:creationId xmlns:a16="http://schemas.microsoft.com/office/drawing/2014/main" id="{AA3DAD85-F62E-5709-9631-95EEC2D4C2E8}"/>
              </a:ext>
            </a:extLst>
          </p:cNvPr>
          <p:cNvPicPr>
            <a:picLocks noChangeAspect="1"/>
          </p:cNvPicPr>
          <p:nvPr/>
        </p:nvPicPr>
        <p:blipFill>
          <a:blip r:embed="rId3"/>
          <a:stretch>
            <a:fillRect/>
          </a:stretch>
        </p:blipFill>
        <p:spPr>
          <a:xfrm>
            <a:off x="208441" y="3478669"/>
            <a:ext cx="4501210" cy="2836406"/>
          </a:xfrm>
          <a:prstGeom prst="rect">
            <a:avLst/>
          </a:prstGeom>
        </p:spPr>
      </p:pic>
    </p:spTree>
    <p:extLst>
      <p:ext uri="{BB962C8B-B14F-4D97-AF65-F5344CB8AC3E}">
        <p14:creationId xmlns:p14="http://schemas.microsoft.com/office/powerpoint/2010/main" val="409239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7AE9A-E5FE-C011-30DB-482C9E5AE0A3}"/>
              </a:ext>
            </a:extLst>
          </p:cNvPr>
          <p:cNvSpPr>
            <a:spLocks noGrp="1"/>
          </p:cNvSpPr>
          <p:nvPr>
            <p:ph type="title"/>
          </p:nvPr>
        </p:nvSpPr>
        <p:spPr>
          <a:xfrm>
            <a:off x="444500" y="177801"/>
            <a:ext cx="11214100" cy="900656"/>
          </a:xfrm>
        </p:spPr>
        <p:txBody>
          <a:bodyPr/>
          <a:lstStyle/>
          <a:p>
            <a:r>
              <a:rPr lang="en-IN" dirty="0"/>
              <a:t>Data Analysis.</a:t>
            </a:r>
            <a:br>
              <a:rPr lang="en-IN" dirty="0"/>
            </a:br>
            <a:r>
              <a:rPr lang="en-IN" dirty="0"/>
              <a:t>Outlier Treatment. </a:t>
            </a:r>
          </a:p>
        </p:txBody>
      </p:sp>
      <p:sp>
        <p:nvSpPr>
          <p:cNvPr id="3" name="Slide Number Placeholder 2">
            <a:extLst>
              <a:ext uri="{FF2B5EF4-FFF2-40B4-BE49-F238E27FC236}">
                <a16:creationId xmlns:a16="http://schemas.microsoft.com/office/drawing/2014/main" id="{EE9C2308-30A2-9062-E7C5-50659A6D7752}"/>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10" name="Text Placeholder 9">
            <a:extLst>
              <a:ext uri="{FF2B5EF4-FFF2-40B4-BE49-F238E27FC236}">
                <a16:creationId xmlns:a16="http://schemas.microsoft.com/office/drawing/2014/main" id="{17E523EC-6241-9E64-1911-AA25F58AB8BC}"/>
              </a:ext>
            </a:extLst>
          </p:cNvPr>
          <p:cNvSpPr>
            <a:spLocks noGrp="1"/>
          </p:cNvSpPr>
          <p:nvPr>
            <p:ph type="body" sz="half" idx="2"/>
          </p:nvPr>
        </p:nvSpPr>
        <p:spPr>
          <a:xfrm>
            <a:off x="329066" y="2628900"/>
            <a:ext cx="4754562" cy="2257425"/>
          </a:xfrm>
        </p:spPr>
        <p:txBody>
          <a:bodyPr/>
          <a:lstStyle/>
          <a:p>
            <a:pPr marL="285750" indent="-285750">
              <a:buFont typeface="Wingdings" panose="05000000000000000000" pitchFamily="2" charset="2"/>
              <a:buChar char="Ø"/>
            </a:pPr>
            <a:r>
              <a:rPr lang="en-IN" dirty="0"/>
              <a:t>Secondly we can see there is an outlier in marketing expense and the upper Outlier is 66. </a:t>
            </a:r>
          </a:p>
          <a:p>
            <a:pPr marL="285750" indent="-285750">
              <a:buFont typeface="Wingdings" panose="05000000000000000000" pitchFamily="2" charset="2"/>
              <a:buChar char="Ø"/>
            </a:pPr>
            <a:r>
              <a:rPr lang="en-IN" dirty="0"/>
              <a:t>We have treated this with clip and now there wont be an outlier for marketing expense.</a:t>
            </a:r>
          </a:p>
          <a:p>
            <a:pPr marL="285750" indent="-285750">
              <a:buFont typeface="Wingdings" panose="05000000000000000000" pitchFamily="2" charset="2"/>
              <a:buChar char="Ø"/>
            </a:pPr>
            <a:r>
              <a:rPr lang="en-IN" dirty="0"/>
              <a:t>If we check the below image there is no outlier that means our data for marketing expense is clean.</a:t>
            </a:r>
          </a:p>
          <a:p>
            <a:endParaRPr lang="en-IN" dirty="0"/>
          </a:p>
          <a:p>
            <a:endParaRPr lang="en-IN" dirty="0"/>
          </a:p>
        </p:txBody>
      </p:sp>
      <p:pic>
        <p:nvPicPr>
          <p:cNvPr id="7" name="Content Placeholder 6">
            <a:extLst>
              <a:ext uri="{FF2B5EF4-FFF2-40B4-BE49-F238E27FC236}">
                <a16:creationId xmlns:a16="http://schemas.microsoft.com/office/drawing/2014/main" id="{35052B93-44CB-7FB6-A2B0-F43EBA765338}"/>
              </a:ext>
            </a:extLst>
          </p:cNvPr>
          <p:cNvPicPr>
            <a:picLocks noGrp="1" noChangeAspect="1"/>
          </p:cNvPicPr>
          <p:nvPr>
            <p:ph idx="1"/>
          </p:nvPr>
        </p:nvPicPr>
        <p:blipFill>
          <a:blip r:embed="rId2"/>
          <a:stretch>
            <a:fillRect/>
          </a:stretch>
        </p:blipFill>
        <p:spPr>
          <a:xfrm>
            <a:off x="6051550" y="1226055"/>
            <a:ext cx="6087325" cy="2067213"/>
          </a:xfrm>
          <a:prstGeom prst="rect">
            <a:avLst/>
          </a:prstGeom>
        </p:spPr>
      </p:pic>
      <p:pic>
        <p:nvPicPr>
          <p:cNvPr id="9" name="Content Placeholder 8">
            <a:extLst>
              <a:ext uri="{FF2B5EF4-FFF2-40B4-BE49-F238E27FC236}">
                <a16:creationId xmlns:a16="http://schemas.microsoft.com/office/drawing/2014/main" id="{F725A37E-46D9-8CE4-899D-73A49C7A4056}"/>
              </a:ext>
            </a:extLst>
          </p:cNvPr>
          <p:cNvPicPr>
            <a:picLocks noGrp="1" noChangeAspect="1"/>
          </p:cNvPicPr>
          <p:nvPr>
            <p:ph sz="half" idx="4294967295"/>
          </p:nvPr>
        </p:nvPicPr>
        <p:blipFill>
          <a:blip r:embed="rId3"/>
          <a:stretch>
            <a:fillRect/>
          </a:stretch>
        </p:blipFill>
        <p:spPr>
          <a:xfrm>
            <a:off x="7307119" y="3293268"/>
            <a:ext cx="3835373" cy="3186113"/>
          </a:xfrm>
          <a:prstGeom prst="rect">
            <a:avLst/>
          </a:prstGeom>
        </p:spPr>
      </p:pic>
    </p:spTree>
    <p:extLst>
      <p:ext uri="{BB962C8B-B14F-4D97-AF65-F5344CB8AC3E}">
        <p14:creationId xmlns:p14="http://schemas.microsoft.com/office/powerpoint/2010/main" val="3057335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42B5-C706-515D-CFB5-BEA642030D20}"/>
              </a:ext>
            </a:extLst>
          </p:cNvPr>
          <p:cNvSpPr>
            <a:spLocks noGrp="1"/>
          </p:cNvSpPr>
          <p:nvPr>
            <p:ph type="title"/>
          </p:nvPr>
        </p:nvSpPr>
        <p:spPr>
          <a:xfrm>
            <a:off x="443366" y="410352"/>
            <a:ext cx="11214100" cy="742950"/>
          </a:xfrm>
        </p:spPr>
        <p:txBody>
          <a:bodyPr/>
          <a:lstStyle/>
          <a:p>
            <a:r>
              <a:rPr lang="en-IN" dirty="0">
                <a:latin typeface="Amasis MT Pro Light" panose="02040304050005020304" pitchFamily="18" charset="0"/>
              </a:rPr>
              <a:t>Distribution of movies on the basis of collection.</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FD5E1872-334F-5F8A-3045-98980022CACB}"/>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a:extLst>
              <a:ext uri="{FF2B5EF4-FFF2-40B4-BE49-F238E27FC236}">
                <a16:creationId xmlns:a16="http://schemas.microsoft.com/office/drawing/2014/main" id="{6732E58B-2D99-7B38-9A42-2EC8852EE369}"/>
              </a:ext>
            </a:extLst>
          </p:cNvPr>
          <p:cNvSpPr>
            <a:spLocks noGrp="1"/>
          </p:cNvSpPr>
          <p:nvPr>
            <p:ph type="body" sz="half" idx="2"/>
          </p:nvPr>
        </p:nvSpPr>
        <p:spPr>
          <a:xfrm>
            <a:off x="443366" y="1783973"/>
            <a:ext cx="3365063" cy="3709153"/>
          </a:xfrm>
        </p:spPr>
        <p:txBody>
          <a:bodyPr/>
          <a:lstStyle/>
          <a:p>
            <a:pPr marL="285750" indent="-285750">
              <a:buFont typeface="Wingdings" panose="05000000000000000000" pitchFamily="2" charset="2"/>
              <a:buChar char="Ø"/>
            </a:pPr>
            <a:r>
              <a:rPr lang="en-IN" sz="2000" dirty="0"/>
              <a:t>We have this normal distribution for collection as we have treated the outliers</a:t>
            </a:r>
          </a:p>
          <a:p>
            <a:pPr marL="285750" indent="-285750">
              <a:buFont typeface="Wingdings" panose="05000000000000000000" pitchFamily="2" charset="2"/>
              <a:buChar char="Ø"/>
            </a:pPr>
            <a:r>
              <a:rPr lang="en-IN" sz="2000" dirty="0"/>
              <a:t>We have detect that 25000 to 45000 there are most of the movies are created.</a:t>
            </a:r>
          </a:p>
          <a:p>
            <a:pPr marL="285750" indent="-285750">
              <a:buFont typeface="Wingdings" panose="05000000000000000000" pitchFamily="2" charset="2"/>
              <a:buChar char="Ø"/>
            </a:pPr>
            <a:r>
              <a:rPr lang="en-IN" sz="2000" dirty="0"/>
              <a:t>We have also see that around 70000 to 750000 there is 40 to 40 movies which is created</a:t>
            </a:r>
            <a:r>
              <a:rPr lang="en-IN" dirty="0"/>
              <a:t>.</a:t>
            </a:r>
          </a:p>
          <a:p>
            <a:endParaRPr lang="en-IN" dirty="0"/>
          </a:p>
        </p:txBody>
      </p:sp>
      <p:pic>
        <p:nvPicPr>
          <p:cNvPr id="7" name="Content Placeholder 6">
            <a:extLst>
              <a:ext uri="{FF2B5EF4-FFF2-40B4-BE49-F238E27FC236}">
                <a16:creationId xmlns:a16="http://schemas.microsoft.com/office/drawing/2014/main" id="{0992BF4F-173D-FD0D-13D2-78FD2528103B}"/>
              </a:ext>
            </a:extLst>
          </p:cNvPr>
          <p:cNvPicPr>
            <a:picLocks noGrp="1" noChangeAspect="1"/>
          </p:cNvPicPr>
          <p:nvPr>
            <p:ph idx="1"/>
          </p:nvPr>
        </p:nvPicPr>
        <p:blipFill>
          <a:blip r:embed="rId2"/>
          <a:stretch>
            <a:fillRect/>
          </a:stretch>
        </p:blipFill>
        <p:spPr>
          <a:xfrm>
            <a:off x="5218203" y="1567430"/>
            <a:ext cx="5148082" cy="4142240"/>
          </a:xfrm>
          <a:prstGeom prst="rect">
            <a:avLst/>
          </a:prstGeom>
        </p:spPr>
      </p:pic>
    </p:spTree>
    <p:extLst>
      <p:ext uri="{BB962C8B-B14F-4D97-AF65-F5344CB8AC3E}">
        <p14:creationId xmlns:p14="http://schemas.microsoft.com/office/powerpoint/2010/main" val="1932031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3785B-B65A-BB4E-04EE-6AFCFB73CF37}"/>
              </a:ext>
            </a:extLst>
          </p:cNvPr>
          <p:cNvSpPr>
            <a:spLocks noGrp="1"/>
          </p:cNvSpPr>
          <p:nvPr>
            <p:ph type="title"/>
          </p:nvPr>
        </p:nvSpPr>
        <p:spPr>
          <a:xfrm>
            <a:off x="444500" y="542926"/>
            <a:ext cx="11214100" cy="704850"/>
          </a:xfrm>
        </p:spPr>
        <p:txBody>
          <a:bodyPr/>
          <a:lstStyle/>
          <a:p>
            <a:r>
              <a:rPr lang="en-IN" dirty="0">
                <a:latin typeface="Amasis MT Pro Light" panose="02040304050005020304" pitchFamily="18" charset="0"/>
              </a:rPr>
              <a:t>Market expenses basis of Genre.</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A823E93A-43D5-501A-09DA-8A91DFAB74DC}"/>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a:extLst>
              <a:ext uri="{FF2B5EF4-FFF2-40B4-BE49-F238E27FC236}">
                <a16:creationId xmlns:a16="http://schemas.microsoft.com/office/drawing/2014/main" id="{5D6B2A32-075B-C124-6DC9-459A6B68DF88}"/>
              </a:ext>
            </a:extLst>
          </p:cNvPr>
          <p:cNvSpPr>
            <a:spLocks noGrp="1"/>
          </p:cNvSpPr>
          <p:nvPr>
            <p:ph type="body" sz="half" idx="2"/>
          </p:nvPr>
        </p:nvSpPr>
        <p:spPr>
          <a:xfrm>
            <a:off x="444500" y="2208224"/>
            <a:ext cx="3365063" cy="2822551"/>
          </a:xfrm>
        </p:spPr>
        <p:txBody>
          <a:bodyPr/>
          <a:lstStyle/>
          <a:p>
            <a:pPr marL="285750" indent="-285750">
              <a:buFont typeface="Wingdings" panose="05000000000000000000" pitchFamily="2" charset="2"/>
              <a:buChar char="Ø"/>
            </a:pPr>
            <a:r>
              <a:rPr lang="en-IN" sz="2400" dirty="0"/>
              <a:t>We can observe that there is more expense for comedy and action.</a:t>
            </a:r>
          </a:p>
          <a:p>
            <a:pPr marL="285750" indent="-285750">
              <a:buFont typeface="Wingdings" panose="05000000000000000000" pitchFamily="2" charset="2"/>
              <a:buChar char="Ø"/>
            </a:pPr>
            <a:r>
              <a:rPr lang="en-IN" sz="2400" dirty="0"/>
              <a:t> Thriller and drama has almost similar market expense.</a:t>
            </a:r>
          </a:p>
          <a:p>
            <a:endParaRPr lang="en-IN" dirty="0"/>
          </a:p>
        </p:txBody>
      </p:sp>
      <p:pic>
        <p:nvPicPr>
          <p:cNvPr id="7" name="Content Placeholder 6">
            <a:extLst>
              <a:ext uri="{FF2B5EF4-FFF2-40B4-BE49-F238E27FC236}">
                <a16:creationId xmlns:a16="http://schemas.microsoft.com/office/drawing/2014/main" id="{82998EFC-A792-234D-64C0-2640D41F4404}"/>
              </a:ext>
            </a:extLst>
          </p:cNvPr>
          <p:cNvPicPr>
            <a:picLocks noGrp="1" noChangeAspect="1"/>
          </p:cNvPicPr>
          <p:nvPr>
            <p:ph idx="1"/>
          </p:nvPr>
        </p:nvPicPr>
        <p:blipFill>
          <a:blip r:embed="rId2"/>
          <a:stretch>
            <a:fillRect/>
          </a:stretch>
        </p:blipFill>
        <p:spPr>
          <a:xfrm>
            <a:off x="5589678" y="1548379"/>
            <a:ext cx="5148082" cy="4142240"/>
          </a:xfrm>
          <a:prstGeom prst="rect">
            <a:avLst/>
          </a:prstGeom>
        </p:spPr>
      </p:pic>
    </p:spTree>
    <p:extLst>
      <p:ext uri="{BB962C8B-B14F-4D97-AF65-F5344CB8AC3E}">
        <p14:creationId xmlns:p14="http://schemas.microsoft.com/office/powerpoint/2010/main" val="418469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DB853-B2E3-79B3-E581-1342435BA45E}"/>
              </a:ext>
            </a:extLst>
          </p:cNvPr>
          <p:cNvSpPr>
            <a:spLocks noGrp="1"/>
          </p:cNvSpPr>
          <p:nvPr>
            <p:ph type="title"/>
          </p:nvPr>
        </p:nvSpPr>
        <p:spPr>
          <a:xfrm>
            <a:off x="444500" y="542925"/>
            <a:ext cx="11214100" cy="978729"/>
          </a:xfrm>
        </p:spPr>
        <p:txBody>
          <a:bodyPr/>
          <a:lstStyle/>
          <a:p>
            <a:r>
              <a:rPr lang="en-IN" dirty="0">
                <a:latin typeface="Amasis MT Pro Light" panose="02040304050005020304" pitchFamily="18" charset="0"/>
              </a:rPr>
              <a:t>Production expenses.</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B6BC3943-632C-42CE-7110-6B71E05DB6EF}"/>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 Placeholder 3">
            <a:extLst>
              <a:ext uri="{FF2B5EF4-FFF2-40B4-BE49-F238E27FC236}">
                <a16:creationId xmlns:a16="http://schemas.microsoft.com/office/drawing/2014/main" id="{07220B6D-3C1F-61B3-3810-445EFA094CD6}"/>
              </a:ext>
            </a:extLst>
          </p:cNvPr>
          <p:cNvSpPr>
            <a:spLocks noGrp="1"/>
          </p:cNvSpPr>
          <p:nvPr>
            <p:ph type="body" sz="half" idx="2"/>
          </p:nvPr>
        </p:nvSpPr>
        <p:spPr>
          <a:xfrm>
            <a:off x="444500" y="1933575"/>
            <a:ext cx="3365063" cy="3261478"/>
          </a:xfrm>
        </p:spPr>
        <p:txBody>
          <a:bodyPr/>
          <a:lstStyle/>
          <a:p>
            <a:pPr marL="457200" indent="-457200">
              <a:buFont typeface="Arial" panose="020B0604020202020204" pitchFamily="34" charset="0"/>
              <a:buChar char="•"/>
            </a:pPr>
            <a:r>
              <a:rPr lang="en-IN" sz="2800" dirty="0"/>
              <a:t>Here we can interpret that most of the production exp is done for action and comedy.</a:t>
            </a:r>
          </a:p>
          <a:p>
            <a:endParaRPr lang="en-IN" dirty="0"/>
          </a:p>
        </p:txBody>
      </p:sp>
      <p:pic>
        <p:nvPicPr>
          <p:cNvPr id="7" name="Content Placeholder 6">
            <a:extLst>
              <a:ext uri="{FF2B5EF4-FFF2-40B4-BE49-F238E27FC236}">
                <a16:creationId xmlns:a16="http://schemas.microsoft.com/office/drawing/2014/main" id="{5A00EF44-712E-0C8A-C1C3-BC1DC198E354}"/>
              </a:ext>
            </a:extLst>
          </p:cNvPr>
          <p:cNvPicPr>
            <a:picLocks noGrp="1" noChangeAspect="1"/>
          </p:cNvPicPr>
          <p:nvPr>
            <p:ph idx="1"/>
          </p:nvPr>
        </p:nvPicPr>
        <p:blipFill>
          <a:blip r:embed="rId2"/>
          <a:stretch>
            <a:fillRect/>
          </a:stretch>
        </p:blipFill>
        <p:spPr>
          <a:xfrm>
            <a:off x="5303928" y="1662680"/>
            <a:ext cx="5148082" cy="4142240"/>
          </a:xfrm>
          <a:prstGeom prst="rect">
            <a:avLst/>
          </a:prstGeom>
        </p:spPr>
      </p:pic>
    </p:spTree>
    <p:extLst>
      <p:ext uri="{BB962C8B-B14F-4D97-AF65-F5344CB8AC3E}">
        <p14:creationId xmlns:p14="http://schemas.microsoft.com/office/powerpoint/2010/main" val="27648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B8D62-0D5D-C157-3361-46F02F59F751}"/>
              </a:ext>
            </a:extLst>
          </p:cNvPr>
          <p:cNvSpPr>
            <a:spLocks noGrp="1"/>
          </p:cNvSpPr>
          <p:nvPr>
            <p:ph type="title"/>
          </p:nvPr>
        </p:nvSpPr>
        <p:spPr>
          <a:xfrm>
            <a:off x="444500" y="542925"/>
            <a:ext cx="11214100" cy="610377"/>
          </a:xfrm>
        </p:spPr>
        <p:txBody>
          <a:bodyPr/>
          <a:lstStyle/>
          <a:p>
            <a:r>
              <a:rPr lang="en-IN" dirty="0">
                <a:latin typeface="Amasis MT Pro Light" panose="02040304050005020304" pitchFamily="18" charset="0"/>
              </a:rPr>
              <a:t>Director Rating.</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57E767E9-F2D2-7E3C-8E41-CE90B6C3CBBB}"/>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 Placeholder 3">
            <a:extLst>
              <a:ext uri="{FF2B5EF4-FFF2-40B4-BE49-F238E27FC236}">
                <a16:creationId xmlns:a16="http://schemas.microsoft.com/office/drawing/2014/main" id="{584D06F2-9C18-3E69-15DD-063A0AA4669B}"/>
              </a:ext>
            </a:extLst>
          </p:cNvPr>
          <p:cNvSpPr>
            <a:spLocks noGrp="1"/>
          </p:cNvSpPr>
          <p:nvPr>
            <p:ph type="body" sz="half" idx="2"/>
          </p:nvPr>
        </p:nvSpPr>
        <p:spPr>
          <a:xfrm>
            <a:off x="444500" y="2255849"/>
            <a:ext cx="3365063" cy="2955901"/>
          </a:xfrm>
        </p:spPr>
        <p:txBody>
          <a:bodyPr/>
          <a:lstStyle/>
          <a:p>
            <a:pPr marL="342900" indent="-342900">
              <a:buFont typeface="Wingdings" panose="05000000000000000000" pitchFamily="2" charset="2"/>
              <a:buChar char="§"/>
            </a:pPr>
            <a:r>
              <a:rPr lang="en-IN" sz="2000" dirty="0"/>
              <a:t>Most of the directed are rated between 8 to 9.</a:t>
            </a:r>
          </a:p>
          <a:p>
            <a:pPr marL="342900" indent="-342900">
              <a:buFont typeface="Wingdings" panose="05000000000000000000" pitchFamily="2" charset="2"/>
              <a:buChar char="§"/>
            </a:pPr>
            <a:r>
              <a:rPr lang="en-IN" sz="2000" dirty="0"/>
              <a:t>As this image also shows that the count of the movies is also high, the once which comes within the range of 8 to 9.5.</a:t>
            </a:r>
          </a:p>
          <a:p>
            <a:endParaRPr lang="en-IN" dirty="0"/>
          </a:p>
        </p:txBody>
      </p:sp>
      <p:pic>
        <p:nvPicPr>
          <p:cNvPr id="7" name="Content Placeholder 6">
            <a:extLst>
              <a:ext uri="{FF2B5EF4-FFF2-40B4-BE49-F238E27FC236}">
                <a16:creationId xmlns:a16="http://schemas.microsoft.com/office/drawing/2014/main" id="{C28732EE-E95A-5FDF-2C33-99DBD7105471}"/>
              </a:ext>
            </a:extLst>
          </p:cNvPr>
          <p:cNvPicPr>
            <a:picLocks noGrp="1" noChangeAspect="1"/>
          </p:cNvPicPr>
          <p:nvPr>
            <p:ph idx="1"/>
          </p:nvPr>
        </p:nvPicPr>
        <p:blipFill>
          <a:blip r:embed="rId2"/>
          <a:stretch>
            <a:fillRect/>
          </a:stretch>
        </p:blipFill>
        <p:spPr>
          <a:xfrm>
            <a:off x="5200677" y="1754120"/>
            <a:ext cx="5221234" cy="3959360"/>
          </a:xfrm>
          <a:prstGeom prst="rect">
            <a:avLst/>
          </a:prstGeom>
        </p:spPr>
      </p:pic>
    </p:spTree>
    <p:extLst>
      <p:ext uri="{BB962C8B-B14F-4D97-AF65-F5344CB8AC3E}">
        <p14:creationId xmlns:p14="http://schemas.microsoft.com/office/powerpoint/2010/main" val="2517367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34AF-A4B3-56A4-B785-AE2C01778B1B}"/>
              </a:ext>
            </a:extLst>
          </p:cNvPr>
          <p:cNvSpPr>
            <a:spLocks noGrp="1"/>
          </p:cNvSpPr>
          <p:nvPr>
            <p:ph type="title"/>
          </p:nvPr>
        </p:nvSpPr>
        <p:spPr>
          <a:xfrm>
            <a:off x="444500" y="542926"/>
            <a:ext cx="11214100" cy="685800"/>
          </a:xfrm>
        </p:spPr>
        <p:txBody>
          <a:bodyPr/>
          <a:lstStyle/>
          <a:p>
            <a:r>
              <a:rPr lang="en-IN" dirty="0">
                <a:latin typeface="Amasis MT Pro Light" panose="02040304050005020304" pitchFamily="18" charset="0"/>
              </a:rPr>
              <a:t>3D movies.</a:t>
            </a:r>
            <a:br>
              <a:rPr lang="en-IN" dirty="0">
                <a:latin typeface="Amasis MT Pro Light" panose="02040304050005020304" pitchFamily="18" charset="0"/>
              </a:rPr>
            </a:br>
            <a:endParaRPr lang="en-IN" dirty="0"/>
          </a:p>
        </p:txBody>
      </p:sp>
      <p:sp>
        <p:nvSpPr>
          <p:cNvPr id="3" name="Slide Number Placeholder 2">
            <a:extLst>
              <a:ext uri="{FF2B5EF4-FFF2-40B4-BE49-F238E27FC236}">
                <a16:creationId xmlns:a16="http://schemas.microsoft.com/office/drawing/2014/main" id="{91885C2C-5956-313B-B02E-79ACAEE2B5DF}"/>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ext Placeholder 3">
            <a:extLst>
              <a:ext uri="{FF2B5EF4-FFF2-40B4-BE49-F238E27FC236}">
                <a16:creationId xmlns:a16="http://schemas.microsoft.com/office/drawing/2014/main" id="{447D768C-0DA7-606F-A228-F9BFC630C197}"/>
              </a:ext>
            </a:extLst>
          </p:cNvPr>
          <p:cNvSpPr>
            <a:spLocks noGrp="1"/>
          </p:cNvSpPr>
          <p:nvPr>
            <p:ph type="body" sz="half" idx="2"/>
          </p:nvPr>
        </p:nvSpPr>
        <p:spPr>
          <a:xfrm>
            <a:off x="443366" y="1808442"/>
            <a:ext cx="3365063" cy="4142239"/>
          </a:xfrm>
        </p:spPr>
        <p:txBody>
          <a:bodyPr>
            <a:noAutofit/>
          </a:bodyPr>
          <a:lstStyle/>
          <a:p>
            <a:pPr marL="285750" indent="-285750">
              <a:buFont typeface="Wingdings" panose="05000000000000000000" pitchFamily="2" charset="2"/>
              <a:buChar char="Ø"/>
            </a:pPr>
            <a:r>
              <a:rPr lang="en-IN" sz="2000" dirty="0"/>
              <a:t>According to the visuals, we can see that there is more count for 3D movies.</a:t>
            </a:r>
          </a:p>
          <a:p>
            <a:pPr marL="285750" indent="-285750">
              <a:buFont typeface="Wingdings" panose="05000000000000000000" pitchFamily="2" charset="2"/>
              <a:buChar char="Ø"/>
            </a:pPr>
            <a:r>
              <a:rPr lang="en-IN" sz="2000" dirty="0"/>
              <a:t>As thriller movie is topping the chart and also comedy movies are yes to 3D movies.</a:t>
            </a:r>
          </a:p>
          <a:p>
            <a:pPr marL="285750" indent="-285750">
              <a:buFont typeface="Wingdings" panose="05000000000000000000" pitchFamily="2" charset="2"/>
              <a:buChar char="Ø"/>
            </a:pPr>
            <a:r>
              <a:rPr lang="en-IN" sz="2000" dirty="0"/>
              <a:t>On other hand drama and action movies are tens be less for 3D creation.</a:t>
            </a:r>
          </a:p>
        </p:txBody>
      </p:sp>
      <p:pic>
        <p:nvPicPr>
          <p:cNvPr id="7" name="Content Placeholder 6">
            <a:extLst>
              <a:ext uri="{FF2B5EF4-FFF2-40B4-BE49-F238E27FC236}">
                <a16:creationId xmlns:a16="http://schemas.microsoft.com/office/drawing/2014/main" id="{A87009FF-7123-D28B-E6DA-11FB6D859DCE}"/>
              </a:ext>
            </a:extLst>
          </p:cNvPr>
          <p:cNvPicPr>
            <a:picLocks noGrp="1" noChangeAspect="1"/>
          </p:cNvPicPr>
          <p:nvPr>
            <p:ph idx="1"/>
          </p:nvPr>
        </p:nvPicPr>
        <p:blipFill>
          <a:blip r:embed="rId2"/>
          <a:stretch>
            <a:fillRect/>
          </a:stretch>
        </p:blipFill>
        <p:spPr>
          <a:xfrm>
            <a:off x="4178416" y="1544693"/>
            <a:ext cx="3235107" cy="4142240"/>
          </a:xfrm>
          <a:prstGeom prst="rect">
            <a:avLst/>
          </a:prstGeom>
        </p:spPr>
      </p:pic>
      <p:pic>
        <p:nvPicPr>
          <p:cNvPr id="9" name="Picture 8">
            <a:extLst>
              <a:ext uri="{FF2B5EF4-FFF2-40B4-BE49-F238E27FC236}">
                <a16:creationId xmlns:a16="http://schemas.microsoft.com/office/drawing/2014/main" id="{87D0CAC2-4F00-ADEA-92E9-11682B78E996}"/>
              </a:ext>
            </a:extLst>
          </p:cNvPr>
          <p:cNvPicPr>
            <a:picLocks noChangeAspect="1"/>
          </p:cNvPicPr>
          <p:nvPr/>
        </p:nvPicPr>
        <p:blipFill>
          <a:blip r:embed="rId3"/>
          <a:stretch>
            <a:fillRect/>
          </a:stretch>
        </p:blipFill>
        <p:spPr>
          <a:xfrm>
            <a:off x="7783510" y="1544693"/>
            <a:ext cx="3875090" cy="4142240"/>
          </a:xfrm>
          <a:prstGeom prst="rect">
            <a:avLst/>
          </a:prstGeom>
        </p:spPr>
      </p:pic>
    </p:spTree>
    <p:extLst>
      <p:ext uri="{BB962C8B-B14F-4D97-AF65-F5344CB8AC3E}">
        <p14:creationId xmlns:p14="http://schemas.microsoft.com/office/powerpoint/2010/main" val="337294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21CF-25BA-9F14-28CF-3F0B8EB4556E}"/>
              </a:ext>
            </a:extLst>
          </p:cNvPr>
          <p:cNvSpPr>
            <a:spLocks noGrp="1"/>
          </p:cNvSpPr>
          <p:nvPr>
            <p:ph type="title"/>
          </p:nvPr>
        </p:nvSpPr>
        <p:spPr/>
        <p:txBody>
          <a:bodyPr/>
          <a:lstStyle/>
          <a:p>
            <a:r>
              <a:rPr lang="en-IN" dirty="0"/>
              <a:t>Dummies.</a:t>
            </a:r>
          </a:p>
        </p:txBody>
      </p:sp>
      <p:sp>
        <p:nvSpPr>
          <p:cNvPr id="3" name="Slide Number Placeholder 2">
            <a:extLst>
              <a:ext uri="{FF2B5EF4-FFF2-40B4-BE49-F238E27FC236}">
                <a16:creationId xmlns:a16="http://schemas.microsoft.com/office/drawing/2014/main" id="{98761AF5-186D-16C8-47C6-C6096097C787}"/>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sp>
        <p:nvSpPr>
          <p:cNvPr id="4" name="Text Placeholder 3">
            <a:extLst>
              <a:ext uri="{FF2B5EF4-FFF2-40B4-BE49-F238E27FC236}">
                <a16:creationId xmlns:a16="http://schemas.microsoft.com/office/drawing/2014/main" id="{D341AACD-FE8C-D72A-2CED-EB7311A860FA}"/>
              </a:ext>
            </a:extLst>
          </p:cNvPr>
          <p:cNvSpPr>
            <a:spLocks noGrp="1"/>
          </p:cNvSpPr>
          <p:nvPr>
            <p:ph type="body" sz="quarter" idx="13"/>
          </p:nvPr>
        </p:nvSpPr>
        <p:spPr/>
        <p:txBody>
          <a:bodyPr/>
          <a:lstStyle/>
          <a:p>
            <a:r>
              <a:rPr lang="en-IN" dirty="0"/>
              <a:t>We have created dummy variable for genre and 3D_available.</a:t>
            </a:r>
          </a:p>
        </p:txBody>
      </p:sp>
      <p:pic>
        <p:nvPicPr>
          <p:cNvPr id="6" name="Picture 5">
            <a:extLst>
              <a:ext uri="{FF2B5EF4-FFF2-40B4-BE49-F238E27FC236}">
                <a16:creationId xmlns:a16="http://schemas.microsoft.com/office/drawing/2014/main" id="{7C42A754-D4A5-E4F2-644D-E07693D91106}"/>
              </a:ext>
            </a:extLst>
          </p:cNvPr>
          <p:cNvPicPr>
            <a:picLocks noChangeAspect="1"/>
          </p:cNvPicPr>
          <p:nvPr/>
        </p:nvPicPr>
        <p:blipFill>
          <a:blip r:embed="rId2"/>
          <a:stretch>
            <a:fillRect/>
          </a:stretch>
        </p:blipFill>
        <p:spPr>
          <a:xfrm>
            <a:off x="1187450" y="2562085"/>
            <a:ext cx="962159" cy="1981477"/>
          </a:xfrm>
          <a:prstGeom prst="rect">
            <a:avLst/>
          </a:prstGeom>
        </p:spPr>
      </p:pic>
      <p:pic>
        <p:nvPicPr>
          <p:cNvPr id="8" name="Picture 7">
            <a:extLst>
              <a:ext uri="{FF2B5EF4-FFF2-40B4-BE49-F238E27FC236}">
                <a16:creationId xmlns:a16="http://schemas.microsoft.com/office/drawing/2014/main" id="{DB223396-E721-166C-C5CE-0C740060C99A}"/>
              </a:ext>
            </a:extLst>
          </p:cNvPr>
          <p:cNvPicPr>
            <a:picLocks noChangeAspect="1"/>
          </p:cNvPicPr>
          <p:nvPr/>
        </p:nvPicPr>
        <p:blipFill>
          <a:blip r:embed="rId3"/>
          <a:stretch>
            <a:fillRect/>
          </a:stretch>
        </p:blipFill>
        <p:spPr>
          <a:xfrm>
            <a:off x="2892559" y="2562085"/>
            <a:ext cx="2734057" cy="1810003"/>
          </a:xfrm>
          <a:prstGeom prst="rect">
            <a:avLst/>
          </a:prstGeom>
        </p:spPr>
      </p:pic>
    </p:spTree>
    <p:extLst>
      <p:ext uri="{BB962C8B-B14F-4D97-AF65-F5344CB8AC3E}">
        <p14:creationId xmlns:p14="http://schemas.microsoft.com/office/powerpoint/2010/main" val="3230814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AB40AA5-EB69-3706-BEB5-A55DA9C97FC5}"/>
              </a:ext>
            </a:extLst>
          </p:cNvPr>
          <p:cNvSpPr>
            <a:spLocks noGrp="1"/>
          </p:cNvSpPr>
          <p:nvPr>
            <p:ph type="title"/>
          </p:nvPr>
        </p:nvSpPr>
        <p:spPr>
          <a:xfrm>
            <a:off x="444500" y="542925"/>
            <a:ext cx="11214100" cy="535531"/>
          </a:xfrm>
        </p:spPr>
        <p:txBody>
          <a:bodyPr/>
          <a:lstStyle/>
          <a:p>
            <a:r>
              <a:rPr lang="en-US" dirty="0"/>
              <a:t>Logistic Regression.</a:t>
            </a:r>
          </a:p>
        </p:txBody>
      </p:sp>
      <p:sp>
        <p:nvSpPr>
          <p:cNvPr id="3" name="Slide Number Placeholder 2">
            <a:extLst>
              <a:ext uri="{FF2B5EF4-FFF2-40B4-BE49-F238E27FC236}">
                <a16:creationId xmlns:a16="http://schemas.microsoft.com/office/drawing/2014/main" id="{5CED6BFA-7596-5F03-2090-1B44940D5B53}"/>
              </a:ext>
            </a:extLst>
          </p:cNvPr>
          <p:cNvSpPr>
            <a:spLocks noGrp="1"/>
          </p:cNvSpPr>
          <p:nvPr>
            <p:ph type="sldNum" sz="quarter" idx="12"/>
          </p:nvPr>
        </p:nvSpPr>
        <p:spPr>
          <a:xfrm>
            <a:off x="11252200" y="6315075"/>
            <a:ext cx="406400" cy="365125"/>
          </a:xfrm>
        </p:spPr>
        <p:txBody>
          <a:bodyPr vert="horz" lIns="91440" tIns="45720" rIns="91440" bIns="45720" rtlCol="0" anchor="ctr">
            <a:normAutofit/>
          </a:bodyPr>
          <a:lstStyle/>
          <a:p>
            <a:pPr>
              <a:spcAft>
                <a:spcPts val="600"/>
              </a:spcAft>
            </a:pPr>
            <a:fld id="{C263D6C4-4840-40CC-AC84-17E24B3B7BDE}" type="slidenum">
              <a:rPr lang="en-US" smtClean="0"/>
              <a:pPr>
                <a:spcAft>
                  <a:spcPts val="600"/>
                </a:spcAft>
              </a:pPr>
              <a:t>17</a:t>
            </a:fld>
            <a:endParaRPr lang="en-US"/>
          </a:p>
        </p:txBody>
      </p:sp>
      <p:sp>
        <p:nvSpPr>
          <p:cNvPr id="7" name="TextBox 6">
            <a:extLst>
              <a:ext uri="{FF2B5EF4-FFF2-40B4-BE49-F238E27FC236}">
                <a16:creationId xmlns:a16="http://schemas.microsoft.com/office/drawing/2014/main" id="{BC927EB3-D59C-ACCE-3A36-84985C155F85}"/>
              </a:ext>
            </a:extLst>
          </p:cNvPr>
          <p:cNvSpPr txBox="1"/>
          <p:nvPr/>
        </p:nvSpPr>
        <p:spPr>
          <a:xfrm>
            <a:off x="443366" y="1444649"/>
            <a:ext cx="3365063" cy="4579079"/>
          </a:xfrm>
          <a:prstGeom prst="rect">
            <a:avLst/>
          </a:prstGeom>
        </p:spPr>
        <p:txBody>
          <a:bodyPr vert="horz" lIns="91440" tIns="45720" rIns="91440" bIns="45720" rtlCol="0">
            <a:normAutofit/>
          </a:bodyPr>
          <a:lstStyle/>
          <a:p>
            <a:pPr>
              <a:lnSpc>
                <a:spcPct val="90000"/>
              </a:lnSpc>
              <a:spcBef>
                <a:spcPts val="1000"/>
              </a:spcBef>
              <a:buClr>
                <a:schemeClr val="accent2"/>
              </a:buClr>
            </a:pPr>
            <a:r>
              <a:rPr lang="en-US" sz="1600" kern="1200" dirty="0">
                <a:solidFill>
                  <a:schemeClr val="bg1"/>
                </a:solidFill>
                <a:latin typeface="+mn-lt"/>
                <a:ea typeface="+mn-ea"/>
                <a:cs typeface="+mn-cs"/>
              </a:rPr>
              <a:t>Based on the classification report you showed, your model can be interpreted as follows.</a:t>
            </a:r>
          </a:p>
          <a:p>
            <a:pPr>
              <a:lnSpc>
                <a:spcPct val="90000"/>
              </a:lnSpc>
              <a:spcBef>
                <a:spcPts val="1000"/>
              </a:spcBef>
              <a:buClr>
                <a:schemeClr val="accent2"/>
              </a:buClr>
            </a:pPr>
            <a:r>
              <a:rPr lang="en-US" sz="1600" b="1" kern="1200" dirty="0">
                <a:solidFill>
                  <a:schemeClr val="bg1"/>
                </a:solidFill>
                <a:latin typeface="+mn-lt"/>
                <a:ea typeface="+mn-ea"/>
                <a:cs typeface="+mn-cs"/>
              </a:rPr>
              <a:t>Your model's performance</a:t>
            </a:r>
          </a:p>
          <a:p>
            <a:pPr>
              <a:lnSpc>
                <a:spcPct val="90000"/>
              </a:lnSpc>
              <a:spcBef>
                <a:spcPts val="1000"/>
              </a:spcBef>
              <a:buClr>
                <a:schemeClr val="accent2"/>
              </a:buClr>
            </a:pPr>
            <a:r>
              <a:rPr lang="en-US" sz="1600" kern="1200" dirty="0">
                <a:solidFill>
                  <a:schemeClr val="bg1"/>
                </a:solidFill>
                <a:latin typeface="+mn-lt"/>
                <a:ea typeface="+mn-ea"/>
                <a:cs typeface="+mn-cs"/>
              </a:rPr>
              <a:t>Overall:</a:t>
            </a:r>
          </a:p>
          <a:p>
            <a:pPr>
              <a:lnSpc>
                <a:spcPct val="90000"/>
              </a:lnSpc>
              <a:spcBef>
                <a:spcPts val="1000"/>
              </a:spcBef>
              <a:buClr>
                <a:schemeClr val="accent2"/>
              </a:buClr>
            </a:pPr>
            <a:r>
              <a:rPr lang="en-US" sz="1600" b="1" kern="1200" dirty="0">
                <a:solidFill>
                  <a:schemeClr val="bg1"/>
                </a:solidFill>
                <a:latin typeface="+mn-lt"/>
                <a:ea typeface="+mn-ea"/>
                <a:cs typeface="+mn-cs"/>
              </a:rPr>
              <a:t>Accuracy = 0.59 (59%)</a:t>
            </a:r>
            <a:r>
              <a:rPr lang="en-US" sz="1600" kern="1200" dirty="0">
                <a:solidFill>
                  <a:schemeClr val="bg1"/>
                </a:solidFill>
                <a:latin typeface="+mn-lt"/>
                <a:ea typeface="+mn-ea"/>
                <a:cs typeface="+mn-cs"/>
              </a:rPr>
              <a:t> </a:t>
            </a:r>
          </a:p>
          <a:p>
            <a:pPr>
              <a:lnSpc>
                <a:spcPct val="90000"/>
              </a:lnSpc>
              <a:spcBef>
                <a:spcPts val="1000"/>
              </a:spcBef>
              <a:buClr>
                <a:schemeClr val="accent2"/>
              </a:buClr>
            </a:pPr>
            <a:r>
              <a:rPr lang="en-US" sz="1600" b="1" kern="1200" dirty="0">
                <a:solidFill>
                  <a:schemeClr val="bg1"/>
                </a:solidFill>
                <a:latin typeface="+mn-lt"/>
                <a:ea typeface="+mn-ea"/>
                <a:cs typeface="+mn-cs"/>
              </a:rPr>
              <a:t>Macro F1 = 0.58</a:t>
            </a:r>
            <a:r>
              <a:rPr lang="en-US" sz="1600" kern="1200" dirty="0">
                <a:solidFill>
                  <a:schemeClr val="bg1"/>
                </a:solidFill>
                <a:latin typeface="+mn-lt"/>
                <a:ea typeface="+mn-ea"/>
                <a:cs typeface="+mn-cs"/>
              </a:rPr>
              <a:t> </a:t>
            </a:r>
          </a:p>
          <a:p>
            <a:pPr>
              <a:lnSpc>
                <a:spcPct val="90000"/>
              </a:lnSpc>
              <a:spcBef>
                <a:spcPts val="1000"/>
              </a:spcBef>
              <a:buClr>
                <a:schemeClr val="accent2"/>
              </a:buClr>
            </a:pPr>
            <a:r>
              <a:rPr lang="en-US" sz="1600" b="1" kern="1200" dirty="0">
                <a:solidFill>
                  <a:schemeClr val="bg1"/>
                </a:solidFill>
                <a:latin typeface="+mn-lt"/>
                <a:ea typeface="+mn-ea"/>
                <a:cs typeface="+mn-cs"/>
              </a:rPr>
              <a:t>Weighted F1 = 0.59</a:t>
            </a:r>
            <a:r>
              <a:rPr lang="en-US" sz="1600" kern="1200" dirty="0">
                <a:solidFill>
                  <a:schemeClr val="bg1"/>
                </a:solidFill>
                <a:latin typeface="+mn-lt"/>
                <a:ea typeface="+mn-ea"/>
                <a:cs typeface="+mn-cs"/>
              </a:rPr>
              <a:t> </a:t>
            </a:r>
          </a:p>
          <a:p>
            <a:pPr>
              <a:lnSpc>
                <a:spcPct val="90000"/>
              </a:lnSpc>
              <a:spcBef>
                <a:spcPts val="1000"/>
              </a:spcBef>
              <a:buClr>
                <a:schemeClr val="accent2"/>
              </a:buClr>
            </a:pPr>
            <a:r>
              <a:rPr lang="en-US" sz="1600" kern="1200" dirty="0">
                <a:solidFill>
                  <a:schemeClr val="bg1"/>
                </a:solidFill>
                <a:latin typeface="+mn-lt"/>
                <a:ea typeface="+mn-ea"/>
                <a:cs typeface="+mn-cs"/>
              </a:rPr>
              <a:t>Test set size = </a:t>
            </a:r>
            <a:r>
              <a:rPr lang="en-US" sz="1600" b="1" kern="1200" dirty="0">
                <a:solidFill>
                  <a:schemeClr val="bg1"/>
                </a:solidFill>
                <a:latin typeface="+mn-lt"/>
                <a:ea typeface="+mn-ea"/>
                <a:cs typeface="+mn-cs"/>
              </a:rPr>
              <a:t>167</a:t>
            </a:r>
            <a:endParaRPr lang="en-US" sz="1600" kern="1200" dirty="0">
              <a:solidFill>
                <a:schemeClr val="bg1"/>
              </a:solidFill>
              <a:latin typeface="+mn-lt"/>
              <a:ea typeface="+mn-ea"/>
              <a:cs typeface="+mn-cs"/>
            </a:endParaRPr>
          </a:p>
        </p:txBody>
      </p:sp>
      <p:graphicFrame>
        <p:nvGraphicFramePr>
          <p:cNvPr id="5" name="Table 4">
            <a:extLst>
              <a:ext uri="{FF2B5EF4-FFF2-40B4-BE49-F238E27FC236}">
                <a16:creationId xmlns:a16="http://schemas.microsoft.com/office/drawing/2014/main" id="{06F11D6A-5D33-32B4-48E2-8A856E253C32}"/>
              </a:ext>
            </a:extLst>
          </p:cNvPr>
          <p:cNvGraphicFramePr>
            <a:graphicFrameLocks noGrp="1"/>
          </p:cNvGraphicFramePr>
          <p:nvPr>
            <p:extLst>
              <p:ext uri="{D42A27DB-BD31-4B8C-83A1-F6EECF244321}">
                <p14:modId xmlns:p14="http://schemas.microsoft.com/office/powerpoint/2010/main" val="453704014"/>
              </p:ext>
            </p:extLst>
          </p:nvPr>
        </p:nvGraphicFramePr>
        <p:xfrm>
          <a:off x="3964290" y="1995064"/>
          <a:ext cx="7694312" cy="3478250"/>
        </p:xfrm>
        <a:graphic>
          <a:graphicData uri="http://schemas.openxmlformats.org/drawingml/2006/table">
            <a:tbl>
              <a:tblPr/>
              <a:tblGrid>
                <a:gridCol w="3970124">
                  <a:extLst>
                    <a:ext uri="{9D8B030D-6E8A-4147-A177-3AD203B41FA5}">
                      <a16:colId xmlns:a16="http://schemas.microsoft.com/office/drawing/2014/main" val="1650385207"/>
                    </a:ext>
                  </a:extLst>
                </a:gridCol>
                <a:gridCol w="1862094">
                  <a:extLst>
                    <a:ext uri="{9D8B030D-6E8A-4147-A177-3AD203B41FA5}">
                      <a16:colId xmlns:a16="http://schemas.microsoft.com/office/drawing/2014/main" val="214334730"/>
                    </a:ext>
                  </a:extLst>
                </a:gridCol>
                <a:gridCol w="1862094">
                  <a:extLst>
                    <a:ext uri="{9D8B030D-6E8A-4147-A177-3AD203B41FA5}">
                      <a16:colId xmlns:a16="http://schemas.microsoft.com/office/drawing/2014/main" val="2142347262"/>
                    </a:ext>
                  </a:extLst>
                </a:gridCol>
              </a:tblGrid>
              <a:tr h="695650">
                <a:tc>
                  <a:txBody>
                    <a:bodyPr/>
                    <a:lstStyle/>
                    <a:p>
                      <a:pPr algn="l" fontAlgn="ctr">
                        <a:buNone/>
                      </a:pPr>
                      <a:r>
                        <a:rPr lang="en-IN" sz="3100" b="0" i="0" u="none" strike="noStrike">
                          <a:effectLst/>
                          <a:latin typeface="Arial" panose="020B0604020202020204" pitchFamily="34" charset="0"/>
                        </a:rPr>
                        <a:t>Metric</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Class 0</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Class 1</a:t>
                      </a:r>
                    </a:p>
                  </a:txBody>
                  <a:tcPr marL="158102" marR="158102" marT="79051" marB="79051" anchor="ctr">
                    <a:lnL>
                      <a:noFill/>
                    </a:lnL>
                    <a:lnR>
                      <a:noFill/>
                    </a:lnR>
                    <a:lnT>
                      <a:noFill/>
                    </a:lnT>
                    <a:lnB>
                      <a:noFill/>
                    </a:lnB>
                    <a:noFill/>
                  </a:tcPr>
                </a:tc>
                <a:extLst>
                  <a:ext uri="{0D108BD9-81ED-4DB2-BD59-A6C34878D82A}">
                    <a16:rowId xmlns:a16="http://schemas.microsoft.com/office/drawing/2014/main" val="2636040453"/>
                  </a:ext>
                </a:extLst>
              </a:tr>
              <a:tr h="695650">
                <a:tc>
                  <a:txBody>
                    <a:bodyPr/>
                    <a:lstStyle/>
                    <a:p>
                      <a:pPr algn="l" fontAlgn="ctr">
                        <a:buNone/>
                      </a:pPr>
                      <a:r>
                        <a:rPr lang="en-IN" sz="3100" b="0" i="0" u="none" strike="noStrike">
                          <a:effectLst/>
                          <a:latin typeface="Arial" panose="020B0604020202020204" pitchFamily="34" charset="0"/>
                        </a:rPr>
                        <a:t>Precision</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0.66</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0.51</a:t>
                      </a:r>
                    </a:p>
                  </a:txBody>
                  <a:tcPr marL="158102" marR="158102" marT="79051" marB="79051" anchor="ctr">
                    <a:lnL>
                      <a:noFill/>
                    </a:lnL>
                    <a:lnR>
                      <a:noFill/>
                    </a:lnR>
                    <a:lnT>
                      <a:noFill/>
                    </a:lnT>
                    <a:lnB>
                      <a:noFill/>
                    </a:lnB>
                    <a:noFill/>
                  </a:tcPr>
                </a:tc>
                <a:extLst>
                  <a:ext uri="{0D108BD9-81ED-4DB2-BD59-A6C34878D82A}">
                    <a16:rowId xmlns:a16="http://schemas.microsoft.com/office/drawing/2014/main" val="2680352637"/>
                  </a:ext>
                </a:extLst>
              </a:tr>
              <a:tr h="695650">
                <a:tc>
                  <a:txBody>
                    <a:bodyPr/>
                    <a:lstStyle/>
                    <a:p>
                      <a:pPr algn="l" fontAlgn="ctr">
                        <a:buNone/>
                      </a:pPr>
                      <a:r>
                        <a:rPr lang="en-IN" sz="3100" b="0" i="0" u="none" strike="noStrike">
                          <a:effectLst/>
                          <a:latin typeface="Arial" panose="020B0604020202020204" pitchFamily="34" charset="0"/>
                        </a:rPr>
                        <a:t>Recall</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0.57</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0.61</a:t>
                      </a:r>
                    </a:p>
                  </a:txBody>
                  <a:tcPr marL="158102" marR="158102" marT="79051" marB="79051" anchor="ctr">
                    <a:lnL>
                      <a:noFill/>
                    </a:lnL>
                    <a:lnR>
                      <a:noFill/>
                    </a:lnR>
                    <a:lnT>
                      <a:noFill/>
                    </a:lnT>
                    <a:lnB>
                      <a:noFill/>
                    </a:lnB>
                    <a:noFill/>
                  </a:tcPr>
                </a:tc>
                <a:extLst>
                  <a:ext uri="{0D108BD9-81ED-4DB2-BD59-A6C34878D82A}">
                    <a16:rowId xmlns:a16="http://schemas.microsoft.com/office/drawing/2014/main" val="2033760723"/>
                  </a:ext>
                </a:extLst>
              </a:tr>
              <a:tr h="695650">
                <a:tc>
                  <a:txBody>
                    <a:bodyPr/>
                    <a:lstStyle/>
                    <a:p>
                      <a:pPr algn="l" fontAlgn="ctr">
                        <a:buNone/>
                      </a:pPr>
                      <a:r>
                        <a:rPr lang="en-IN" sz="3100" b="0" i="0" u="none" strike="noStrike" dirty="0">
                          <a:effectLst/>
                          <a:latin typeface="Arial" panose="020B0604020202020204" pitchFamily="34" charset="0"/>
                        </a:rPr>
                        <a:t>F1-score</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0.61</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0.55</a:t>
                      </a:r>
                    </a:p>
                  </a:txBody>
                  <a:tcPr marL="158102" marR="158102" marT="79051" marB="79051" anchor="ctr">
                    <a:lnL>
                      <a:noFill/>
                    </a:lnL>
                    <a:lnR>
                      <a:noFill/>
                    </a:lnR>
                    <a:lnT>
                      <a:noFill/>
                    </a:lnT>
                    <a:lnB>
                      <a:noFill/>
                    </a:lnB>
                    <a:noFill/>
                  </a:tcPr>
                </a:tc>
                <a:extLst>
                  <a:ext uri="{0D108BD9-81ED-4DB2-BD59-A6C34878D82A}">
                    <a16:rowId xmlns:a16="http://schemas.microsoft.com/office/drawing/2014/main" val="325016288"/>
                  </a:ext>
                </a:extLst>
              </a:tr>
              <a:tr h="695650">
                <a:tc>
                  <a:txBody>
                    <a:bodyPr/>
                    <a:lstStyle/>
                    <a:p>
                      <a:pPr algn="l" fontAlgn="ctr">
                        <a:buNone/>
                      </a:pPr>
                      <a:r>
                        <a:rPr lang="en-IN" sz="3100" b="0" i="0" u="none" strike="noStrike">
                          <a:effectLst/>
                          <a:latin typeface="Arial" panose="020B0604020202020204" pitchFamily="34" charset="0"/>
                        </a:rPr>
                        <a:t>Number of samples</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a:effectLst/>
                          <a:latin typeface="Arial" panose="020B0604020202020204" pitchFamily="34" charset="0"/>
                        </a:rPr>
                        <a:t>96</a:t>
                      </a:r>
                    </a:p>
                  </a:txBody>
                  <a:tcPr marL="158102" marR="158102" marT="79051" marB="79051" anchor="ctr">
                    <a:lnL>
                      <a:noFill/>
                    </a:lnL>
                    <a:lnR>
                      <a:noFill/>
                    </a:lnR>
                    <a:lnT>
                      <a:noFill/>
                    </a:lnT>
                    <a:lnB>
                      <a:noFill/>
                    </a:lnB>
                    <a:noFill/>
                  </a:tcPr>
                </a:tc>
                <a:tc>
                  <a:txBody>
                    <a:bodyPr/>
                    <a:lstStyle/>
                    <a:p>
                      <a:pPr algn="l" fontAlgn="ctr">
                        <a:buNone/>
                      </a:pPr>
                      <a:r>
                        <a:rPr lang="en-IN" sz="3100" b="0" i="0" u="none" strike="noStrike" dirty="0">
                          <a:effectLst/>
                          <a:latin typeface="Arial" panose="020B0604020202020204" pitchFamily="34" charset="0"/>
                        </a:rPr>
                        <a:t>71</a:t>
                      </a:r>
                    </a:p>
                  </a:txBody>
                  <a:tcPr marL="158102" marR="158102" marT="79051" marB="79051" anchor="ctr">
                    <a:lnL>
                      <a:noFill/>
                    </a:lnL>
                    <a:lnR>
                      <a:noFill/>
                    </a:lnR>
                    <a:lnT>
                      <a:noFill/>
                    </a:lnT>
                    <a:lnB>
                      <a:noFill/>
                    </a:lnB>
                    <a:noFill/>
                  </a:tcPr>
                </a:tc>
                <a:extLst>
                  <a:ext uri="{0D108BD9-81ED-4DB2-BD59-A6C34878D82A}">
                    <a16:rowId xmlns:a16="http://schemas.microsoft.com/office/drawing/2014/main" val="3733274409"/>
                  </a:ext>
                </a:extLst>
              </a:tr>
            </a:tbl>
          </a:graphicData>
        </a:graphic>
      </p:graphicFrame>
    </p:spTree>
    <p:extLst>
      <p:ext uri="{BB962C8B-B14F-4D97-AF65-F5344CB8AC3E}">
        <p14:creationId xmlns:p14="http://schemas.microsoft.com/office/powerpoint/2010/main" val="269648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DF9F-26DF-C480-C80F-492150C4786C}"/>
              </a:ext>
            </a:extLst>
          </p:cNvPr>
          <p:cNvSpPr>
            <a:spLocks noGrp="1"/>
          </p:cNvSpPr>
          <p:nvPr>
            <p:ph type="title"/>
          </p:nvPr>
        </p:nvSpPr>
        <p:spPr/>
        <p:txBody>
          <a:bodyPr/>
          <a:lstStyle/>
          <a:p>
            <a:r>
              <a:rPr lang="en-IN" dirty="0"/>
              <a:t>Conclusion.</a:t>
            </a:r>
          </a:p>
        </p:txBody>
      </p:sp>
      <p:sp>
        <p:nvSpPr>
          <p:cNvPr id="3" name="Slide Number Placeholder 2">
            <a:extLst>
              <a:ext uri="{FF2B5EF4-FFF2-40B4-BE49-F238E27FC236}">
                <a16:creationId xmlns:a16="http://schemas.microsoft.com/office/drawing/2014/main" id="{7F1B37C5-E31D-5674-31D8-AF8ED11364DE}"/>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
        <p:nvSpPr>
          <p:cNvPr id="4" name="Text Placeholder 3">
            <a:extLst>
              <a:ext uri="{FF2B5EF4-FFF2-40B4-BE49-F238E27FC236}">
                <a16:creationId xmlns:a16="http://schemas.microsoft.com/office/drawing/2014/main" id="{63CCF0B2-1B9E-E5B4-C725-32390833250A}"/>
              </a:ext>
            </a:extLst>
          </p:cNvPr>
          <p:cNvSpPr>
            <a:spLocks noGrp="1"/>
          </p:cNvSpPr>
          <p:nvPr>
            <p:ph type="body" sz="quarter" idx="13"/>
          </p:nvPr>
        </p:nvSpPr>
        <p:spPr>
          <a:xfrm>
            <a:off x="444500" y="1971675"/>
            <a:ext cx="6718300" cy="3648076"/>
          </a:xfrm>
        </p:spPr>
        <p:txBody>
          <a:bodyPr/>
          <a:lstStyle/>
          <a:p>
            <a:r>
              <a:rPr lang="en-IN" sz="2000" dirty="0"/>
              <a:t>The model demonstrates moderate but limited classification performance. It achieved an accuracy of 59% on the test set, with F1-scores of 0.61 and 0.55 for classes 0 and 1, respectively. Although the model identifies 61% of the actual class-1 observations, its precision for class 1 is relatively low at 51%. Furthermore, the accuracy is only slightly higher than the majority-class baseline of approximately 57.5%, suggesting that the model provides limited improvement over a simple baseline classifier.</a:t>
            </a:r>
          </a:p>
        </p:txBody>
      </p:sp>
    </p:spTree>
    <p:extLst>
      <p:ext uri="{BB962C8B-B14F-4D97-AF65-F5344CB8AC3E}">
        <p14:creationId xmlns:p14="http://schemas.microsoft.com/office/powerpoint/2010/main" val="1510513185"/>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69</TotalTime>
  <Words>974</Words>
  <Application>Microsoft Office PowerPoint</Application>
  <PresentationFormat>Widescreen</PresentationFormat>
  <Paragraphs>110</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Abadi</vt:lpstr>
      <vt:lpstr>Amasis MT Pro Light</vt:lpstr>
      <vt:lpstr>Arial</vt:lpstr>
      <vt:lpstr>Calibri</vt:lpstr>
      <vt:lpstr>Trade Gothic LT Pro</vt:lpstr>
      <vt:lpstr>Trebuchet MS</vt:lpstr>
      <vt:lpstr>Wingdings</vt:lpstr>
      <vt:lpstr>Office Theme</vt:lpstr>
      <vt:lpstr>Movie Collection.</vt:lpstr>
      <vt:lpstr>Index.</vt:lpstr>
      <vt:lpstr>Introduction.</vt:lpstr>
      <vt:lpstr>Tools used.</vt:lpstr>
      <vt:lpstr>Import Data and Cleaning.</vt:lpstr>
      <vt:lpstr>Data Analysis.</vt:lpstr>
      <vt:lpstr>Data Analysis. Distribution of collection </vt:lpstr>
      <vt:lpstr>Data Analysis. Outlier Detection </vt:lpstr>
      <vt:lpstr>Outliers Treatment.</vt:lpstr>
      <vt:lpstr>Data Analysis. Outlier Treatment. </vt:lpstr>
      <vt:lpstr>Distribution of movies on the basis of collection. </vt:lpstr>
      <vt:lpstr>Market expenses basis of Genre. </vt:lpstr>
      <vt:lpstr>Production expenses. </vt:lpstr>
      <vt:lpstr>Director Rating. </vt:lpstr>
      <vt:lpstr>3D movies. </vt:lpstr>
      <vt:lpstr>Dummies.</vt:lpstr>
      <vt:lpstr>Logistic Regression.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Darshana Pawar</dc:creator>
  <cp:lastModifiedBy>Darshana Pawar</cp:lastModifiedBy>
  <cp:revision>1</cp:revision>
  <dcterms:created xsi:type="dcterms:W3CDTF">2026-08-17T02:31:24Z</dcterms:created>
  <dcterms:modified xsi:type="dcterms:W3CDTF">2026-08-17T03:40:58Z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