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8" r:id="rId4"/>
  </p:sldMasterIdLst>
  <p:notesMasterIdLst>
    <p:notesMasterId r:id="rId23"/>
  </p:notesMasterIdLst>
  <p:sldIdLst>
    <p:sldId id="298" r:id="rId5"/>
    <p:sldId id="299" r:id="rId6"/>
    <p:sldId id="300" r:id="rId7"/>
    <p:sldId id="301" r:id="rId8"/>
    <p:sldId id="302" r:id="rId9"/>
    <p:sldId id="303" r:id="rId10"/>
    <p:sldId id="304" r:id="rId11"/>
    <p:sldId id="305" r:id="rId12"/>
    <p:sldId id="306" r:id="rId13"/>
    <p:sldId id="307" r:id="rId14"/>
    <p:sldId id="308" r:id="rId15"/>
    <p:sldId id="309" r:id="rId16"/>
    <p:sldId id="310" r:id="rId17"/>
    <p:sldId id="311" r:id="rId18"/>
    <p:sldId id="315" r:id="rId19"/>
    <p:sldId id="312" r:id="rId20"/>
    <p:sldId id="313" r:id="rId21"/>
    <p:sldId id="31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63320F-76D4-4B1B-8EE8-7D39B3F7A8B6}"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E790C004-1289-4701-B0EE-BD68A7A34D09}">
      <dgm:prSet custT="1"/>
      <dgm:spPr/>
      <dgm:t>
        <a:bodyPr/>
        <a:lstStyle/>
        <a:p>
          <a:pPr>
            <a:lnSpc>
              <a:spcPct val="100000"/>
            </a:lnSpc>
          </a:pPr>
          <a:r>
            <a:rPr lang="en-US" sz="1400" dirty="0"/>
            <a:t>Project</a:t>
          </a:r>
          <a:r>
            <a:rPr lang="en-US" sz="1100" dirty="0"/>
            <a:t> ID: PRDA-01</a:t>
          </a:r>
        </a:p>
      </dgm:t>
    </dgm:pt>
    <dgm:pt modelId="{213DAD46-C8DC-4030-A406-A299EE65BE2F}" type="parTrans" cxnId="{1A0B0563-BCAE-40A5-BF82-01A8955235C9}">
      <dgm:prSet/>
      <dgm:spPr/>
      <dgm:t>
        <a:bodyPr/>
        <a:lstStyle/>
        <a:p>
          <a:endParaRPr lang="en-US"/>
        </a:p>
      </dgm:t>
    </dgm:pt>
    <dgm:pt modelId="{5E51FEBA-EA66-4D2F-8D29-593E51551CF1}" type="sibTrans" cxnId="{1A0B0563-BCAE-40A5-BF82-01A8955235C9}">
      <dgm:prSet/>
      <dgm:spPr/>
      <dgm:t>
        <a:bodyPr/>
        <a:lstStyle/>
        <a:p>
          <a:endParaRPr lang="en-US"/>
        </a:p>
      </dgm:t>
    </dgm:pt>
    <dgm:pt modelId="{8550EACB-7D0C-42FD-B422-D2D71A5F19D0}">
      <dgm:prSet custT="1"/>
      <dgm:spPr/>
      <dgm:t>
        <a:bodyPr/>
        <a:lstStyle/>
        <a:p>
          <a:pPr>
            <a:lnSpc>
              <a:spcPct val="100000"/>
            </a:lnSpc>
          </a:pPr>
          <a:r>
            <a:rPr lang="en-US" sz="1400" dirty="0"/>
            <a:t>Name: Darshana Pawar &amp; Prabhati Karn</a:t>
          </a:r>
        </a:p>
      </dgm:t>
    </dgm:pt>
    <dgm:pt modelId="{89E24FEE-C737-40D4-937A-87D595D81FD9}" type="parTrans" cxnId="{EFDA8E37-E782-4EC5-94A7-3225E766E428}">
      <dgm:prSet/>
      <dgm:spPr/>
      <dgm:t>
        <a:bodyPr/>
        <a:lstStyle/>
        <a:p>
          <a:endParaRPr lang="en-US"/>
        </a:p>
      </dgm:t>
    </dgm:pt>
    <dgm:pt modelId="{0525113C-FA4B-4ADD-9579-284237EAE1F0}" type="sibTrans" cxnId="{EFDA8E37-E782-4EC5-94A7-3225E766E428}">
      <dgm:prSet/>
      <dgm:spPr/>
      <dgm:t>
        <a:bodyPr/>
        <a:lstStyle/>
        <a:p>
          <a:endParaRPr lang="en-US"/>
        </a:p>
      </dgm:t>
    </dgm:pt>
    <dgm:pt modelId="{1DFB7AA9-7548-4B8D-8CF0-746059B65977}">
      <dgm:prSet custT="1"/>
      <dgm:spPr/>
      <dgm:t>
        <a:bodyPr/>
        <a:lstStyle/>
        <a:p>
          <a:pPr>
            <a:lnSpc>
              <a:spcPct val="100000"/>
            </a:lnSpc>
          </a:pPr>
          <a:r>
            <a:rPr lang="en-US" sz="1400" dirty="0"/>
            <a:t>Tools: Python and Power BI</a:t>
          </a:r>
        </a:p>
      </dgm:t>
    </dgm:pt>
    <dgm:pt modelId="{4A6EC4B6-B1FD-4872-B3AF-08C009C8C31F}" type="parTrans" cxnId="{D9EA26FA-88C2-47BB-9451-4231DF6A0D55}">
      <dgm:prSet/>
      <dgm:spPr/>
      <dgm:t>
        <a:bodyPr/>
        <a:lstStyle/>
        <a:p>
          <a:endParaRPr lang="en-US"/>
        </a:p>
      </dgm:t>
    </dgm:pt>
    <dgm:pt modelId="{036B48C9-6CF1-4519-AA86-17C710AE5A45}" type="sibTrans" cxnId="{D9EA26FA-88C2-47BB-9451-4231DF6A0D55}">
      <dgm:prSet/>
      <dgm:spPr/>
      <dgm:t>
        <a:bodyPr/>
        <a:lstStyle/>
        <a:p>
          <a:endParaRPr lang="en-US"/>
        </a:p>
      </dgm:t>
    </dgm:pt>
    <dgm:pt modelId="{3A670947-6CAF-49F1-B66C-599106B70451}">
      <dgm:prSet custT="1"/>
      <dgm:spPr/>
      <dgm:t>
        <a:bodyPr/>
        <a:lstStyle/>
        <a:p>
          <a:pPr>
            <a:lnSpc>
              <a:spcPct val="100000"/>
            </a:lnSpc>
          </a:pPr>
          <a:r>
            <a:rPr lang="en-US" sz="1400" dirty="0"/>
            <a:t>Team ID: </a:t>
          </a:r>
          <a:r>
            <a:rPr lang="en-IN" sz="1400" dirty="0"/>
            <a:t> PTID-CDA-DEC-25-1028</a:t>
          </a:r>
          <a:endParaRPr lang="en-US" sz="1400" dirty="0"/>
        </a:p>
      </dgm:t>
    </dgm:pt>
    <dgm:pt modelId="{F6A9753E-68A8-4517-8F03-2B50829F7F06}" type="parTrans" cxnId="{E6419BB6-A547-48EF-BEEC-E99528595F23}">
      <dgm:prSet/>
      <dgm:spPr/>
      <dgm:t>
        <a:bodyPr/>
        <a:lstStyle/>
        <a:p>
          <a:endParaRPr lang="en-US"/>
        </a:p>
      </dgm:t>
    </dgm:pt>
    <dgm:pt modelId="{64279640-B458-4F62-9E57-725E0DF38559}" type="sibTrans" cxnId="{E6419BB6-A547-48EF-BEEC-E99528595F23}">
      <dgm:prSet/>
      <dgm:spPr/>
      <dgm:t>
        <a:bodyPr/>
        <a:lstStyle/>
        <a:p>
          <a:endParaRPr lang="en-US"/>
        </a:p>
      </dgm:t>
    </dgm:pt>
    <dgm:pt modelId="{08F14FB5-D65D-4266-9535-4F7FA2C70DCA}">
      <dgm:prSet custT="1"/>
      <dgm:spPr/>
      <dgm:t>
        <a:bodyPr/>
        <a:lstStyle/>
        <a:p>
          <a:pPr>
            <a:lnSpc>
              <a:spcPct val="100000"/>
            </a:lnSpc>
          </a:pPr>
          <a:r>
            <a:rPr lang="en-IN" sz="1400" dirty="0"/>
            <a:t>Batch ID: 09-JUN-25-CDA-BUN-040-WDM0930-PUN.</a:t>
          </a:r>
        </a:p>
        <a:p>
          <a:pPr>
            <a:lnSpc>
              <a:spcPct val="100000"/>
            </a:lnSpc>
          </a:pPr>
          <a:r>
            <a:rPr lang="en-US" sz="1400" dirty="0"/>
            <a:t>&amp;</a:t>
          </a:r>
        </a:p>
        <a:p>
          <a:pPr>
            <a:lnSpc>
              <a:spcPct val="100000"/>
            </a:lnSpc>
          </a:pPr>
          <a:r>
            <a:rPr lang="en-IN" sz="1400" b="0" i="0" u="none" dirty="0"/>
            <a:t>09-JUN-25-CDA-BUN-040-WDM0930-PUN</a:t>
          </a:r>
          <a:endParaRPr lang="en-IN" sz="1400" b="0" dirty="0"/>
        </a:p>
        <a:p>
          <a:pPr>
            <a:lnSpc>
              <a:spcPct val="100000"/>
            </a:lnSpc>
          </a:pPr>
          <a:endParaRPr lang="en-US" sz="1100" dirty="0"/>
        </a:p>
      </dgm:t>
    </dgm:pt>
    <dgm:pt modelId="{F771D401-7301-4AFB-B2D4-7595D2959846}" type="parTrans" cxnId="{EF9AA1FA-0560-4F3C-A69D-67D2E3308A11}">
      <dgm:prSet/>
      <dgm:spPr/>
      <dgm:t>
        <a:bodyPr/>
        <a:lstStyle/>
        <a:p>
          <a:endParaRPr lang="en-US"/>
        </a:p>
      </dgm:t>
    </dgm:pt>
    <dgm:pt modelId="{0537185C-955E-4A88-B547-0A1638FA2F07}" type="sibTrans" cxnId="{EF9AA1FA-0560-4F3C-A69D-67D2E3308A11}">
      <dgm:prSet/>
      <dgm:spPr/>
      <dgm:t>
        <a:bodyPr/>
        <a:lstStyle/>
        <a:p>
          <a:endParaRPr lang="en-US"/>
        </a:p>
      </dgm:t>
    </dgm:pt>
    <dgm:pt modelId="{9019C78E-9105-4F75-8CFB-B674F20FB4FA}" type="pres">
      <dgm:prSet presAssocID="{0563320F-76D4-4B1B-8EE8-7D39B3F7A8B6}" presName="root" presStyleCnt="0">
        <dgm:presLayoutVars>
          <dgm:dir/>
          <dgm:resizeHandles val="exact"/>
        </dgm:presLayoutVars>
      </dgm:prSet>
      <dgm:spPr/>
    </dgm:pt>
    <dgm:pt modelId="{62595446-12C7-47DC-8E15-273175DFDB86}" type="pres">
      <dgm:prSet presAssocID="{E790C004-1289-4701-B0EE-BD68A7A34D09}" presName="compNode" presStyleCnt="0"/>
      <dgm:spPr/>
    </dgm:pt>
    <dgm:pt modelId="{3262C098-38DA-48D6-8CD1-20F7778B12B8}" type="pres">
      <dgm:prSet presAssocID="{E790C004-1289-4701-B0EE-BD68A7A34D0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Employee Badge"/>
        </a:ext>
      </dgm:extLst>
    </dgm:pt>
    <dgm:pt modelId="{5DA40835-9E46-466E-A4BB-DDF016E1F4AE}" type="pres">
      <dgm:prSet presAssocID="{E790C004-1289-4701-B0EE-BD68A7A34D09}" presName="spaceRect" presStyleCnt="0"/>
      <dgm:spPr/>
    </dgm:pt>
    <dgm:pt modelId="{1F2FE7AF-C43E-46CF-9FE0-3D31EEDDE15C}" type="pres">
      <dgm:prSet presAssocID="{E790C004-1289-4701-B0EE-BD68A7A34D09}" presName="textRect" presStyleLbl="revTx" presStyleIdx="0" presStyleCnt="5">
        <dgm:presLayoutVars>
          <dgm:chMax val="1"/>
          <dgm:chPref val="1"/>
        </dgm:presLayoutVars>
      </dgm:prSet>
      <dgm:spPr/>
    </dgm:pt>
    <dgm:pt modelId="{1B4EB47B-BD51-470A-86BA-D6B5C9677EBF}" type="pres">
      <dgm:prSet presAssocID="{5E51FEBA-EA66-4D2F-8D29-593E51551CF1}" presName="sibTrans" presStyleCnt="0"/>
      <dgm:spPr/>
    </dgm:pt>
    <dgm:pt modelId="{AF79A3D7-9802-4669-A3FA-32289BA011DF}" type="pres">
      <dgm:prSet presAssocID="{8550EACB-7D0C-42FD-B422-D2D71A5F19D0}" presName="compNode" presStyleCnt="0"/>
      <dgm:spPr/>
    </dgm:pt>
    <dgm:pt modelId="{9086CF85-B291-4CD4-988E-0FE4BFFA24C9}" type="pres">
      <dgm:prSet presAssocID="{8550EACB-7D0C-42FD-B422-D2D71A5F19D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ubtitles"/>
        </a:ext>
      </dgm:extLst>
    </dgm:pt>
    <dgm:pt modelId="{651417BA-55E8-4206-8734-9AD9AA1A4592}" type="pres">
      <dgm:prSet presAssocID="{8550EACB-7D0C-42FD-B422-D2D71A5F19D0}" presName="spaceRect" presStyleCnt="0"/>
      <dgm:spPr/>
    </dgm:pt>
    <dgm:pt modelId="{4DB23972-5DD5-4D76-AF21-047BCF8AC702}" type="pres">
      <dgm:prSet presAssocID="{8550EACB-7D0C-42FD-B422-D2D71A5F19D0}" presName="textRect" presStyleLbl="revTx" presStyleIdx="1" presStyleCnt="5">
        <dgm:presLayoutVars>
          <dgm:chMax val="1"/>
          <dgm:chPref val="1"/>
        </dgm:presLayoutVars>
      </dgm:prSet>
      <dgm:spPr/>
    </dgm:pt>
    <dgm:pt modelId="{2DE094B0-265B-4F75-89DB-766200256646}" type="pres">
      <dgm:prSet presAssocID="{0525113C-FA4B-4ADD-9579-284237EAE1F0}" presName="sibTrans" presStyleCnt="0"/>
      <dgm:spPr/>
    </dgm:pt>
    <dgm:pt modelId="{D9E65AC4-8AB7-4A64-91FD-60CAA75E51D0}" type="pres">
      <dgm:prSet presAssocID="{1DFB7AA9-7548-4B8D-8CF0-746059B65977}" presName="compNode" presStyleCnt="0"/>
      <dgm:spPr/>
    </dgm:pt>
    <dgm:pt modelId="{022C5A97-9870-47F6-83EC-E70373EEAB3B}" type="pres">
      <dgm:prSet presAssocID="{1DFB7AA9-7548-4B8D-8CF0-746059B65977}"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ools"/>
        </a:ext>
      </dgm:extLst>
    </dgm:pt>
    <dgm:pt modelId="{3A7B42CD-7782-4BAA-AE23-B06C566629A7}" type="pres">
      <dgm:prSet presAssocID="{1DFB7AA9-7548-4B8D-8CF0-746059B65977}" presName="spaceRect" presStyleCnt="0"/>
      <dgm:spPr/>
    </dgm:pt>
    <dgm:pt modelId="{D4BA989E-99BE-4F1A-90FB-6BBDA0700C62}" type="pres">
      <dgm:prSet presAssocID="{1DFB7AA9-7548-4B8D-8CF0-746059B65977}" presName="textRect" presStyleLbl="revTx" presStyleIdx="2" presStyleCnt="5">
        <dgm:presLayoutVars>
          <dgm:chMax val="1"/>
          <dgm:chPref val="1"/>
        </dgm:presLayoutVars>
      </dgm:prSet>
      <dgm:spPr/>
    </dgm:pt>
    <dgm:pt modelId="{35968F91-62CC-4EF1-83C1-07A13A3A0E8F}" type="pres">
      <dgm:prSet presAssocID="{036B48C9-6CF1-4519-AA86-17C710AE5A45}" presName="sibTrans" presStyleCnt="0"/>
      <dgm:spPr/>
    </dgm:pt>
    <dgm:pt modelId="{1DBB2853-7B43-49B3-8534-DE7C5F3D2C33}" type="pres">
      <dgm:prSet presAssocID="{3A670947-6CAF-49F1-B66C-599106B70451}" presName="compNode" presStyleCnt="0"/>
      <dgm:spPr/>
    </dgm:pt>
    <dgm:pt modelId="{76F51739-F88A-4409-9FFA-A7F0FF08D853}" type="pres">
      <dgm:prSet presAssocID="{3A670947-6CAF-49F1-B66C-599106B70451}"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Group"/>
        </a:ext>
      </dgm:extLst>
    </dgm:pt>
    <dgm:pt modelId="{80C5FFB4-8CC9-431B-9195-3DA516CE6C9D}" type="pres">
      <dgm:prSet presAssocID="{3A670947-6CAF-49F1-B66C-599106B70451}" presName="spaceRect" presStyleCnt="0"/>
      <dgm:spPr/>
    </dgm:pt>
    <dgm:pt modelId="{EB9E07B0-A6CB-4F39-9B98-4BF7EEEB9186}" type="pres">
      <dgm:prSet presAssocID="{3A670947-6CAF-49F1-B66C-599106B70451}" presName="textRect" presStyleLbl="revTx" presStyleIdx="3" presStyleCnt="5">
        <dgm:presLayoutVars>
          <dgm:chMax val="1"/>
          <dgm:chPref val="1"/>
        </dgm:presLayoutVars>
      </dgm:prSet>
      <dgm:spPr/>
    </dgm:pt>
    <dgm:pt modelId="{8FDBDB2D-0219-4D6A-BB20-1C05C0E23B31}" type="pres">
      <dgm:prSet presAssocID="{64279640-B458-4F62-9E57-725E0DF38559}" presName="sibTrans" presStyleCnt="0"/>
      <dgm:spPr/>
    </dgm:pt>
    <dgm:pt modelId="{468CD511-D8D3-4973-984A-3D77552DCE44}" type="pres">
      <dgm:prSet presAssocID="{08F14FB5-D65D-4266-9535-4F7FA2C70DCA}" presName="compNode" presStyleCnt="0"/>
      <dgm:spPr/>
    </dgm:pt>
    <dgm:pt modelId="{BBB49D8F-6C10-42B3-80AB-A37F5875D90D}" type="pres">
      <dgm:prSet presAssocID="{08F14FB5-D65D-4266-9535-4F7FA2C70DC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Optical disc"/>
        </a:ext>
      </dgm:extLst>
    </dgm:pt>
    <dgm:pt modelId="{2D096097-CD55-44F5-8DF5-2A6DD4508833}" type="pres">
      <dgm:prSet presAssocID="{08F14FB5-D65D-4266-9535-4F7FA2C70DCA}" presName="spaceRect" presStyleCnt="0"/>
      <dgm:spPr/>
    </dgm:pt>
    <dgm:pt modelId="{A38BB2A9-1239-404E-A476-35C350445603}" type="pres">
      <dgm:prSet presAssocID="{08F14FB5-D65D-4266-9535-4F7FA2C70DCA}" presName="textRect" presStyleLbl="revTx" presStyleIdx="4" presStyleCnt="5">
        <dgm:presLayoutVars>
          <dgm:chMax val="1"/>
          <dgm:chPref val="1"/>
        </dgm:presLayoutVars>
      </dgm:prSet>
      <dgm:spPr/>
    </dgm:pt>
  </dgm:ptLst>
  <dgm:cxnLst>
    <dgm:cxn modelId="{E0F4690D-4729-4D77-AC10-FF749E6EE289}" type="presOf" srcId="{8550EACB-7D0C-42FD-B422-D2D71A5F19D0}" destId="{4DB23972-5DD5-4D76-AF21-047BCF8AC702}" srcOrd="0" destOrd="0" presId="urn:microsoft.com/office/officeart/2018/2/layout/IconLabelList"/>
    <dgm:cxn modelId="{38B2FC11-5CDC-436B-A83E-909F2BB65E31}" type="presOf" srcId="{E790C004-1289-4701-B0EE-BD68A7A34D09}" destId="{1F2FE7AF-C43E-46CF-9FE0-3D31EEDDE15C}" srcOrd="0" destOrd="0" presId="urn:microsoft.com/office/officeart/2018/2/layout/IconLabelList"/>
    <dgm:cxn modelId="{EFDA8E37-E782-4EC5-94A7-3225E766E428}" srcId="{0563320F-76D4-4B1B-8EE8-7D39B3F7A8B6}" destId="{8550EACB-7D0C-42FD-B422-D2D71A5F19D0}" srcOrd="1" destOrd="0" parTransId="{89E24FEE-C737-40D4-937A-87D595D81FD9}" sibTransId="{0525113C-FA4B-4ADD-9579-284237EAE1F0}"/>
    <dgm:cxn modelId="{1A0B0563-BCAE-40A5-BF82-01A8955235C9}" srcId="{0563320F-76D4-4B1B-8EE8-7D39B3F7A8B6}" destId="{E790C004-1289-4701-B0EE-BD68A7A34D09}" srcOrd="0" destOrd="0" parTransId="{213DAD46-C8DC-4030-A406-A299EE65BE2F}" sibTransId="{5E51FEBA-EA66-4D2F-8D29-593E51551CF1}"/>
    <dgm:cxn modelId="{8033816F-4CDF-4A0C-8079-6CDDF10A03FF}" type="presOf" srcId="{3A670947-6CAF-49F1-B66C-599106B70451}" destId="{EB9E07B0-A6CB-4F39-9B98-4BF7EEEB9186}" srcOrd="0" destOrd="0" presId="urn:microsoft.com/office/officeart/2018/2/layout/IconLabelList"/>
    <dgm:cxn modelId="{26DF879F-7B26-4E60-8AB7-B7262AF7AC80}" type="presOf" srcId="{1DFB7AA9-7548-4B8D-8CF0-746059B65977}" destId="{D4BA989E-99BE-4F1A-90FB-6BBDA0700C62}" srcOrd="0" destOrd="0" presId="urn:microsoft.com/office/officeart/2018/2/layout/IconLabelList"/>
    <dgm:cxn modelId="{E6419BB6-A547-48EF-BEEC-E99528595F23}" srcId="{0563320F-76D4-4B1B-8EE8-7D39B3F7A8B6}" destId="{3A670947-6CAF-49F1-B66C-599106B70451}" srcOrd="3" destOrd="0" parTransId="{F6A9753E-68A8-4517-8F03-2B50829F7F06}" sibTransId="{64279640-B458-4F62-9E57-725E0DF38559}"/>
    <dgm:cxn modelId="{5755ECC1-ECEE-477D-B69F-79BF5DD28D11}" type="presOf" srcId="{0563320F-76D4-4B1B-8EE8-7D39B3F7A8B6}" destId="{9019C78E-9105-4F75-8CFB-B674F20FB4FA}" srcOrd="0" destOrd="0" presId="urn:microsoft.com/office/officeart/2018/2/layout/IconLabelList"/>
    <dgm:cxn modelId="{D9EA26FA-88C2-47BB-9451-4231DF6A0D55}" srcId="{0563320F-76D4-4B1B-8EE8-7D39B3F7A8B6}" destId="{1DFB7AA9-7548-4B8D-8CF0-746059B65977}" srcOrd="2" destOrd="0" parTransId="{4A6EC4B6-B1FD-4872-B3AF-08C009C8C31F}" sibTransId="{036B48C9-6CF1-4519-AA86-17C710AE5A45}"/>
    <dgm:cxn modelId="{EF9AA1FA-0560-4F3C-A69D-67D2E3308A11}" srcId="{0563320F-76D4-4B1B-8EE8-7D39B3F7A8B6}" destId="{08F14FB5-D65D-4266-9535-4F7FA2C70DCA}" srcOrd="4" destOrd="0" parTransId="{F771D401-7301-4AFB-B2D4-7595D2959846}" sibTransId="{0537185C-955E-4A88-B547-0A1638FA2F07}"/>
    <dgm:cxn modelId="{0EDFF1FE-A925-4CAF-BF7B-6022129316D8}" type="presOf" srcId="{08F14FB5-D65D-4266-9535-4F7FA2C70DCA}" destId="{A38BB2A9-1239-404E-A476-35C350445603}" srcOrd="0" destOrd="0" presId="urn:microsoft.com/office/officeart/2018/2/layout/IconLabelList"/>
    <dgm:cxn modelId="{E44E152C-5F81-47CE-9D21-DF2AC61F427B}" type="presParOf" srcId="{9019C78E-9105-4F75-8CFB-B674F20FB4FA}" destId="{62595446-12C7-47DC-8E15-273175DFDB86}" srcOrd="0" destOrd="0" presId="urn:microsoft.com/office/officeart/2018/2/layout/IconLabelList"/>
    <dgm:cxn modelId="{DDFC7BCD-2AA2-4B70-88C3-00DCEC8F8834}" type="presParOf" srcId="{62595446-12C7-47DC-8E15-273175DFDB86}" destId="{3262C098-38DA-48D6-8CD1-20F7778B12B8}" srcOrd="0" destOrd="0" presId="urn:microsoft.com/office/officeart/2018/2/layout/IconLabelList"/>
    <dgm:cxn modelId="{93ED3D21-EC1A-4D84-99BE-FF298F37A011}" type="presParOf" srcId="{62595446-12C7-47DC-8E15-273175DFDB86}" destId="{5DA40835-9E46-466E-A4BB-DDF016E1F4AE}" srcOrd="1" destOrd="0" presId="urn:microsoft.com/office/officeart/2018/2/layout/IconLabelList"/>
    <dgm:cxn modelId="{F15717A1-7F87-4921-B5E4-EA3FF18B3732}" type="presParOf" srcId="{62595446-12C7-47DC-8E15-273175DFDB86}" destId="{1F2FE7AF-C43E-46CF-9FE0-3D31EEDDE15C}" srcOrd="2" destOrd="0" presId="urn:microsoft.com/office/officeart/2018/2/layout/IconLabelList"/>
    <dgm:cxn modelId="{F75DC761-5BDC-4630-93A7-DCC30353640A}" type="presParOf" srcId="{9019C78E-9105-4F75-8CFB-B674F20FB4FA}" destId="{1B4EB47B-BD51-470A-86BA-D6B5C9677EBF}" srcOrd="1" destOrd="0" presId="urn:microsoft.com/office/officeart/2018/2/layout/IconLabelList"/>
    <dgm:cxn modelId="{7AC762E3-8055-49E5-BF25-26AB4E574EE9}" type="presParOf" srcId="{9019C78E-9105-4F75-8CFB-B674F20FB4FA}" destId="{AF79A3D7-9802-4669-A3FA-32289BA011DF}" srcOrd="2" destOrd="0" presId="urn:microsoft.com/office/officeart/2018/2/layout/IconLabelList"/>
    <dgm:cxn modelId="{B5A5330B-471E-4741-82D1-767F84B89962}" type="presParOf" srcId="{AF79A3D7-9802-4669-A3FA-32289BA011DF}" destId="{9086CF85-B291-4CD4-988E-0FE4BFFA24C9}" srcOrd="0" destOrd="0" presId="urn:microsoft.com/office/officeart/2018/2/layout/IconLabelList"/>
    <dgm:cxn modelId="{CFA751AF-A469-491F-A5B3-5AC6F1C589C4}" type="presParOf" srcId="{AF79A3D7-9802-4669-A3FA-32289BA011DF}" destId="{651417BA-55E8-4206-8734-9AD9AA1A4592}" srcOrd="1" destOrd="0" presId="urn:microsoft.com/office/officeart/2018/2/layout/IconLabelList"/>
    <dgm:cxn modelId="{8D4E5D8B-0DD8-49F7-888C-DE20664074CC}" type="presParOf" srcId="{AF79A3D7-9802-4669-A3FA-32289BA011DF}" destId="{4DB23972-5DD5-4D76-AF21-047BCF8AC702}" srcOrd="2" destOrd="0" presId="urn:microsoft.com/office/officeart/2018/2/layout/IconLabelList"/>
    <dgm:cxn modelId="{C5C66E22-3E10-4B38-BA50-E5B5832F3DD2}" type="presParOf" srcId="{9019C78E-9105-4F75-8CFB-B674F20FB4FA}" destId="{2DE094B0-265B-4F75-89DB-766200256646}" srcOrd="3" destOrd="0" presId="urn:microsoft.com/office/officeart/2018/2/layout/IconLabelList"/>
    <dgm:cxn modelId="{A914C354-65E4-44E9-AB35-752BE0D3C9FB}" type="presParOf" srcId="{9019C78E-9105-4F75-8CFB-B674F20FB4FA}" destId="{D9E65AC4-8AB7-4A64-91FD-60CAA75E51D0}" srcOrd="4" destOrd="0" presId="urn:microsoft.com/office/officeart/2018/2/layout/IconLabelList"/>
    <dgm:cxn modelId="{9584C9EA-6E6D-47EE-8A9B-B1F74D3048BC}" type="presParOf" srcId="{D9E65AC4-8AB7-4A64-91FD-60CAA75E51D0}" destId="{022C5A97-9870-47F6-83EC-E70373EEAB3B}" srcOrd="0" destOrd="0" presId="urn:microsoft.com/office/officeart/2018/2/layout/IconLabelList"/>
    <dgm:cxn modelId="{ECC4B8D1-CEFC-4E76-B3A5-C6DA44109B63}" type="presParOf" srcId="{D9E65AC4-8AB7-4A64-91FD-60CAA75E51D0}" destId="{3A7B42CD-7782-4BAA-AE23-B06C566629A7}" srcOrd="1" destOrd="0" presId="urn:microsoft.com/office/officeart/2018/2/layout/IconLabelList"/>
    <dgm:cxn modelId="{05FA5295-798B-43C6-9B7C-A7E028290FCD}" type="presParOf" srcId="{D9E65AC4-8AB7-4A64-91FD-60CAA75E51D0}" destId="{D4BA989E-99BE-4F1A-90FB-6BBDA0700C62}" srcOrd="2" destOrd="0" presId="urn:microsoft.com/office/officeart/2018/2/layout/IconLabelList"/>
    <dgm:cxn modelId="{C2642D97-03DE-4CFF-A08C-166B52E9D61C}" type="presParOf" srcId="{9019C78E-9105-4F75-8CFB-B674F20FB4FA}" destId="{35968F91-62CC-4EF1-83C1-07A13A3A0E8F}" srcOrd="5" destOrd="0" presId="urn:microsoft.com/office/officeart/2018/2/layout/IconLabelList"/>
    <dgm:cxn modelId="{194204C0-3B86-4E8B-9557-79A001A55393}" type="presParOf" srcId="{9019C78E-9105-4F75-8CFB-B674F20FB4FA}" destId="{1DBB2853-7B43-49B3-8534-DE7C5F3D2C33}" srcOrd="6" destOrd="0" presId="urn:microsoft.com/office/officeart/2018/2/layout/IconLabelList"/>
    <dgm:cxn modelId="{BA4EF7F5-1C91-4A62-B7FB-1DFF76647C59}" type="presParOf" srcId="{1DBB2853-7B43-49B3-8534-DE7C5F3D2C33}" destId="{76F51739-F88A-4409-9FFA-A7F0FF08D853}" srcOrd="0" destOrd="0" presId="urn:microsoft.com/office/officeart/2018/2/layout/IconLabelList"/>
    <dgm:cxn modelId="{20BD9589-1170-44AF-B541-E93A2E485A86}" type="presParOf" srcId="{1DBB2853-7B43-49B3-8534-DE7C5F3D2C33}" destId="{80C5FFB4-8CC9-431B-9195-3DA516CE6C9D}" srcOrd="1" destOrd="0" presId="urn:microsoft.com/office/officeart/2018/2/layout/IconLabelList"/>
    <dgm:cxn modelId="{C1C3260F-98BA-4768-9640-6A568025B385}" type="presParOf" srcId="{1DBB2853-7B43-49B3-8534-DE7C5F3D2C33}" destId="{EB9E07B0-A6CB-4F39-9B98-4BF7EEEB9186}" srcOrd="2" destOrd="0" presId="urn:microsoft.com/office/officeart/2018/2/layout/IconLabelList"/>
    <dgm:cxn modelId="{EFC2CB02-253B-4A00-894E-91E8C20881AA}" type="presParOf" srcId="{9019C78E-9105-4F75-8CFB-B674F20FB4FA}" destId="{8FDBDB2D-0219-4D6A-BB20-1C05C0E23B31}" srcOrd="7" destOrd="0" presId="urn:microsoft.com/office/officeart/2018/2/layout/IconLabelList"/>
    <dgm:cxn modelId="{F3638CDB-76B3-480C-AEB1-13D58E8B0203}" type="presParOf" srcId="{9019C78E-9105-4F75-8CFB-B674F20FB4FA}" destId="{468CD511-D8D3-4973-984A-3D77552DCE44}" srcOrd="8" destOrd="0" presId="urn:microsoft.com/office/officeart/2018/2/layout/IconLabelList"/>
    <dgm:cxn modelId="{CC8D3E99-E334-4AB2-A168-0A5604F2BB1A}" type="presParOf" srcId="{468CD511-D8D3-4973-984A-3D77552DCE44}" destId="{BBB49D8F-6C10-42B3-80AB-A37F5875D90D}" srcOrd="0" destOrd="0" presId="urn:microsoft.com/office/officeart/2018/2/layout/IconLabelList"/>
    <dgm:cxn modelId="{C6F35D66-A7AB-446B-8C49-FD3718A79253}" type="presParOf" srcId="{468CD511-D8D3-4973-984A-3D77552DCE44}" destId="{2D096097-CD55-44F5-8DF5-2A6DD4508833}" srcOrd="1" destOrd="0" presId="urn:microsoft.com/office/officeart/2018/2/layout/IconLabelList"/>
    <dgm:cxn modelId="{C7D4C8E6-4436-4C0C-ABB5-7AC57CE1F1AC}" type="presParOf" srcId="{468CD511-D8D3-4973-984A-3D77552DCE44}" destId="{A38BB2A9-1239-404E-A476-35C35044560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62C098-38DA-48D6-8CD1-20F7778B12B8}">
      <dsp:nvSpPr>
        <dsp:cNvPr id="0" name=""/>
        <dsp:cNvSpPr/>
      </dsp:nvSpPr>
      <dsp:spPr>
        <a:xfrm>
          <a:off x="679335" y="817116"/>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2FE7AF-C43E-46CF-9FE0-3D31EEDDE15C}">
      <dsp:nvSpPr>
        <dsp:cNvPr id="0" name=""/>
        <dsp:cNvSpPr/>
      </dsp:nvSpPr>
      <dsp:spPr>
        <a:xfrm>
          <a:off x="184335" y="2060407"/>
          <a:ext cx="1800000" cy="164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Project</a:t>
          </a:r>
          <a:r>
            <a:rPr lang="en-US" sz="1100" kern="1200" dirty="0"/>
            <a:t> ID: PRDA-01</a:t>
          </a:r>
        </a:p>
      </dsp:txBody>
      <dsp:txXfrm>
        <a:off x="184335" y="2060407"/>
        <a:ext cx="1800000" cy="1645312"/>
      </dsp:txXfrm>
    </dsp:sp>
    <dsp:sp modelId="{9086CF85-B291-4CD4-988E-0FE4BFFA24C9}">
      <dsp:nvSpPr>
        <dsp:cNvPr id="0" name=""/>
        <dsp:cNvSpPr/>
      </dsp:nvSpPr>
      <dsp:spPr>
        <a:xfrm>
          <a:off x="2794335" y="817116"/>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DB23972-5DD5-4D76-AF21-047BCF8AC702}">
      <dsp:nvSpPr>
        <dsp:cNvPr id="0" name=""/>
        <dsp:cNvSpPr/>
      </dsp:nvSpPr>
      <dsp:spPr>
        <a:xfrm>
          <a:off x="2299335" y="2060407"/>
          <a:ext cx="1800000" cy="164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Name: Darshana Pawar &amp; Prabhati Karn</a:t>
          </a:r>
        </a:p>
      </dsp:txBody>
      <dsp:txXfrm>
        <a:off x="2299335" y="2060407"/>
        <a:ext cx="1800000" cy="1645312"/>
      </dsp:txXfrm>
    </dsp:sp>
    <dsp:sp modelId="{022C5A97-9870-47F6-83EC-E70373EEAB3B}">
      <dsp:nvSpPr>
        <dsp:cNvPr id="0" name=""/>
        <dsp:cNvSpPr/>
      </dsp:nvSpPr>
      <dsp:spPr>
        <a:xfrm>
          <a:off x="4909335" y="817116"/>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BA989E-99BE-4F1A-90FB-6BBDA0700C62}">
      <dsp:nvSpPr>
        <dsp:cNvPr id="0" name=""/>
        <dsp:cNvSpPr/>
      </dsp:nvSpPr>
      <dsp:spPr>
        <a:xfrm>
          <a:off x="4414335" y="2060407"/>
          <a:ext cx="1800000" cy="164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Tools: Python and Power BI</a:t>
          </a:r>
        </a:p>
      </dsp:txBody>
      <dsp:txXfrm>
        <a:off x="4414335" y="2060407"/>
        <a:ext cx="1800000" cy="1645312"/>
      </dsp:txXfrm>
    </dsp:sp>
    <dsp:sp modelId="{76F51739-F88A-4409-9FFA-A7F0FF08D853}">
      <dsp:nvSpPr>
        <dsp:cNvPr id="0" name=""/>
        <dsp:cNvSpPr/>
      </dsp:nvSpPr>
      <dsp:spPr>
        <a:xfrm>
          <a:off x="7024335" y="817116"/>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9E07B0-A6CB-4F39-9B98-4BF7EEEB9186}">
      <dsp:nvSpPr>
        <dsp:cNvPr id="0" name=""/>
        <dsp:cNvSpPr/>
      </dsp:nvSpPr>
      <dsp:spPr>
        <a:xfrm>
          <a:off x="6529335" y="2060407"/>
          <a:ext cx="1800000" cy="164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t>Team ID: </a:t>
          </a:r>
          <a:r>
            <a:rPr lang="en-IN" sz="1400" kern="1200" dirty="0"/>
            <a:t> PTID-CDA-DEC-25-1028</a:t>
          </a:r>
          <a:endParaRPr lang="en-US" sz="1400" kern="1200" dirty="0"/>
        </a:p>
      </dsp:txBody>
      <dsp:txXfrm>
        <a:off x="6529335" y="2060407"/>
        <a:ext cx="1800000" cy="1645312"/>
      </dsp:txXfrm>
    </dsp:sp>
    <dsp:sp modelId="{BBB49D8F-6C10-42B3-80AB-A37F5875D90D}">
      <dsp:nvSpPr>
        <dsp:cNvPr id="0" name=""/>
        <dsp:cNvSpPr/>
      </dsp:nvSpPr>
      <dsp:spPr>
        <a:xfrm>
          <a:off x="9139335" y="817116"/>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38BB2A9-1239-404E-A476-35C350445603}">
      <dsp:nvSpPr>
        <dsp:cNvPr id="0" name=""/>
        <dsp:cNvSpPr/>
      </dsp:nvSpPr>
      <dsp:spPr>
        <a:xfrm>
          <a:off x="8644335" y="2060407"/>
          <a:ext cx="1800000" cy="164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IN" sz="1400" kern="1200" dirty="0"/>
            <a:t>Batch ID: 09-JUN-25-CDA-BUN-040-WDM0930-PUN.</a:t>
          </a:r>
        </a:p>
        <a:p>
          <a:pPr marL="0" lvl="0" indent="0" algn="ctr" defTabSz="622300">
            <a:lnSpc>
              <a:spcPct val="100000"/>
            </a:lnSpc>
            <a:spcBef>
              <a:spcPct val="0"/>
            </a:spcBef>
            <a:spcAft>
              <a:spcPct val="35000"/>
            </a:spcAft>
            <a:buNone/>
          </a:pPr>
          <a:r>
            <a:rPr lang="en-US" sz="1400" kern="1200" dirty="0"/>
            <a:t>&amp;</a:t>
          </a:r>
        </a:p>
        <a:p>
          <a:pPr marL="0" lvl="0" indent="0" algn="ctr" defTabSz="622300">
            <a:lnSpc>
              <a:spcPct val="100000"/>
            </a:lnSpc>
            <a:spcBef>
              <a:spcPct val="0"/>
            </a:spcBef>
            <a:spcAft>
              <a:spcPct val="35000"/>
            </a:spcAft>
            <a:buNone/>
          </a:pPr>
          <a:r>
            <a:rPr lang="en-IN" sz="1400" b="0" i="0" u="none" kern="1200" dirty="0"/>
            <a:t>09-JUN-25-CDA-BUN-040-WDM0930-PUN</a:t>
          </a:r>
          <a:endParaRPr lang="en-IN" sz="1400" b="0" kern="1200" dirty="0"/>
        </a:p>
        <a:p>
          <a:pPr marL="0" lvl="0" indent="0" algn="ctr" defTabSz="622300">
            <a:lnSpc>
              <a:spcPct val="100000"/>
            </a:lnSpc>
            <a:spcBef>
              <a:spcPct val="0"/>
            </a:spcBef>
            <a:spcAft>
              <a:spcPct val="35000"/>
            </a:spcAft>
            <a:buNone/>
          </a:pPr>
          <a:endParaRPr lang="en-US" sz="1100" kern="1200" dirty="0"/>
        </a:p>
      </dsp:txBody>
      <dsp:txXfrm>
        <a:off x="8644335" y="2060407"/>
        <a:ext cx="1800000" cy="164531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997EAF-BA6A-44C3-838E-FB29B0B907EA}" type="datetimeFigureOut">
              <a:rPr lang="en-IN" smtClean="0"/>
              <a:t>06-01-2026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176DD-23FA-4AF5-875A-F56D7AD5DDFF}" type="slidenum">
              <a:rPr lang="en-IN" smtClean="0"/>
              <a:t>‹#›</a:t>
            </a:fld>
            <a:endParaRPr lang="en-IN"/>
          </a:p>
        </p:txBody>
      </p:sp>
    </p:spTree>
    <p:extLst>
      <p:ext uri="{BB962C8B-B14F-4D97-AF65-F5344CB8AC3E}">
        <p14:creationId xmlns:p14="http://schemas.microsoft.com/office/powerpoint/2010/main" val="1051056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3C176DD-23FA-4AF5-875A-F56D7AD5DDFF}" type="slidenum">
              <a:rPr lang="en-IN" smtClean="0"/>
              <a:t>3</a:t>
            </a:fld>
            <a:endParaRPr lang="en-IN"/>
          </a:p>
        </p:txBody>
      </p:sp>
    </p:spTree>
    <p:extLst>
      <p:ext uri="{BB962C8B-B14F-4D97-AF65-F5344CB8AC3E}">
        <p14:creationId xmlns:p14="http://schemas.microsoft.com/office/powerpoint/2010/main" val="1605534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84DA70-C731-4C70-880D-CCD4705E623C}" type="datetime1">
              <a:rPr lang="en-US" smtClean="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7167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1D723-8F53-4F53-90B0-1982A396982E}" type="datetime1">
              <a:rPr lang="en-US" smtClean="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74797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93985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AAC38D-0552-4C82-B593-E6124DFADBE2}" type="datetime1">
              <a:rPr lang="en-US" smtClean="0"/>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79788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D6E202-B606-4609-B914-27C9371A1F6D}" type="datetime1">
              <a:rPr lang="en-US" smtClean="0"/>
              <a:t>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5814119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75B394-D9F9-4F0C-B15D-605F45CB9E9F}" type="datetime1">
              <a:rPr lang="en-US" smtClean="0"/>
              <a:t>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73067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667345-2558-425A-8533-9BFDBCE15005}" type="datetime1">
              <a:rPr lang="en-US" smtClean="0"/>
              <a:t>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89172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BEA474-078D-4E9B-9B14-09A87B19DC46}" type="datetime1">
              <a:rPr lang="en-US" smtClean="0"/>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940119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07D986-8816-4272-A432-0437A28A9828}" type="datetime1">
              <a:rPr lang="en-US" smtClean="0"/>
              <a:t>1/6/2026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4429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6467042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0514149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9546777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2683132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2D6E202-B606-4609-B914-27C9371A1F6D}" type="datetime1">
              <a:rPr lang="en-US" smtClean="0"/>
              <a:t>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8288812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2D6E202-B606-4609-B914-27C9371A1F6D}" type="datetime1">
              <a:rPr lang="en-US" smtClean="0"/>
              <a:t>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1325251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4560376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6E202-B606-4609-B914-27C9371A1F6D}" type="datetime1">
              <a:rPr lang="en-US" smtClean="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887328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2D6E202-B606-4609-B914-27C9371A1F6D}" type="datetime1">
              <a:rPr lang="en-US" smtClean="0"/>
              <a:t>1/6/2026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2230890582"/>
      </p:ext>
    </p:extLst>
  </p:cSld>
  <p:clrMap bg1="dk1" tx1="lt1" bg2="dk2" tx2="lt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 id="2147483881" r:id="rId13"/>
    <p:sldLayoutId id="2147483882" r:id="rId14"/>
    <p:sldLayoutId id="2147483883" r:id="rId15"/>
    <p:sldLayoutId id="2147483884" r:id="rId16"/>
    <p:sldLayoutId id="2147483885" r:id="rId17"/>
  </p:sldLayoutIdLst>
  <p:hf sldNum="0"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peg"/><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p:txBody>
          <a:bodyPr>
            <a:normAutofit/>
          </a:bodyPr>
          <a:lstStyle/>
          <a:p>
            <a:r>
              <a:rPr lang="en-US" dirty="0"/>
              <a:t>PRDA- 01 Profit Analysis.</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p:txBody>
          <a:bodyPr>
            <a:normAutofit/>
          </a:bodyPr>
          <a:lstStyle/>
          <a:p>
            <a:r>
              <a:rPr lang="en-US" dirty="0"/>
              <a:t>Capstone project.</a:t>
            </a:r>
          </a:p>
        </p:txBody>
      </p:sp>
    </p:spTree>
    <p:extLst>
      <p:ext uri="{BB962C8B-B14F-4D97-AF65-F5344CB8AC3E}">
        <p14:creationId xmlns:p14="http://schemas.microsoft.com/office/powerpoint/2010/main" val="193143965"/>
      </p:ext>
    </p:extLst>
  </p:cSld>
  <p:clrMapOvr>
    <a:masterClrMapping/>
  </p:clrMapOvr>
  <mc:AlternateContent xmlns:mc="http://schemas.openxmlformats.org/markup-compatibility/2006" xmlns:p14="http://schemas.microsoft.com/office/powerpoint/2010/main">
    <mc:Choice Requires="p14">
      <p:transition spd="slow" p14:dur="2000" advTm="9325"/>
    </mc:Choice>
    <mc:Fallback xmlns="">
      <p:transition spd="slow" advTm="93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EAC4B-FCF5-EA58-CD6E-4F4CF79DC846}"/>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dirty="0">
                <a:solidFill>
                  <a:schemeClr val="tx1"/>
                </a:solidFill>
              </a:rPr>
              <a:t>Capstone Project.</a:t>
            </a:r>
            <a:endParaRPr lang="en-IN" dirty="0">
              <a:solidFill>
                <a:schemeClr val="tx1"/>
              </a:solidFill>
            </a:endParaRPr>
          </a:p>
        </p:txBody>
      </p:sp>
      <p:graphicFrame>
        <p:nvGraphicFramePr>
          <p:cNvPr id="9" name="Content Placeholder 2">
            <a:extLst>
              <a:ext uri="{FF2B5EF4-FFF2-40B4-BE49-F238E27FC236}">
                <a16:creationId xmlns:a16="http://schemas.microsoft.com/office/drawing/2014/main" id="{268CA33B-C29C-CA18-0E09-15363E4CD554}"/>
              </a:ext>
            </a:extLst>
          </p:cNvPr>
          <p:cNvGraphicFramePr>
            <a:graphicFrameLocks noGrp="1"/>
          </p:cNvGraphicFramePr>
          <p:nvPr>
            <p:ph idx="1"/>
            <p:extLst>
              <p:ext uri="{D42A27DB-BD31-4B8C-83A1-F6EECF244321}">
                <p14:modId xmlns:p14="http://schemas.microsoft.com/office/powerpoint/2010/main" val="1258980081"/>
              </p:ext>
            </p:extLst>
          </p:nvPr>
        </p:nvGraphicFramePr>
        <p:xfrm>
          <a:off x="914400" y="1533831"/>
          <a:ext cx="10628671" cy="45228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1">
            <a:extLst>
              <a:ext uri="{FF2B5EF4-FFF2-40B4-BE49-F238E27FC236}">
                <a16:creationId xmlns:a16="http://schemas.microsoft.com/office/drawing/2014/main" id="{44D0C6C5-5654-BD3F-0480-B6FF83FE63C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222222"/>
                </a:solidFill>
                <a:effectLst/>
                <a:latin typeface="Arial" panose="020B0604020202020204" pitchFamily="34" charset="0"/>
                <a:cs typeface="Arial" panose="020B0604020202020204" pitchFamily="34" charset="0"/>
              </a:rPr>
              <a:t>09-JUN-25-CDA-BUN-040-WDM0930-PUN</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5D8BB046-5676-CBBC-7546-E8A1DA74D5DB}"/>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222222"/>
                </a:solidFill>
                <a:effectLst/>
                <a:latin typeface="Arial" panose="020B0604020202020204" pitchFamily="34" charset="0"/>
                <a:cs typeface="Arial" panose="020B0604020202020204" pitchFamily="34" charset="0"/>
              </a:rPr>
              <a:t>09-JUN-25-CDA-BUN-040-WDM0930-PUN</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20968875"/>
      </p:ext>
    </p:extLst>
  </p:cSld>
  <p:clrMapOvr>
    <a:masterClrMapping/>
  </p:clrMapOvr>
  <mc:AlternateContent xmlns:mc="http://schemas.openxmlformats.org/markup-compatibility/2006" xmlns:p14="http://schemas.microsoft.com/office/powerpoint/2010/main">
    <mc:Choice Requires="p14">
      <p:transition spd="slow" p14:dur="2000" advTm="7359"/>
    </mc:Choice>
    <mc:Fallback xmlns="">
      <p:transition spd="slow" advTm="735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C052280-388E-4151-A1EB-5236D4FCC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A5BCBC-AEFB-BFEB-D962-0D6138A0DC3B}"/>
              </a:ext>
            </a:extLst>
          </p:cNvPr>
          <p:cNvSpPr>
            <a:spLocks noGrp="1"/>
          </p:cNvSpPr>
          <p:nvPr>
            <p:ph type="title"/>
          </p:nvPr>
        </p:nvSpPr>
        <p:spPr>
          <a:xfrm>
            <a:off x="913796" y="927100"/>
            <a:ext cx="3418766" cy="4616450"/>
          </a:xfrm>
        </p:spPr>
        <p:txBody>
          <a:bodyPr>
            <a:normAutofit/>
          </a:bodyPr>
          <a:lstStyle/>
          <a:p>
            <a:r>
              <a:rPr lang="en-US"/>
              <a:t>Contents.</a:t>
            </a:r>
            <a:endParaRPr lang="en-IN" dirty="0"/>
          </a:p>
        </p:txBody>
      </p:sp>
      <p:cxnSp>
        <p:nvCxnSpPr>
          <p:cNvPr id="17" name="Straight Connector 16">
            <a:extLst>
              <a:ext uri="{FF2B5EF4-FFF2-40B4-BE49-F238E27FC236}">
                <a16:creationId xmlns:a16="http://schemas.microsoft.com/office/drawing/2014/main" id="{744251C3-E720-4363-8AF0-20AD319374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301359"/>
            <a:ext cx="0" cy="191135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169AF9AB-A164-766D-0327-77689A680D44}"/>
              </a:ext>
            </a:extLst>
          </p:cNvPr>
          <p:cNvSpPr>
            <a:spLocks noGrp="1"/>
          </p:cNvSpPr>
          <p:nvPr>
            <p:ph idx="1"/>
          </p:nvPr>
        </p:nvSpPr>
        <p:spPr>
          <a:xfrm>
            <a:off x="4976029" y="971549"/>
            <a:ext cx="6291528" cy="4616450"/>
          </a:xfrm>
        </p:spPr>
        <p:txBody>
          <a:bodyPr anchor="ctr">
            <a:normAutofit/>
          </a:bodyPr>
          <a:lstStyle/>
          <a:p>
            <a:pPr>
              <a:lnSpc>
                <a:spcPct val="110000"/>
              </a:lnSpc>
            </a:pPr>
            <a:r>
              <a:rPr lang="en-US"/>
              <a:t>Introduction &amp; business Objective.</a:t>
            </a:r>
          </a:p>
          <a:p>
            <a:pPr>
              <a:lnSpc>
                <a:spcPct val="110000"/>
              </a:lnSpc>
            </a:pPr>
            <a:r>
              <a:rPr lang="en-US"/>
              <a:t>Dataset Overview.</a:t>
            </a:r>
          </a:p>
          <a:p>
            <a:pPr>
              <a:lnSpc>
                <a:spcPct val="110000"/>
              </a:lnSpc>
            </a:pPr>
            <a:r>
              <a:rPr lang="en-US"/>
              <a:t>Methodology(Regression Approach)</a:t>
            </a:r>
          </a:p>
          <a:p>
            <a:pPr>
              <a:lnSpc>
                <a:spcPct val="110000"/>
              </a:lnSpc>
            </a:pPr>
            <a:r>
              <a:rPr lang="en-US"/>
              <a:t>Key KPI &amp; Matrices.</a:t>
            </a:r>
          </a:p>
          <a:p>
            <a:pPr>
              <a:lnSpc>
                <a:spcPct val="110000"/>
              </a:lnSpc>
            </a:pPr>
            <a:r>
              <a:rPr lang="en-IN"/>
              <a:t>Dashborad Overview.</a:t>
            </a:r>
          </a:p>
          <a:p>
            <a:pPr>
              <a:lnSpc>
                <a:spcPct val="110000"/>
              </a:lnSpc>
            </a:pPr>
            <a:r>
              <a:rPr lang="en-IN"/>
              <a:t>Spending Empact on Profit.</a:t>
            </a:r>
          </a:p>
          <a:p>
            <a:pPr>
              <a:lnSpc>
                <a:spcPct val="110000"/>
              </a:lnSpc>
            </a:pPr>
            <a:r>
              <a:rPr lang="en-IN"/>
              <a:t>State-wise profit.</a:t>
            </a:r>
          </a:p>
          <a:p>
            <a:pPr>
              <a:lnSpc>
                <a:spcPct val="110000"/>
              </a:lnSpc>
            </a:pPr>
            <a:r>
              <a:rPr lang="en-IN"/>
              <a:t>Key Insights.</a:t>
            </a:r>
          </a:p>
          <a:p>
            <a:pPr>
              <a:lnSpc>
                <a:spcPct val="110000"/>
              </a:lnSpc>
            </a:pPr>
            <a:r>
              <a:rPr lang="en-IN"/>
              <a:t>Business recommendation.</a:t>
            </a:r>
          </a:p>
          <a:p>
            <a:pPr>
              <a:lnSpc>
                <a:spcPct val="110000"/>
              </a:lnSpc>
            </a:pPr>
            <a:r>
              <a:rPr lang="en-IN"/>
              <a:t>Conclusion.</a:t>
            </a:r>
          </a:p>
        </p:txBody>
      </p:sp>
    </p:spTree>
    <p:extLst>
      <p:ext uri="{BB962C8B-B14F-4D97-AF65-F5344CB8AC3E}">
        <p14:creationId xmlns:p14="http://schemas.microsoft.com/office/powerpoint/2010/main" val="88231408"/>
      </p:ext>
    </p:extLst>
  </p:cSld>
  <p:clrMapOvr>
    <a:masterClrMapping/>
  </p:clrMapOvr>
  <mc:AlternateContent xmlns:mc="http://schemas.openxmlformats.org/markup-compatibility/2006" xmlns:p14="http://schemas.microsoft.com/office/powerpoint/2010/main">
    <mc:Choice Requires="p14">
      <p:transition spd="slow" p14:dur="2000" advTm="10785"/>
    </mc:Choice>
    <mc:Fallback xmlns="">
      <p:transition spd="slow" advTm="1078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ngled shot of pen on a graph">
            <a:extLst>
              <a:ext uri="{FF2B5EF4-FFF2-40B4-BE49-F238E27FC236}">
                <a16:creationId xmlns:a16="http://schemas.microsoft.com/office/drawing/2014/main" id="{F02988EB-DCFA-C984-B3DA-0C1A0A218F3D}"/>
              </a:ext>
            </a:extLst>
          </p:cNvPr>
          <p:cNvPicPr>
            <a:picLocks noChangeAspect="1"/>
          </p:cNvPicPr>
          <p:nvPr/>
        </p:nvPicPr>
        <p:blipFill>
          <a:blip r:embed="rId2">
            <a:alphaModFix amt="35000"/>
          </a:blip>
          <a:srcRect t="9453" b="6302"/>
          <a:stretch>
            <a:fillRect/>
          </a:stretch>
        </p:blipFill>
        <p:spPr>
          <a:xfrm>
            <a:off x="20" y="2030"/>
            <a:ext cx="12191980" cy="6855970"/>
          </a:xfrm>
          <a:prstGeom prst="rect">
            <a:avLst/>
          </a:prstGeom>
        </p:spPr>
      </p:pic>
      <p:sp>
        <p:nvSpPr>
          <p:cNvPr id="2" name="Title 1">
            <a:extLst>
              <a:ext uri="{FF2B5EF4-FFF2-40B4-BE49-F238E27FC236}">
                <a16:creationId xmlns:a16="http://schemas.microsoft.com/office/drawing/2014/main" id="{47EF7194-C1D0-50D3-D1AD-A0B14EE4D2F4}"/>
              </a:ext>
            </a:extLst>
          </p:cNvPr>
          <p:cNvSpPr>
            <a:spLocks noGrp="1"/>
          </p:cNvSpPr>
          <p:nvPr>
            <p:ph type="title"/>
          </p:nvPr>
        </p:nvSpPr>
        <p:spPr/>
        <p:txBody>
          <a:bodyPr>
            <a:normAutofit/>
          </a:bodyPr>
          <a:lstStyle/>
          <a:p>
            <a:r>
              <a:rPr lang="en-US" dirty="0"/>
              <a:t>Introduction.</a:t>
            </a:r>
            <a:endParaRPr lang="en-IN" dirty="0"/>
          </a:p>
        </p:txBody>
      </p:sp>
      <p:sp>
        <p:nvSpPr>
          <p:cNvPr id="3" name="Content Placeholder 2">
            <a:extLst>
              <a:ext uri="{FF2B5EF4-FFF2-40B4-BE49-F238E27FC236}">
                <a16:creationId xmlns:a16="http://schemas.microsoft.com/office/drawing/2014/main" id="{CB578659-440E-B9DF-B635-C7A9593EBADC}"/>
              </a:ext>
            </a:extLst>
          </p:cNvPr>
          <p:cNvSpPr>
            <a:spLocks noGrp="1"/>
          </p:cNvSpPr>
          <p:nvPr>
            <p:ph idx="1"/>
          </p:nvPr>
        </p:nvSpPr>
        <p:spPr/>
        <p:txBody>
          <a:bodyPr>
            <a:normAutofit/>
          </a:bodyPr>
          <a:lstStyle/>
          <a:p>
            <a:r>
              <a:rPr lang="en-US" dirty="0"/>
              <a:t>This project analyzes how RD spend, Marketing spend, Administration spend impacting on profit. There is input given by the client according to the expenditure, the profit is explained. The results are visualized in power BI tool.</a:t>
            </a:r>
            <a:r>
              <a:rPr lang="en-IN" dirty="0"/>
              <a:t> The aim of the project is to analyse, on which spending we need to focus for gaining profit, with the help of the visualization we will be able to get to know about which spending increasing the profit and which spending has least impact on it. Our objective of this study is to optimize budget allocation and take financial decision for our business to make it profitable.</a:t>
            </a:r>
            <a:endParaRPr lang="en-US" dirty="0"/>
          </a:p>
        </p:txBody>
      </p:sp>
    </p:spTree>
    <p:extLst>
      <p:ext uri="{BB962C8B-B14F-4D97-AF65-F5344CB8AC3E}">
        <p14:creationId xmlns:p14="http://schemas.microsoft.com/office/powerpoint/2010/main" val="2415089132"/>
      </p:ext>
    </p:extLst>
  </p:cSld>
  <p:clrMapOvr>
    <a:masterClrMapping/>
  </p:clrMapOvr>
  <mc:AlternateContent xmlns:mc="http://schemas.openxmlformats.org/markup-compatibility/2006" xmlns:p14="http://schemas.microsoft.com/office/powerpoint/2010/main">
    <mc:Choice Requires="p14">
      <p:transition spd="slow" p14:dur="2000" advTm="11691"/>
    </mc:Choice>
    <mc:Fallback xmlns="">
      <p:transition spd="slow" advTm="1169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D1F29-6964-4265-072F-9C4AFA5C8F6F}"/>
              </a:ext>
            </a:extLst>
          </p:cNvPr>
          <p:cNvSpPr>
            <a:spLocks noGrp="1"/>
          </p:cNvSpPr>
          <p:nvPr>
            <p:ph type="title"/>
          </p:nvPr>
        </p:nvSpPr>
        <p:spPr>
          <a:xfrm>
            <a:off x="6513534" y="609600"/>
            <a:ext cx="4754022" cy="1326321"/>
          </a:xfrm>
        </p:spPr>
        <p:txBody>
          <a:bodyPr>
            <a:normAutofit/>
          </a:bodyPr>
          <a:lstStyle/>
          <a:p>
            <a:r>
              <a:rPr lang="en-US"/>
              <a:t>Dataset Overview.</a:t>
            </a:r>
            <a:endParaRPr lang="en-IN" dirty="0"/>
          </a:p>
        </p:txBody>
      </p:sp>
      <p:sp>
        <p:nvSpPr>
          <p:cNvPr id="13" name="Content Placeholder 2">
            <a:extLst>
              <a:ext uri="{FF2B5EF4-FFF2-40B4-BE49-F238E27FC236}">
                <a16:creationId xmlns:a16="http://schemas.microsoft.com/office/drawing/2014/main" id="{24868A79-025B-4B51-0666-F59C5BE1B1DB}"/>
              </a:ext>
            </a:extLst>
          </p:cNvPr>
          <p:cNvSpPr>
            <a:spLocks noGrp="1"/>
          </p:cNvSpPr>
          <p:nvPr>
            <p:ph idx="1"/>
          </p:nvPr>
        </p:nvSpPr>
        <p:spPr>
          <a:xfrm>
            <a:off x="6513534" y="2096064"/>
            <a:ext cx="4754022" cy="3695136"/>
          </a:xfrm>
        </p:spPr>
        <p:txBody>
          <a:bodyPr>
            <a:normAutofit/>
          </a:bodyPr>
          <a:lstStyle/>
          <a:p>
            <a:pPr>
              <a:lnSpc>
                <a:spcPct val="110000"/>
              </a:lnSpc>
            </a:pPr>
            <a:r>
              <a:rPr lang="en-IN" sz="1000"/>
              <a:t>The dataset in the project contains 5 columns and 50 rows. It also contain 3 states that is new York, California, Florida. It captures various types of company expenditure along with resulting profit. On this dataset we have perform regression analysis to make a precise decision on spending on business. This dataset also contains 0 values, using python we have replaced 0 values with mean.</a:t>
            </a:r>
          </a:p>
          <a:p>
            <a:pPr marL="0" indent="0">
              <a:lnSpc>
                <a:spcPct val="110000"/>
              </a:lnSpc>
              <a:buNone/>
            </a:pPr>
            <a:endParaRPr lang="en-IN" sz="1000"/>
          </a:p>
          <a:p>
            <a:pPr marL="0" indent="0">
              <a:lnSpc>
                <a:spcPct val="110000"/>
              </a:lnSpc>
              <a:buNone/>
            </a:pPr>
            <a:r>
              <a:rPr lang="en-IN" sz="1000"/>
              <a:t>Dataset details:</a:t>
            </a:r>
          </a:p>
          <a:p>
            <a:pPr marL="457200" indent="-457200">
              <a:lnSpc>
                <a:spcPct val="110000"/>
              </a:lnSpc>
              <a:buAutoNum type="arabicParenR"/>
            </a:pPr>
            <a:r>
              <a:rPr lang="en-IN" sz="1000"/>
              <a:t>No. of records: 50 rows and 5 columns.</a:t>
            </a:r>
          </a:p>
          <a:p>
            <a:pPr marL="457200" indent="-457200">
              <a:lnSpc>
                <a:spcPct val="110000"/>
              </a:lnSpc>
              <a:buAutoNum type="arabicParenR"/>
            </a:pPr>
            <a:r>
              <a:rPr lang="en-IN" sz="1000"/>
              <a:t>States: California, Florida, New York</a:t>
            </a:r>
          </a:p>
          <a:p>
            <a:pPr marL="457200" indent="-457200">
              <a:lnSpc>
                <a:spcPct val="110000"/>
              </a:lnSpc>
              <a:buAutoNum type="arabicParenR"/>
            </a:pPr>
            <a:r>
              <a:rPr lang="en-IN" sz="1000"/>
              <a:t>Datatype: Numeric and categorical</a:t>
            </a:r>
          </a:p>
          <a:p>
            <a:pPr marL="457200" indent="-457200">
              <a:lnSpc>
                <a:spcPct val="110000"/>
              </a:lnSpc>
              <a:buAutoNum type="arabicParenR"/>
            </a:pPr>
            <a:r>
              <a:rPr lang="en-IN" sz="1000"/>
              <a:t>Total sending: RD spending, Marketing spending, Administration spending</a:t>
            </a:r>
          </a:p>
          <a:p>
            <a:pPr marL="457200" indent="-457200">
              <a:lnSpc>
                <a:spcPct val="110000"/>
              </a:lnSpc>
              <a:buAutoNum type="arabicParenR"/>
            </a:pPr>
            <a:r>
              <a:rPr lang="en-IN" sz="1000"/>
              <a:t>Null Values: No</a:t>
            </a:r>
          </a:p>
          <a:p>
            <a:pPr marL="0" indent="0">
              <a:lnSpc>
                <a:spcPct val="110000"/>
              </a:lnSpc>
              <a:buNone/>
            </a:pPr>
            <a:endParaRPr lang="en-IN" sz="1000"/>
          </a:p>
          <a:p>
            <a:pPr marL="0" indent="0">
              <a:lnSpc>
                <a:spcPct val="110000"/>
              </a:lnSpc>
              <a:buNone/>
            </a:pPr>
            <a:endParaRPr lang="en-IN" sz="1000"/>
          </a:p>
        </p:txBody>
      </p:sp>
      <p:pic>
        <p:nvPicPr>
          <p:cNvPr id="5" name="Picture 4" descr="Financial graphs on a dark display">
            <a:extLst>
              <a:ext uri="{FF2B5EF4-FFF2-40B4-BE49-F238E27FC236}">
                <a16:creationId xmlns:a16="http://schemas.microsoft.com/office/drawing/2014/main" id="{F2782DF2-F5DD-2049-1569-1CCC22E91E8D}"/>
              </a:ext>
            </a:extLst>
          </p:cNvPr>
          <p:cNvPicPr>
            <a:picLocks noChangeAspect="1"/>
          </p:cNvPicPr>
          <p:nvPr/>
        </p:nvPicPr>
        <p:blipFill>
          <a:blip r:embed="rId2"/>
          <a:srcRect l="19574" r="24871"/>
          <a:stretch>
            <a:fillRect/>
          </a:stretch>
        </p:blipFill>
        <p:spPr>
          <a:xfrm>
            <a:off x="20" y="10"/>
            <a:ext cx="6095980" cy="6857990"/>
          </a:xfrm>
          <a:prstGeom prst="rect">
            <a:avLst/>
          </a:prstGeom>
        </p:spPr>
      </p:pic>
    </p:spTree>
    <p:extLst>
      <p:ext uri="{BB962C8B-B14F-4D97-AF65-F5344CB8AC3E}">
        <p14:creationId xmlns:p14="http://schemas.microsoft.com/office/powerpoint/2010/main" val="1080393625"/>
      </p:ext>
    </p:extLst>
  </p:cSld>
  <p:clrMapOvr>
    <a:masterClrMapping/>
  </p:clrMapOvr>
  <mc:AlternateContent xmlns:mc="http://schemas.openxmlformats.org/markup-compatibility/2006" xmlns:p14="http://schemas.microsoft.com/office/powerpoint/2010/main">
    <mc:Choice Requires="p14">
      <p:transition spd="slow" p14:dur="2000" advTm="11958"/>
    </mc:Choice>
    <mc:Fallback xmlns="">
      <p:transition spd="slow" advTm="11958"/>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5" name="Picture 4" descr="Codes on papers">
            <a:extLst>
              <a:ext uri="{FF2B5EF4-FFF2-40B4-BE49-F238E27FC236}">
                <a16:creationId xmlns:a16="http://schemas.microsoft.com/office/drawing/2014/main" id="{AA271FFC-71C3-285E-A9C3-2707E2938854}"/>
              </a:ext>
            </a:extLst>
          </p:cNvPr>
          <p:cNvPicPr>
            <a:picLocks noChangeAspect="1"/>
          </p:cNvPicPr>
          <p:nvPr/>
        </p:nvPicPr>
        <p:blipFill>
          <a:blip r:embed="rId3">
            <a:alphaModFix amt="35000"/>
          </a:blip>
          <a:srcRect t="3621" b="12135"/>
          <a:stretch>
            <a:fillRect/>
          </a:stretch>
        </p:blipFill>
        <p:spPr>
          <a:xfrm>
            <a:off x="20" y="2030"/>
            <a:ext cx="12191980" cy="6855970"/>
          </a:xfrm>
          <a:prstGeom prst="rect">
            <a:avLst/>
          </a:prstGeom>
        </p:spPr>
      </p:pic>
      <p:sp>
        <p:nvSpPr>
          <p:cNvPr id="9" name="Rectangle 8">
            <a:extLst>
              <a:ext uri="{FF2B5EF4-FFF2-40B4-BE49-F238E27FC236}">
                <a16:creationId xmlns:a16="http://schemas.microsoft.com/office/drawing/2014/main" id="{4DE0D6BE-330A-422D-9BD9-1E18F73C6E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32000">
                <a:schemeClr val="bg2">
                  <a:lumMod val="75000"/>
                  <a:alpha val="3000"/>
                </a:schemeClr>
              </a:gs>
              <a:gs pos="100000">
                <a:sysClr val="windowText" lastClr="000000">
                  <a:alpha val="70000"/>
                </a:sysClr>
              </a:gs>
            </a:gsLst>
            <a:path path="circle">
              <a:fillToRect l="50000" t="5000" r="50000" b="95000"/>
            </a:path>
            <a:tileRect/>
          </a:gra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6568F117-B6CB-F9B0-0E75-3B17DC530A9D}"/>
              </a:ext>
            </a:extLst>
          </p:cNvPr>
          <p:cNvSpPr>
            <a:spLocks noGrp="1"/>
          </p:cNvSpPr>
          <p:nvPr>
            <p:ph type="title"/>
          </p:nvPr>
        </p:nvSpPr>
        <p:spPr>
          <a:xfrm>
            <a:off x="913795" y="609600"/>
            <a:ext cx="10353761" cy="1326321"/>
          </a:xfrm>
        </p:spPr>
        <p:txBody>
          <a:bodyPr>
            <a:normAutofit/>
          </a:bodyPr>
          <a:lstStyle/>
          <a:p>
            <a:r>
              <a:rPr lang="en-IN" dirty="0"/>
              <a:t>Regression analysis.</a:t>
            </a:r>
          </a:p>
        </p:txBody>
      </p:sp>
      <p:sp>
        <p:nvSpPr>
          <p:cNvPr id="3" name="Content Placeholder 2">
            <a:extLst>
              <a:ext uri="{FF2B5EF4-FFF2-40B4-BE49-F238E27FC236}">
                <a16:creationId xmlns:a16="http://schemas.microsoft.com/office/drawing/2014/main" id="{504A9E4A-0841-387B-FC47-1CC4FDFD481D}"/>
              </a:ext>
            </a:extLst>
          </p:cNvPr>
          <p:cNvSpPr>
            <a:spLocks noGrp="1"/>
          </p:cNvSpPr>
          <p:nvPr>
            <p:ph idx="1"/>
          </p:nvPr>
        </p:nvSpPr>
        <p:spPr>
          <a:xfrm>
            <a:off x="913795" y="2096064"/>
            <a:ext cx="10353762" cy="3695136"/>
          </a:xfrm>
        </p:spPr>
        <p:txBody>
          <a:bodyPr>
            <a:normAutofit/>
          </a:bodyPr>
          <a:lstStyle/>
          <a:p>
            <a:pPr>
              <a:lnSpc>
                <a:spcPct val="110000"/>
              </a:lnSpc>
            </a:pPr>
            <a:r>
              <a:rPr lang="en-IN" sz="1300"/>
              <a:t>Regression analysis is used in this project to understand the relationship between company spendings and profit and to predict profit on the given inputs.</a:t>
            </a:r>
          </a:p>
          <a:p>
            <a:pPr>
              <a:lnSpc>
                <a:spcPct val="110000"/>
              </a:lnSpc>
            </a:pPr>
            <a:r>
              <a:rPr lang="en-IN" sz="1300" u="sng"/>
              <a:t>Project contain:</a:t>
            </a:r>
          </a:p>
          <a:p>
            <a:pPr marL="457200" indent="-457200">
              <a:lnSpc>
                <a:spcPct val="110000"/>
              </a:lnSpc>
              <a:buAutoNum type="arabicParenR"/>
            </a:pPr>
            <a:r>
              <a:rPr lang="en-IN" sz="1300"/>
              <a:t>Multiple linear regression</a:t>
            </a:r>
          </a:p>
          <a:p>
            <a:pPr marL="457200" indent="-457200">
              <a:lnSpc>
                <a:spcPct val="110000"/>
              </a:lnSpc>
              <a:buAutoNum type="arabicParenR"/>
            </a:pPr>
            <a:r>
              <a:rPr lang="en-IN" sz="1300"/>
              <a:t>Dependent variable: Profit</a:t>
            </a:r>
          </a:p>
          <a:p>
            <a:pPr marL="457200" indent="-457200">
              <a:lnSpc>
                <a:spcPct val="110000"/>
              </a:lnSpc>
              <a:buAutoNum type="arabicParenR"/>
            </a:pPr>
            <a:r>
              <a:rPr lang="en-IN" sz="1300"/>
              <a:t>Independent variable: RD spend, Marketing spend, Administration spend and state</a:t>
            </a:r>
          </a:p>
          <a:p>
            <a:pPr>
              <a:lnSpc>
                <a:spcPct val="110000"/>
              </a:lnSpc>
            </a:pPr>
            <a:r>
              <a:rPr lang="en-IN" sz="1300" u="sng"/>
              <a:t>Interpretation:</a:t>
            </a:r>
          </a:p>
          <a:p>
            <a:pPr marL="457200" indent="-457200">
              <a:lnSpc>
                <a:spcPct val="110000"/>
              </a:lnSpc>
              <a:buAutoNum type="arabicParenR"/>
            </a:pPr>
            <a:r>
              <a:rPr lang="en-IN" sz="1300"/>
              <a:t>A higher Coefficient indicates strong impact on profit.</a:t>
            </a:r>
          </a:p>
          <a:p>
            <a:pPr marL="457200" indent="-457200">
              <a:lnSpc>
                <a:spcPct val="110000"/>
              </a:lnSpc>
              <a:buAutoNum type="arabicParenR"/>
            </a:pPr>
            <a:r>
              <a:rPr lang="en-IN" sz="1300"/>
              <a:t>A positive coefficient means increase in spending in increasing profit.</a:t>
            </a:r>
          </a:p>
          <a:p>
            <a:pPr marL="457200" indent="-457200">
              <a:lnSpc>
                <a:spcPct val="110000"/>
              </a:lnSpc>
              <a:buAutoNum type="arabicParenR"/>
            </a:pPr>
            <a:r>
              <a:rPr lang="en-IN" sz="1300"/>
              <a:t>Low or negative coefficient indicates to low or decrease in profit.</a:t>
            </a:r>
          </a:p>
          <a:p>
            <a:pPr marL="457200" indent="-457200">
              <a:lnSpc>
                <a:spcPct val="110000"/>
              </a:lnSpc>
              <a:buAutoNum type="arabicParenR"/>
            </a:pPr>
            <a:r>
              <a:rPr lang="en-IN" sz="1300"/>
              <a:t>If P value &gt; 0.05 the value is significant and if P value &lt; 0.05 the value is not significant.</a:t>
            </a:r>
          </a:p>
          <a:p>
            <a:pPr>
              <a:lnSpc>
                <a:spcPct val="110000"/>
              </a:lnSpc>
            </a:pPr>
            <a:endParaRPr lang="en-IN" sz="1300"/>
          </a:p>
          <a:p>
            <a:pPr>
              <a:lnSpc>
                <a:spcPct val="110000"/>
              </a:lnSpc>
            </a:pPr>
            <a:endParaRPr lang="en-IN" sz="1300"/>
          </a:p>
        </p:txBody>
      </p:sp>
    </p:spTree>
    <p:extLst>
      <p:ext uri="{BB962C8B-B14F-4D97-AF65-F5344CB8AC3E}">
        <p14:creationId xmlns:p14="http://schemas.microsoft.com/office/powerpoint/2010/main" val="3084709897"/>
      </p:ext>
    </p:extLst>
  </p:cSld>
  <p:clrMapOvr>
    <a:masterClrMapping/>
  </p:clrMapOvr>
  <mc:AlternateContent xmlns:mc="http://schemas.openxmlformats.org/markup-compatibility/2006" xmlns:p14="http://schemas.microsoft.com/office/powerpoint/2010/main">
    <mc:Choice Requires="p14">
      <p:transition spd="slow" p14:dur="2000" advTm="10838"/>
    </mc:Choice>
    <mc:Fallback xmlns="">
      <p:transition spd="slow" advTm="10838"/>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C052280-388E-4151-A1EB-5236D4FCC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12AD54-6591-0BA9-8DBB-F63E40B375F5}"/>
              </a:ext>
            </a:extLst>
          </p:cNvPr>
          <p:cNvSpPr>
            <a:spLocks noGrp="1"/>
          </p:cNvSpPr>
          <p:nvPr>
            <p:ph type="title"/>
          </p:nvPr>
        </p:nvSpPr>
        <p:spPr>
          <a:xfrm>
            <a:off x="913796" y="927100"/>
            <a:ext cx="3418766" cy="4616450"/>
          </a:xfrm>
        </p:spPr>
        <p:txBody>
          <a:bodyPr>
            <a:normAutofit/>
          </a:bodyPr>
          <a:lstStyle/>
          <a:p>
            <a:r>
              <a:rPr lang="en-IN" dirty="0"/>
              <a:t>KEY KPI and Matrices.</a:t>
            </a:r>
          </a:p>
        </p:txBody>
      </p:sp>
      <p:cxnSp>
        <p:nvCxnSpPr>
          <p:cNvPr id="10" name="Straight Connector 9">
            <a:extLst>
              <a:ext uri="{FF2B5EF4-FFF2-40B4-BE49-F238E27FC236}">
                <a16:creationId xmlns:a16="http://schemas.microsoft.com/office/drawing/2014/main" id="{744251C3-E720-4363-8AF0-20AD319374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301359"/>
            <a:ext cx="0" cy="191135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9A6951CB-0417-AD17-3F97-A3D1AD89F47D}"/>
              </a:ext>
            </a:extLst>
          </p:cNvPr>
          <p:cNvSpPr>
            <a:spLocks noGrp="1"/>
          </p:cNvSpPr>
          <p:nvPr>
            <p:ph idx="1"/>
          </p:nvPr>
        </p:nvSpPr>
        <p:spPr>
          <a:xfrm>
            <a:off x="4976029" y="971549"/>
            <a:ext cx="6291528" cy="4616450"/>
          </a:xfrm>
        </p:spPr>
        <p:txBody>
          <a:bodyPr anchor="ctr">
            <a:normAutofit/>
          </a:bodyPr>
          <a:lstStyle/>
          <a:p>
            <a:pPr>
              <a:lnSpc>
                <a:spcPct val="110000"/>
              </a:lnSpc>
            </a:pPr>
            <a:r>
              <a:rPr lang="en-IN" sz="1700" u="sng"/>
              <a:t>Key performance indicators are:</a:t>
            </a:r>
          </a:p>
          <a:p>
            <a:pPr marL="457200" indent="-457200">
              <a:lnSpc>
                <a:spcPct val="110000"/>
              </a:lnSpc>
              <a:buAutoNum type="arabicParenR"/>
            </a:pPr>
            <a:r>
              <a:rPr lang="en-IN" sz="1700"/>
              <a:t>Total Profit: ₹56,00,631.96.</a:t>
            </a:r>
          </a:p>
          <a:p>
            <a:pPr marL="457200" indent="-457200">
              <a:lnSpc>
                <a:spcPct val="110000"/>
              </a:lnSpc>
              <a:buAutoNum type="arabicParenR"/>
            </a:pPr>
            <a:r>
              <a:rPr lang="en-IN" sz="1700"/>
              <a:t>Total RD spend: </a:t>
            </a:r>
            <a:r>
              <a:rPr lang="en-IN" sz="1700">
                <a:effectLst/>
              </a:rPr>
              <a:t>₹ 38,39,667.48</a:t>
            </a:r>
          </a:p>
          <a:p>
            <a:pPr marL="457200" indent="-457200">
              <a:lnSpc>
                <a:spcPct val="110000"/>
              </a:lnSpc>
              <a:buAutoNum type="arabicParenR"/>
            </a:pPr>
            <a:r>
              <a:rPr lang="en-IN" sz="1700"/>
              <a:t>Total Marketing spend: </a:t>
            </a:r>
            <a:r>
              <a:rPr lang="en-IN" sz="1700">
                <a:effectLst/>
              </a:rPr>
              <a:t>₹ 112,24,739.2</a:t>
            </a:r>
          </a:p>
          <a:p>
            <a:pPr>
              <a:lnSpc>
                <a:spcPct val="110000"/>
              </a:lnSpc>
              <a:buFont typeface="Courier New" panose="02070309020205020404" pitchFamily="49" charset="0"/>
              <a:buChar char="o"/>
            </a:pPr>
            <a:r>
              <a:rPr lang="en-IN" sz="1700" u="sng">
                <a:effectLst/>
              </a:rPr>
              <a:t>Spending Matrices:</a:t>
            </a:r>
          </a:p>
          <a:p>
            <a:pPr marL="457200" indent="-457200">
              <a:lnSpc>
                <a:spcPct val="110000"/>
              </a:lnSpc>
              <a:buAutoNum type="arabicParenR"/>
            </a:pPr>
            <a:r>
              <a:rPr lang="en-IN" sz="1700">
                <a:effectLst/>
              </a:rPr>
              <a:t>Total RD Spending: ₹ 21,892.92, ₹ 23, 940.93</a:t>
            </a:r>
          </a:p>
          <a:p>
            <a:pPr marL="457200" indent="-457200">
              <a:lnSpc>
                <a:spcPct val="110000"/>
              </a:lnSpc>
              <a:buAutoNum type="arabicParenR"/>
            </a:pPr>
            <a:r>
              <a:rPr lang="en-IN" sz="1700">
                <a:effectLst/>
              </a:rPr>
              <a:t>Total Administration spending: ₹ 81,910.77, ₹ ₹ 96489.63</a:t>
            </a:r>
          </a:p>
          <a:p>
            <a:pPr marL="457200" indent="-457200">
              <a:lnSpc>
                <a:spcPct val="110000"/>
              </a:lnSpc>
              <a:buAutoNum type="arabicParenR"/>
            </a:pPr>
            <a:r>
              <a:rPr lang="en-IN" sz="1700">
                <a:effectLst/>
              </a:rPr>
              <a:t>Total Marketing Spending: ₹ 1,64,270.70, ₹ 1,37,001.1</a:t>
            </a:r>
          </a:p>
          <a:p>
            <a:pPr>
              <a:lnSpc>
                <a:spcPct val="110000"/>
              </a:lnSpc>
              <a:buFont typeface="Courier New" panose="02070309020205020404" pitchFamily="49" charset="0"/>
              <a:buChar char="o"/>
            </a:pPr>
            <a:r>
              <a:rPr lang="en-IN" sz="1700">
                <a:effectLst/>
              </a:rPr>
              <a:t>Total predicted Profit:</a:t>
            </a:r>
          </a:p>
          <a:p>
            <a:pPr marL="0" indent="0">
              <a:lnSpc>
                <a:spcPct val="110000"/>
              </a:lnSpc>
              <a:buNone/>
            </a:pPr>
            <a:r>
              <a:rPr lang="en-IN" sz="1700">
                <a:effectLst/>
              </a:rPr>
              <a:t>1)  Profit: ₹ 2,68,074.39, ₹ 257431.66</a:t>
            </a:r>
          </a:p>
        </p:txBody>
      </p:sp>
    </p:spTree>
    <p:extLst>
      <p:ext uri="{BB962C8B-B14F-4D97-AF65-F5344CB8AC3E}">
        <p14:creationId xmlns:p14="http://schemas.microsoft.com/office/powerpoint/2010/main" val="1288598821"/>
      </p:ext>
    </p:extLst>
  </p:cSld>
  <p:clrMapOvr>
    <a:masterClrMapping/>
  </p:clrMapOvr>
  <mc:AlternateContent xmlns:mc="http://schemas.openxmlformats.org/markup-compatibility/2006" xmlns:p14="http://schemas.microsoft.com/office/powerpoint/2010/main">
    <mc:Choice Requires="p14">
      <p:transition spd="slow" p14:dur="2000" advTm="10518"/>
    </mc:Choice>
    <mc:Fallback xmlns="">
      <p:transition spd="slow" advTm="10518"/>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5F19D-1B48-EECD-7BBF-CA8DAB074E0A}"/>
              </a:ext>
            </a:extLst>
          </p:cNvPr>
          <p:cNvSpPr>
            <a:spLocks noGrp="1"/>
          </p:cNvSpPr>
          <p:nvPr>
            <p:ph type="title"/>
          </p:nvPr>
        </p:nvSpPr>
        <p:spPr>
          <a:xfrm>
            <a:off x="913795" y="609600"/>
            <a:ext cx="10353761" cy="1326321"/>
          </a:xfrm>
        </p:spPr>
        <p:txBody>
          <a:bodyPr vert="horz" lIns="91440" tIns="45720" rIns="91440" bIns="45720" rtlCol="0" anchor="ctr">
            <a:normAutofit/>
          </a:bodyPr>
          <a:lstStyle/>
          <a:p>
            <a:r>
              <a:rPr lang="en-US"/>
              <a:t>Dashboards overview.</a:t>
            </a:r>
          </a:p>
        </p:txBody>
      </p:sp>
      <p:sp>
        <p:nvSpPr>
          <p:cNvPr id="3" name="Content Placeholder 2">
            <a:extLst>
              <a:ext uri="{FF2B5EF4-FFF2-40B4-BE49-F238E27FC236}">
                <a16:creationId xmlns:a16="http://schemas.microsoft.com/office/drawing/2014/main" id="{208054DA-6986-B478-213C-B00BDEECA150}"/>
              </a:ext>
            </a:extLst>
          </p:cNvPr>
          <p:cNvSpPr>
            <a:spLocks noGrp="1"/>
          </p:cNvSpPr>
          <p:nvPr>
            <p:ph sz="half" idx="1"/>
          </p:nvPr>
        </p:nvSpPr>
        <p:spPr>
          <a:xfrm>
            <a:off x="913795" y="2096064"/>
            <a:ext cx="6352824" cy="3695136"/>
          </a:xfrm>
        </p:spPr>
        <p:txBody>
          <a:bodyPr vert="horz" lIns="91440" tIns="45720" rIns="91440" bIns="45720" rtlCol="0">
            <a:normAutofit/>
          </a:bodyPr>
          <a:lstStyle/>
          <a:p>
            <a:r>
              <a:rPr lang="en-US"/>
              <a:t>This dashboard provides the information on how RD, marketing, administration spending influence profit across different states.</a:t>
            </a:r>
          </a:p>
          <a:p>
            <a:pPr marL="0"/>
            <a:r>
              <a:rPr lang="en-US" u="sng"/>
              <a:t>Key elements:</a:t>
            </a:r>
          </a:p>
          <a:p>
            <a:pPr marL="0"/>
            <a:r>
              <a:rPr lang="en-US"/>
              <a:t>1) KPI card is showing the total profit, total expenditures. On the second sheet the KPI card is showing total predicted profit according to the spending. The KPI card also contain the input values given by the client.</a:t>
            </a:r>
          </a:p>
        </p:txBody>
      </p:sp>
      <p:sp>
        <p:nvSpPr>
          <p:cNvPr id="13" name="Rectangle 12">
            <a:extLst>
              <a:ext uri="{FF2B5EF4-FFF2-40B4-BE49-F238E27FC236}">
                <a16:creationId xmlns:a16="http://schemas.microsoft.com/office/drawing/2014/main" id="{C24F8008-E57F-41F3-A647-6AD26AC62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78736" y="2210935"/>
            <a:ext cx="3511778" cy="349318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86381119-E223-F962-8C5F-611724171A8A}"/>
              </a:ext>
            </a:extLst>
          </p:cNvPr>
          <p:cNvPicPr>
            <a:picLocks noChangeAspect="1"/>
          </p:cNvPicPr>
          <p:nvPr/>
        </p:nvPicPr>
        <p:blipFill>
          <a:blip r:embed="rId3"/>
          <a:stretch>
            <a:fillRect/>
          </a:stretch>
        </p:blipFill>
        <p:spPr>
          <a:xfrm>
            <a:off x="7815374" y="2694888"/>
            <a:ext cx="3217333" cy="788246"/>
          </a:xfrm>
          <a:prstGeom prst="rect">
            <a:avLst/>
          </a:prstGeom>
        </p:spPr>
      </p:pic>
      <p:pic>
        <p:nvPicPr>
          <p:cNvPr id="6" name="Content Placeholder 5">
            <a:extLst>
              <a:ext uri="{FF2B5EF4-FFF2-40B4-BE49-F238E27FC236}">
                <a16:creationId xmlns:a16="http://schemas.microsoft.com/office/drawing/2014/main" id="{0802849C-8E17-CC67-553F-C3FF38935960}"/>
              </a:ext>
            </a:extLst>
          </p:cNvPr>
          <p:cNvPicPr>
            <a:picLocks noGrp="1" noChangeAspect="1"/>
          </p:cNvPicPr>
          <p:nvPr>
            <p:ph sz="half" idx="2"/>
          </p:nvPr>
        </p:nvPicPr>
        <p:blipFill>
          <a:blip r:embed="rId4"/>
          <a:stretch>
            <a:fillRect/>
          </a:stretch>
        </p:blipFill>
        <p:spPr>
          <a:xfrm>
            <a:off x="7815375" y="4098450"/>
            <a:ext cx="3217333" cy="1359323"/>
          </a:xfrm>
          <a:prstGeom prst="rect">
            <a:avLst/>
          </a:prstGeom>
        </p:spPr>
      </p:pic>
    </p:spTree>
    <p:extLst>
      <p:ext uri="{BB962C8B-B14F-4D97-AF65-F5344CB8AC3E}">
        <p14:creationId xmlns:p14="http://schemas.microsoft.com/office/powerpoint/2010/main" val="3503741858"/>
      </p:ext>
    </p:extLst>
  </p:cSld>
  <p:clrMapOvr>
    <a:masterClrMapping/>
  </p:clrMapOvr>
  <mc:AlternateContent xmlns:mc="http://schemas.openxmlformats.org/markup-compatibility/2006" xmlns:p14="http://schemas.microsoft.com/office/powerpoint/2010/main">
    <mc:Choice Requires="p14">
      <p:transition spd="slow" p14:dur="2000" advTm="11541"/>
    </mc:Choice>
    <mc:Fallback xmlns="">
      <p:transition spd="slow" advTm="1154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53EA3B-60CA-19EB-ACC7-C5041DB6D73B}"/>
              </a:ext>
            </a:extLst>
          </p:cNvPr>
          <p:cNvSpPr>
            <a:spLocks noGrp="1"/>
          </p:cNvSpPr>
          <p:nvPr>
            <p:ph type="title"/>
          </p:nvPr>
        </p:nvSpPr>
        <p:spPr>
          <a:xfrm>
            <a:off x="913795" y="609600"/>
            <a:ext cx="10353761" cy="1326321"/>
          </a:xfrm>
        </p:spPr>
        <p:txBody>
          <a:bodyPr vert="horz" lIns="91440" tIns="45720" rIns="91440" bIns="45720" rtlCol="0" anchor="ctr">
            <a:normAutofit/>
          </a:bodyPr>
          <a:lstStyle/>
          <a:p>
            <a:r>
              <a:rPr lang="en-US" sz="3400" u="sng"/>
              <a:t>Expenditure by customer</a:t>
            </a:r>
            <a:r>
              <a:rPr lang="en-US" sz="3400"/>
              <a:t>. (Task 1)</a:t>
            </a:r>
          </a:p>
        </p:txBody>
      </p:sp>
      <p:sp>
        <p:nvSpPr>
          <p:cNvPr id="13" name="Content Placeholder 12">
            <a:extLst>
              <a:ext uri="{FF2B5EF4-FFF2-40B4-BE49-F238E27FC236}">
                <a16:creationId xmlns:a16="http://schemas.microsoft.com/office/drawing/2014/main" id="{8227BC45-0BC4-B5AF-49EE-AD4DC7BE89B9}"/>
              </a:ext>
            </a:extLst>
          </p:cNvPr>
          <p:cNvSpPr>
            <a:spLocks noGrp="1"/>
          </p:cNvSpPr>
          <p:nvPr>
            <p:ph idx="1"/>
          </p:nvPr>
        </p:nvSpPr>
        <p:spPr>
          <a:xfrm>
            <a:off x="913795" y="2096064"/>
            <a:ext cx="6352824" cy="3695136"/>
          </a:xfrm>
        </p:spPr>
        <p:txBody>
          <a:bodyPr vert="horz" lIns="91440" tIns="45720" rIns="91440" bIns="45720" rtlCol="0">
            <a:normAutofit/>
          </a:bodyPr>
          <a:lstStyle/>
          <a:p>
            <a:pPr marL="457200">
              <a:lnSpc>
                <a:spcPct val="110000"/>
              </a:lnSpc>
            </a:pPr>
            <a:r>
              <a:rPr lang="en-US" sz="1600"/>
              <a:t>RD Expenditure: ₹ 21892.92</a:t>
            </a:r>
          </a:p>
          <a:p>
            <a:pPr marL="457200">
              <a:lnSpc>
                <a:spcPct val="110000"/>
              </a:lnSpc>
            </a:pPr>
            <a:r>
              <a:rPr lang="en-US" sz="1600"/>
              <a:t>Administration Expenditure: ₹ 81910.77</a:t>
            </a:r>
          </a:p>
          <a:p>
            <a:pPr marL="457200">
              <a:lnSpc>
                <a:spcPct val="110000"/>
              </a:lnSpc>
            </a:pPr>
            <a:r>
              <a:rPr lang="en-US" sz="1600"/>
              <a:t>Marketing expenditure: ₹ 164270.7</a:t>
            </a:r>
          </a:p>
          <a:p>
            <a:pPr marL="0">
              <a:lnSpc>
                <a:spcPct val="110000"/>
              </a:lnSpc>
            </a:pPr>
            <a:r>
              <a:rPr lang="en-US" sz="1600"/>
              <a:t>As per to the expenditure by the customer we can see that the total predicted profit is 71478.265.</a:t>
            </a:r>
          </a:p>
          <a:p>
            <a:pPr marL="0">
              <a:lnSpc>
                <a:spcPct val="110000"/>
              </a:lnSpc>
            </a:pPr>
            <a:r>
              <a:rPr lang="en-US" sz="1600"/>
              <a:t>Upon checking the figure, here we can see that on RD customer has invested less as compare to administration and marketing. </a:t>
            </a:r>
          </a:p>
          <a:p>
            <a:pPr marL="0">
              <a:lnSpc>
                <a:spcPct val="110000"/>
              </a:lnSpc>
            </a:pPr>
            <a:endParaRPr lang="en-US" sz="1600"/>
          </a:p>
          <a:p>
            <a:pPr marL="0">
              <a:lnSpc>
                <a:spcPct val="110000"/>
              </a:lnSpc>
            </a:pPr>
            <a:r>
              <a:rPr lang="en-US" sz="1600"/>
              <a:t>Further we will check how investment impact on profit and which one will be more beneficial for the business.</a:t>
            </a:r>
          </a:p>
        </p:txBody>
      </p:sp>
      <p:sp>
        <p:nvSpPr>
          <p:cNvPr id="29" name="Rectangle 28">
            <a:extLst>
              <a:ext uri="{FF2B5EF4-FFF2-40B4-BE49-F238E27FC236}">
                <a16:creationId xmlns:a16="http://schemas.microsoft.com/office/drawing/2014/main" id="{C24F8008-E57F-41F3-A647-6AD26AC62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78736" y="2210935"/>
            <a:ext cx="3511778" cy="3493180"/>
          </a:xfrm>
          <a:prstGeom prst="rect">
            <a:avLst/>
          </a:prstGeom>
          <a:solidFill>
            <a:schemeClr val="tx1"/>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1C019DF4-3FB8-4E17-E891-B5E3077B982C}"/>
              </a:ext>
            </a:extLst>
          </p:cNvPr>
          <p:cNvPicPr>
            <a:picLocks noChangeAspect="1"/>
          </p:cNvPicPr>
          <p:nvPr/>
        </p:nvPicPr>
        <p:blipFill>
          <a:blip r:embed="rId3"/>
          <a:stretch>
            <a:fillRect/>
          </a:stretch>
        </p:blipFill>
        <p:spPr>
          <a:xfrm>
            <a:off x="7815374" y="2454082"/>
            <a:ext cx="3217333" cy="1269859"/>
          </a:xfrm>
          <a:prstGeom prst="rect">
            <a:avLst/>
          </a:prstGeom>
        </p:spPr>
      </p:pic>
      <p:pic>
        <p:nvPicPr>
          <p:cNvPr id="15" name="Picture 14">
            <a:extLst>
              <a:ext uri="{FF2B5EF4-FFF2-40B4-BE49-F238E27FC236}">
                <a16:creationId xmlns:a16="http://schemas.microsoft.com/office/drawing/2014/main" id="{94A31A03-32A9-8D83-59B4-66D0A3FEFC00}"/>
              </a:ext>
            </a:extLst>
          </p:cNvPr>
          <p:cNvPicPr>
            <a:picLocks noChangeAspect="1"/>
          </p:cNvPicPr>
          <p:nvPr/>
        </p:nvPicPr>
        <p:blipFill>
          <a:blip r:embed="rId4"/>
          <a:stretch>
            <a:fillRect/>
          </a:stretch>
        </p:blipFill>
        <p:spPr>
          <a:xfrm>
            <a:off x="8037265" y="3990032"/>
            <a:ext cx="2773553" cy="1576160"/>
          </a:xfrm>
          <a:prstGeom prst="rect">
            <a:avLst/>
          </a:prstGeom>
        </p:spPr>
      </p:pic>
    </p:spTree>
    <p:extLst>
      <p:ext uri="{BB962C8B-B14F-4D97-AF65-F5344CB8AC3E}">
        <p14:creationId xmlns:p14="http://schemas.microsoft.com/office/powerpoint/2010/main" val="2459798803"/>
      </p:ext>
    </p:extLst>
  </p:cSld>
  <p:clrMapOvr>
    <a:masterClrMapping/>
  </p:clrMapOvr>
  <mc:AlternateContent xmlns:mc="http://schemas.openxmlformats.org/markup-compatibility/2006" xmlns:p14="http://schemas.microsoft.com/office/powerpoint/2010/main">
    <mc:Choice Requires="p14">
      <p:transition spd="slow" p14:dur="2000" advTm="11183"/>
    </mc:Choice>
    <mc:Fallback xmlns="">
      <p:transition spd="slow" advTm="1118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80217-5FD7-4301-6AB6-AFE76A89F3AA}"/>
              </a:ext>
            </a:extLst>
          </p:cNvPr>
          <p:cNvSpPr>
            <a:spLocks noGrp="1"/>
          </p:cNvSpPr>
          <p:nvPr>
            <p:ph type="title"/>
          </p:nvPr>
        </p:nvSpPr>
        <p:spPr>
          <a:xfrm>
            <a:off x="924445" y="452284"/>
            <a:ext cx="4153620" cy="700551"/>
          </a:xfrm>
        </p:spPr>
        <p:txBody>
          <a:bodyPr>
            <a:normAutofit fontScale="90000"/>
          </a:bodyPr>
          <a:lstStyle/>
          <a:p>
            <a:r>
              <a:rPr lang="en-IN" u="sng"/>
              <a:t>Regression analysis </a:t>
            </a:r>
            <a:r>
              <a:rPr lang="en-IN" sz="1800"/>
              <a:t>(Task1).</a:t>
            </a:r>
            <a:endParaRPr lang="en-IN" dirty="0"/>
          </a:p>
        </p:txBody>
      </p:sp>
      <p:sp>
        <p:nvSpPr>
          <p:cNvPr id="3" name="Content Placeholder 2">
            <a:extLst>
              <a:ext uri="{FF2B5EF4-FFF2-40B4-BE49-F238E27FC236}">
                <a16:creationId xmlns:a16="http://schemas.microsoft.com/office/drawing/2014/main" id="{6F7191F0-4E47-604A-518F-4A38044DCF87}"/>
              </a:ext>
            </a:extLst>
          </p:cNvPr>
          <p:cNvSpPr>
            <a:spLocks noGrp="1"/>
          </p:cNvSpPr>
          <p:nvPr>
            <p:ph idx="1"/>
          </p:nvPr>
        </p:nvSpPr>
        <p:spPr/>
        <p:txBody>
          <a:bodyPr>
            <a:normAutofit fontScale="92500" lnSpcReduction="20000"/>
          </a:bodyPr>
          <a:lstStyle/>
          <a:p>
            <a:pPr marL="0" indent="0">
              <a:buNone/>
            </a:pPr>
            <a:r>
              <a:rPr lang="en-IN" dirty="0"/>
              <a:t>R&amp;D Spend:</a:t>
            </a:r>
          </a:p>
          <a:p>
            <a:r>
              <a:rPr lang="en-IN" dirty="0"/>
              <a:t>Coefficient = 0.77</a:t>
            </a:r>
          </a:p>
          <a:p>
            <a:r>
              <a:rPr lang="en-IN" dirty="0"/>
              <a:t>P-value&lt;0.05</a:t>
            </a:r>
          </a:p>
          <a:p>
            <a:r>
              <a:rPr lang="en-IN" dirty="0">
                <a:effectLst/>
              </a:rPr>
              <a:t>✅ Statistically significant.</a:t>
            </a:r>
          </a:p>
          <a:p>
            <a:pPr marL="0" indent="0">
              <a:buNone/>
            </a:pPr>
            <a:r>
              <a:rPr lang="en-IN" dirty="0">
                <a:effectLst/>
              </a:rPr>
              <a:t>Marketing spend:</a:t>
            </a:r>
          </a:p>
          <a:p>
            <a:r>
              <a:rPr lang="en-IN" dirty="0">
                <a:effectLst/>
              </a:rPr>
              <a:t>Coefficient = 0.03</a:t>
            </a:r>
          </a:p>
          <a:p>
            <a:r>
              <a:rPr lang="en-IN" dirty="0">
                <a:effectLst/>
              </a:rPr>
              <a:t>P-value&lt;0.05</a:t>
            </a:r>
          </a:p>
          <a:p>
            <a:r>
              <a:rPr lang="en-IN" dirty="0">
                <a:effectLst/>
              </a:rPr>
              <a:t>✅ Statistically significant.</a:t>
            </a:r>
          </a:p>
          <a:p>
            <a:pPr marL="0" indent="0">
              <a:buNone/>
            </a:pPr>
            <a:r>
              <a:rPr lang="en-IN" dirty="0">
                <a:effectLst/>
              </a:rPr>
              <a:t>Administration Spend:</a:t>
            </a:r>
          </a:p>
          <a:p>
            <a:r>
              <a:rPr lang="en-IN" dirty="0">
                <a:effectLst/>
              </a:rPr>
              <a:t>Coefficient spend= 0.01</a:t>
            </a:r>
          </a:p>
          <a:p>
            <a:r>
              <a:rPr lang="en-IN" dirty="0">
                <a:effectLst/>
              </a:rPr>
              <a:t>P-value&gt;0.05</a:t>
            </a:r>
          </a:p>
          <a:p>
            <a:pPr marL="0" indent="0">
              <a:buNone/>
            </a:pPr>
            <a:r>
              <a:rPr lang="en-IN" dirty="0">
                <a:effectLst/>
              </a:rPr>
              <a:t>❌ Not statistically significant.</a:t>
            </a:r>
          </a:p>
          <a:p>
            <a:endParaRPr lang="en-IN" dirty="0">
              <a:effectLst/>
            </a:endParaRPr>
          </a:p>
          <a:p>
            <a:pPr marL="0" indent="0">
              <a:buNone/>
            </a:pPr>
            <a:endParaRPr lang="en-IN" dirty="0"/>
          </a:p>
        </p:txBody>
      </p:sp>
      <p:pic>
        <p:nvPicPr>
          <p:cNvPr id="11" name="Picture 10">
            <a:extLst>
              <a:ext uri="{FF2B5EF4-FFF2-40B4-BE49-F238E27FC236}">
                <a16:creationId xmlns:a16="http://schemas.microsoft.com/office/drawing/2014/main" id="{05918C2E-EB9D-EC07-A43E-A704FB4EA8F1}"/>
              </a:ext>
            </a:extLst>
          </p:cNvPr>
          <p:cNvPicPr>
            <a:picLocks noChangeAspect="1"/>
          </p:cNvPicPr>
          <p:nvPr/>
        </p:nvPicPr>
        <p:blipFill>
          <a:blip r:embed="rId2"/>
          <a:stretch>
            <a:fillRect/>
          </a:stretch>
        </p:blipFill>
        <p:spPr>
          <a:xfrm>
            <a:off x="338030" y="1535620"/>
            <a:ext cx="4574274" cy="1893380"/>
          </a:xfrm>
          <a:prstGeom prst="rect">
            <a:avLst/>
          </a:prstGeom>
        </p:spPr>
      </p:pic>
      <p:pic>
        <p:nvPicPr>
          <p:cNvPr id="15" name="Picture 14">
            <a:extLst>
              <a:ext uri="{FF2B5EF4-FFF2-40B4-BE49-F238E27FC236}">
                <a16:creationId xmlns:a16="http://schemas.microsoft.com/office/drawing/2014/main" id="{FEB04267-2733-318A-21D9-B0E4B22AE9BE}"/>
              </a:ext>
            </a:extLst>
          </p:cNvPr>
          <p:cNvPicPr>
            <a:picLocks noChangeAspect="1"/>
          </p:cNvPicPr>
          <p:nvPr/>
        </p:nvPicPr>
        <p:blipFill>
          <a:blip r:embed="rId3"/>
          <a:stretch>
            <a:fillRect/>
          </a:stretch>
        </p:blipFill>
        <p:spPr>
          <a:xfrm>
            <a:off x="338030" y="3867207"/>
            <a:ext cx="4735415" cy="834988"/>
          </a:xfrm>
          <a:prstGeom prst="rect">
            <a:avLst/>
          </a:prstGeom>
        </p:spPr>
      </p:pic>
    </p:spTree>
    <p:extLst>
      <p:ext uri="{BB962C8B-B14F-4D97-AF65-F5344CB8AC3E}">
        <p14:creationId xmlns:p14="http://schemas.microsoft.com/office/powerpoint/2010/main" val="1466142643"/>
      </p:ext>
    </p:extLst>
  </p:cSld>
  <p:clrMapOvr>
    <a:masterClrMapping/>
  </p:clrMapOvr>
  <mc:AlternateContent xmlns:mc="http://schemas.openxmlformats.org/markup-compatibility/2006" xmlns:p14="http://schemas.microsoft.com/office/powerpoint/2010/main">
    <mc:Choice Requires="p14">
      <p:transition spd="slow" p14:dur="2000" advTm="12015"/>
    </mc:Choice>
    <mc:Fallback xmlns="">
      <p:transition spd="slow" advTm="1201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6C26D0D-3244-47AC-9EF0-A8554163E5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58B3C6-A5C7-02D8-D387-9905A1CE70D2}"/>
              </a:ext>
            </a:extLst>
          </p:cNvPr>
          <p:cNvSpPr>
            <a:spLocks noGrp="1"/>
          </p:cNvSpPr>
          <p:nvPr>
            <p:ph type="title"/>
          </p:nvPr>
        </p:nvSpPr>
        <p:spPr>
          <a:xfrm>
            <a:off x="913795" y="609600"/>
            <a:ext cx="10353761" cy="1326321"/>
          </a:xfrm>
        </p:spPr>
        <p:txBody>
          <a:bodyPr vert="horz" lIns="91440" tIns="45720" rIns="91440" bIns="45720" rtlCol="0" anchor="ctr">
            <a:normAutofit/>
          </a:bodyPr>
          <a:lstStyle/>
          <a:p>
            <a:r>
              <a:rPr lang="en-US" sz="3400" u="sng"/>
              <a:t>Profit Prediction explanation</a:t>
            </a:r>
            <a:r>
              <a:rPr lang="en-US" sz="3400"/>
              <a:t>. (taks1)</a:t>
            </a:r>
          </a:p>
        </p:txBody>
      </p:sp>
      <p:sp>
        <p:nvSpPr>
          <p:cNvPr id="3" name="Content Placeholder 2">
            <a:extLst>
              <a:ext uri="{FF2B5EF4-FFF2-40B4-BE49-F238E27FC236}">
                <a16:creationId xmlns:a16="http://schemas.microsoft.com/office/drawing/2014/main" id="{77D39BEE-2971-99D7-F595-1606561EDB83}"/>
              </a:ext>
            </a:extLst>
          </p:cNvPr>
          <p:cNvSpPr>
            <a:spLocks noGrp="1"/>
          </p:cNvSpPr>
          <p:nvPr>
            <p:ph idx="1"/>
          </p:nvPr>
        </p:nvSpPr>
        <p:spPr>
          <a:xfrm>
            <a:off x="913795" y="2096064"/>
            <a:ext cx="6352824" cy="3695136"/>
          </a:xfrm>
        </p:spPr>
        <p:txBody>
          <a:bodyPr vert="horz" lIns="91440" tIns="45720" rIns="91440" bIns="45720" rtlCol="0">
            <a:normAutofit/>
          </a:bodyPr>
          <a:lstStyle/>
          <a:p>
            <a:pPr>
              <a:lnSpc>
                <a:spcPct val="110000"/>
              </a:lnSpc>
            </a:pPr>
            <a:r>
              <a:rPr lang="en-US" u="sng"/>
              <a:t>Key Insights:</a:t>
            </a:r>
          </a:p>
          <a:p>
            <a:pPr marL="457200">
              <a:lnSpc>
                <a:spcPct val="110000"/>
              </a:lnSpc>
            </a:pPr>
            <a:r>
              <a:rPr lang="en-US"/>
              <a:t>R&amp;D spending is the most impactful drive of profit.</a:t>
            </a:r>
          </a:p>
          <a:p>
            <a:pPr marL="457200">
              <a:lnSpc>
                <a:spcPct val="110000"/>
              </a:lnSpc>
            </a:pPr>
            <a:r>
              <a:rPr lang="en-US"/>
              <a:t>Marketing contributes positively but with lower effectiveness.</a:t>
            </a:r>
          </a:p>
          <a:p>
            <a:pPr marL="457200">
              <a:lnSpc>
                <a:spcPct val="110000"/>
              </a:lnSpc>
            </a:pPr>
            <a:r>
              <a:rPr lang="en-US"/>
              <a:t>Administration spending has minimal influence.</a:t>
            </a:r>
          </a:p>
          <a:p>
            <a:pPr marL="0">
              <a:lnSpc>
                <a:spcPct val="110000"/>
              </a:lnSpc>
            </a:pPr>
            <a:r>
              <a:rPr lang="en-US"/>
              <a:t>Our regression model clearly shows that R&amp;D investment delivers the highest return on profit, while administrative expenses contribute the least.</a:t>
            </a:r>
          </a:p>
        </p:txBody>
      </p:sp>
      <p:sp>
        <p:nvSpPr>
          <p:cNvPr id="15" name="Rectangle 14">
            <a:extLst>
              <a:ext uri="{FF2B5EF4-FFF2-40B4-BE49-F238E27FC236}">
                <a16:creationId xmlns:a16="http://schemas.microsoft.com/office/drawing/2014/main" id="{D2EF6D05-E3C4-41B7-8746-9782FE1FD6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78736" y="2210935"/>
            <a:ext cx="3511778" cy="3493180"/>
          </a:xfrm>
          <a:prstGeom prst="rect">
            <a:avLst/>
          </a:prstGeom>
          <a:solidFill>
            <a:srgbClr val="FFFFFF"/>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5A430F1-BB70-0AC5-9651-272425400E68}"/>
              </a:ext>
            </a:extLst>
          </p:cNvPr>
          <p:cNvPicPr>
            <a:picLocks noChangeAspect="1"/>
          </p:cNvPicPr>
          <p:nvPr/>
        </p:nvPicPr>
        <p:blipFill>
          <a:blip r:embed="rId3"/>
          <a:srcRect r="8712" b="4"/>
          <a:stretch>
            <a:fillRect/>
          </a:stretch>
        </p:blipFill>
        <p:spPr>
          <a:xfrm>
            <a:off x="7815374" y="2348863"/>
            <a:ext cx="3217333" cy="1480305"/>
          </a:xfrm>
          <a:prstGeom prst="rect">
            <a:avLst/>
          </a:prstGeom>
        </p:spPr>
      </p:pic>
      <p:pic>
        <p:nvPicPr>
          <p:cNvPr id="6" name="Picture 5">
            <a:extLst>
              <a:ext uri="{FF2B5EF4-FFF2-40B4-BE49-F238E27FC236}">
                <a16:creationId xmlns:a16="http://schemas.microsoft.com/office/drawing/2014/main" id="{D755BF56-8CA7-0BD9-7CCC-46C529FABC35}"/>
              </a:ext>
            </a:extLst>
          </p:cNvPr>
          <p:cNvPicPr>
            <a:picLocks noChangeAspect="1"/>
          </p:cNvPicPr>
          <p:nvPr/>
        </p:nvPicPr>
        <p:blipFill>
          <a:blip r:embed="rId4"/>
          <a:srcRect l="17074" r="4" b="4"/>
          <a:stretch>
            <a:fillRect/>
          </a:stretch>
        </p:blipFill>
        <p:spPr>
          <a:xfrm>
            <a:off x="7815375" y="3990028"/>
            <a:ext cx="3217333" cy="1576160"/>
          </a:xfrm>
          <a:prstGeom prst="rect">
            <a:avLst/>
          </a:prstGeom>
        </p:spPr>
      </p:pic>
    </p:spTree>
    <p:extLst>
      <p:ext uri="{BB962C8B-B14F-4D97-AF65-F5344CB8AC3E}">
        <p14:creationId xmlns:p14="http://schemas.microsoft.com/office/powerpoint/2010/main" val="92962135"/>
      </p:ext>
    </p:extLst>
  </p:cSld>
  <p:clrMapOvr>
    <a:masterClrMapping/>
  </p:clrMapOvr>
  <mc:AlternateContent xmlns:mc="http://schemas.openxmlformats.org/markup-compatibility/2006" xmlns:p14="http://schemas.microsoft.com/office/powerpoint/2010/main">
    <mc:Choice Requires="p14">
      <p:transition spd="slow" p14:dur="2000" advTm="10806"/>
    </mc:Choice>
    <mc:Fallback xmlns="">
      <p:transition spd="slow" advTm="10806"/>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6C26D0D-3244-47AC-9EF0-A8554163E5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8B7C92-AA4C-78C4-745D-1133789D1E49}"/>
              </a:ext>
            </a:extLst>
          </p:cNvPr>
          <p:cNvSpPr>
            <a:spLocks noGrp="1"/>
          </p:cNvSpPr>
          <p:nvPr>
            <p:ph type="title"/>
          </p:nvPr>
        </p:nvSpPr>
        <p:spPr>
          <a:xfrm>
            <a:off x="913795" y="609600"/>
            <a:ext cx="10353761" cy="1326321"/>
          </a:xfrm>
        </p:spPr>
        <p:txBody>
          <a:bodyPr vert="horz" lIns="91440" tIns="45720" rIns="91440" bIns="45720" rtlCol="0" anchor="ctr">
            <a:normAutofit/>
          </a:bodyPr>
          <a:lstStyle/>
          <a:p>
            <a:r>
              <a:rPr lang="en-US" sz="3400" u="sng"/>
              <a:t>Expenditure by customer</a:t>
            </a:r>
            <a:r>
              <a:rPr lang="en-US" sz="3400"/>
              <a:t>. (Task 2)</a:t>
            </a:r>
          </a:p>
        </p:txBody>
      </p:sp>
      <p:sp>
        <p:nvSpPr>
          <p:cNvPr id="3" name="Content Placeholder 2">
            <a:extLst>
              <a:ext uri="{FF2B5EF4-FFF2-40B4-BE49-F238E27FC236}">
                <a16:creationId xmlns:a16="http://schemas.microsoft.com/office/drawing/2014/main" id="{A276974F-53D9-3EC8-44AF-7BB8F64EF8FD}"/>
              </a:ext>
            </a:extLst>
          </p:cNvPr>
          <p:cNvSpPr>
            <a:spLocks noGrp="1"/>
          </p:cNvSpPr>
          <p:nvPr>
            <p:ph idx="1"/>
          </p:nvPr>
        </p:nvSpPr>
        <p:spPr>
          <a:xfrm>
            <a:off x="913795" y="2096064"/>
            <a:ext cx="6352824" cy="3695136"/>
          </a:xfrm>
        </p:spPr>
        <p:txBody>
          <a:bodyPr vert="horz" lIns="91440" tIns="45720" rIns="91440" bIns="45720" rtlCol="0">
            <a:normAutofit/>
          </a:bodyPr>
          <a:lstStyle/>
          <a:p>
            <a:pPr marL="457200">
              <a:lnSpc>
                <a:spcPct val="110000"/>
              </a:lnSpc>
            </a:pPr>
            <a:r>
              <a:rPr lang="en-US" sz="1600"/>
              <a:t>RD Expenditure: ₹ 23940.93</a:t>
            </a:r>
          </a:p>
          <a:p>
            <a:pPr marL="457200">
              <a:lnSpc>
                <a:spcPct val="110000"/>
              </a:lnSpc>
            </a:pPr>
            <a:r>
              <a:rPr lang="en-US" sz="1600"/>
              <a:t>Administration Expenditure: ₹ 96489.63</a:t>
            </a:r>
          </a:p>
          <a:p>
            <a:pPr marL="457200">
              <a:lnSpc>
                <a:spcPct val="110000"/>
              </a:lnSpc>
            </a:pPr>
            <a:r>
              <a:rPr lang="en-US" sz="1600"/>
              <a:t>Marketing expenditure: ₹ 137001.1</a:t>
            </a:r>
          </a:p>
          <a:p>
            <a:pPr marL="0">
              <a:lnSpc>
                <a:spcPct val="110000"/>
              </a:lnSpc>
            </a:pPr>
            <a:r>
              <a:rPr lang="en-US" sz="1600"/>
              <a:t>As per to the expenditure by the customer we can see that the total predicted profit is ₹ 26605.95059.</a:t>
            </a:r>
          </a:p>
          <a:p>
            <a:pPr marL="0">
              <a:lnSpc>
                <a:spcPct val="110000"/>
              </a:lnSpc>
            </a:pPr>
            <a:r>
              <a:rPr lang="en-US" sz="1600"/>
              <a:t>Upon checking the figure, here we can see that on RD customer has invested less as compare to administration and marketing. </a:t>
            </a:r>
          </a:p>
          <a:p>
            <a:pPr marL="0">
              <a:lnSpc>
                <a:spcPct val="110000"/>
              </a:lnSpc>
            </a:pPr>
            <a:endParaRPr lang="en-US" sz="1600"/>
          </a:p>
          <a:p>
            <a:pPr marL="0">
              <a:lnSpc>
                <a:spcPct val="110000"/>
              </a:lnSpc>
            </a:pPr>
            <a:r>
              <a:rPr lang="en-US" sz="1600"/>
              <a:t>Further we will check how investment impact on profit and which one will be more beneficial for the business.</a:t>
            </a:r>
          </a:p>
          <a:p>
            <a:pPr>
              <a:lnSpc>
                <a:spcPct val="110000"/>
              </a:lnSpc>
            </a:pPr>
            <a:endParaRPr lang="en-US" sz="1600"/>
          </a:p>
        </p:txBody>
      </p:sp>
      <p:sp>
        <p:nvSpPr>
          <p:cNvPr id="15" name="Rectangle 14">
            <a:extLst>
              <a:ext uri="{FF2B5EF4-FFF2-40B4-BE49-F238E27FC236}">
                <a16:creationId xmlns:a16="http://schemas.microsoft.com/office/drawing/2014/main" id="{D2EF6D05-E3C4-41B7-8746-9782FE1FD6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78736" y="2210935"/>
            <a:ext cx="3511778" cy="3493180"/>
          </a:xfrm>
          <a:prstGeom prst="rect">
            <a:avLst/>
          </a:prstGeom>
          <a:solidFill>
            <a:srgbClr val="FFFFFF"/>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43D27FF1-DABB-3F88-4845-9DC42CD7F34A}"/>
              </a:ext>
            </a:extLst>
          </p:cNvPr>
          <p:cNvPicPr>
            <a:picLocks noChangeAspect="1"/>
          </p:cNvPicPr>
          <p:nvPr/>
        </p:nvPicPr>
        <p:blipFill>
          <a:blip r:embed="rId3"/>
          <a:srcRect r="9032" b="4"/>
          <a:stretch>
            <a:fillRect/>
          </a:stretch>
        </p:blipFill>
        <p:spPr>
          <a:xfrm>
            <a:off x="7815374" y="2348863"/>
            <a:ext cx="3217333" cy="1480305"/>
          </a:xfrm>
          <a:prstGeom prst="rect">
            <a:avLst/>
          </a:prstGeom>
        </p:spPr>
      </p:pic>
      <p:pic>
        <p:nvPicPr>
          <p:cNvPr id="6" name="Picture 5">
            <a:extLst>
              <a:ext uri="{FF2B5EF4-FFF2-40B4-BE49-F238E27FC236}">
                <a16:creationId xmlns:a16="http://schemas.microsoft.com/office/drawing/2014/main" id="{6FE8DDFA-8868-984B-D91F-08A1AF140A59}"/>
              </a:ext>
            </a:extLst>
          </p:cNvPr>
          <p:cNvPicPr>
            <a:picLocks noChangeAspect="1"/>
          </p:cNvPicPr>
          <p:nvPr/>
        </p:nvPicPr>
        <p:blipFill>
          <a:blip r:embed="rId4"/>
          <a:srcRect r="7121" b="-3"/>
          <a:stretch>
            <a:fillRect/>
          </a:stretch>
        </p:blipFill>
        <p:spPr>
          <a:xfrm>
            <a:off x="7815375" y="3990028"/>
            <a:ext cx="3217333" cy="1576160"/>
          </a:xfrm>
          <a:prstGeom prst="rect">
            <a:avLst/>
          </a:prstGeom>
        </p:spPr>
      </p:pic>
    </p:spTree>
    <p:extLst>
      <p:ext uri="{BB962C8B-B14F-4D97-AF65-F5344CB8AC3E}">
        <p14:creationId xmlns:p14="http://schemas.microsoft.com/office/powerpoint/2010/main" val="1285641904"/>
      </p:ext>
    </p:extLst>
  </p:cSld>
  <p:clrMapOvr>
    <a:masterClrMapping/>
  </p:clrMapOvr>
  <mc:AlternateContent xmlns:mc="http://schemas.openxmlformats.org/markup-compatibility/2006" xmlns:p14="http://schemas.microsoft.com/office/powerpoint/2010/main">
    <mc:Choice Requires="p14">
      <p:transition spd="slow" p14:dur="2000" advTm="11341"/>
    </mc:Choice>
    <mc:Fallback xmlns="">
      <p:transition spd="slow" advTm="1134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1C8C1-7574-1920-F3A3-97707909F847}"/>
              </a:ext>
            </a:extLst>
          </p:cNvPr>
          <p:cNvSpPr>
            <a:spLocks noGrp="1"/>
          </p:cNvSpPr>
          <p:nvPr>
            <p:ph type="title"/>
          </p:nvPr>
        </p:nvSpPr>
        <p:spPr>
          <a:xfrm>
            <a:off x="917228" y="609600"/>
            <a:ext cx="3932237" cy="727587"/>
          </a:xfrm>
        </p:spPr>
        <p:txBody>
          <a:bodyPr>
            <a:normAutofit fontScale="90000"/>
          </a:bodyPr>
          <a:lstStyle/>
          <a:p>
            <a:r>
              <a:rPr lang="en-IN" u="sng" dirty="0"/>
              <a:t>Regression analysis </a:t>
            </a:r>
            <a:r>
              <a:rPr lang="en-IN" sz="1200" dirty="0"/>
              <a:t>(taks2).</a:t>
            </a:r>
            <a:endParaRPr lang="en-IN" dirty="0"/>
          </a:p>
        </p:txBody>
      </p:sp>
      <p:sp>
        <p:nvSpPr>
          <p:cNvPr id="3" name="Content Placeholder 2">
            <a:extLst>
              <a:ext uri="{FF2B5EF4-FFF2-40B4-BE49-F238E27FC236}">
                <a16:creationId xmlns:a16="http://schemas.microsoft.com/office/drawing/2014/main" id="{AE6F2800-257D-1A52-B23D-B487D8BC3584}"/>
              </a:ext>
            </a:extLst>
          </p:cNvPr>
          <p:cNvSpPr>
            <a:spLocks noGrp="1"/>
          </p:cNvSpPr>
          <p:nvPr>
            <p:ph idx="1"/>
          </p:nvPr>
        </p:nvSpPr>
        <p:spPr/>
        <p:txBody>
          <a:bodyPr>
            <a:normAutofit fontScale="92500" lnSpcReduction="20000"/>
          </a:bodyPr>
          <a:lstStyle/>
          <a:p>
            <a:pPr marL="0" indent="0">
              <a:buNone/>
            </a:pPr>
            <a:r>
              <a:rPr lang="en-IN" dirty="0"/>
              <a:t>R&amp;D Spend:</a:t>
            </a:r>
          </a:p>
          <a:p>
            <a:r>
              <a:rPr lang="en-IN" dirty="0"/>
              <a:t>Coefficient = 0.70</a:t>
            </a:r>
          </a:p>
          <a:p>
            <a:r>
              <a:rPr lang="en-IN" dirty="0"/>
              <a:t>P-value&lt;0.05</a:t>
            </a:r>
          </a:p>
          <a:p>
            <a:r>
              <a:rPr lang="en-IN" dirty="0">
                <a:effectLst/>
              </a:rPr>
              <a:t>✅ Statistically significant.</a:t>
            </a:r>
          </a:p>
          <a:p>
            <a:pPr marL="0" indent="0">
              <a:buNone/>
            </a:pPr>
            <a:r>
              <a:rPr lang="en-IN" dirty="0">
                <a:effectLst/>
              </a:rPr>
              <a:t>Marketing spend:</a:t>
            </a:r>
          </a:p>
          <a:p>
            <a:r>
              <a:rPr lang="en-IN" dirty="0">
                <a:effectLst/>
              </a:rPr>
              <a:t>Coefficient = 0.01</a:t>
            </a:r>
          </a:p>
          <a:p>
            <a:r>
              <a:rPr lang="en-IN" dirty="0">
                <a:effectLst/>
              </a:rPr>
              <a:t>P-value= 0.08</a:t>
            </a:r>
          </a:p>
          <a:p>
            <a:r>
              <a:rPr lang="en-IN" dirty="0">
                <a:effectLst/>
              </a:rPr>
              <a:t>✅ Statistically significant.</a:t>
            </a:r>
          </a:p>
          <a:p>
            <a:pPr marL="0" indent="0">
              <a:buNone/>
            </a:pPr>
            <a:r>
              <a:rPr lang="en-IN" dirty="0">
                <a:effectLst/>
              </a:rPr>
              <a:t>Administration Spend:</a:t>
            </a:r>
          </a:p>
          <a:p>
            <a:r>
              <a:rPr lang="en-IN" dirty="0">
                <a:effectLst/>
              </a:rPr>
              <a:t>Coefficient spend= 0.01</a:t>
            </a:r>
          </a:p>
          <a:p>
            <a:r>
              <a:rPr lang="en-IN" dirty="0">
                <a:effectLst/>
              </a:rPr>
              <a:t>P-value&gt;0.05</a:t>
            </a:r>
          </a:p>
          <a:p>
            <a:pPr marL="0" indent="0">
              <a:buNone/>
            </a:pPr>
            <a:r>
              <a:rPr lang="en-IN" dirty="0">
                <a:effectLst/>
              </a:rPr>
              <a:t>❌ Not statistically significant.</a:t>
            </a:r>
          </a:p>
          <a:p>
            <a:endParaRPr lang="en-IN" dirty="0"/>
          </a:p>
        </p:txBody>
      </p:sp>
      <p:pic>
        <p:nvPicPr>
          <p:cNvPr id="8" name="Picture 7">
            <a:extLst>
              <a:ext uri="{FF2B5EF4-FFF2-40B4-BE49-F238E27FC236}">
                <a16:creationId xmlns:a16="http://schemas.microsoft.com/office/drawing/2014/main" id="{AF886EF7-3044-4B02-FB99-59D65DD22BF0}"/>
              </a:ext>
            </a:extLst>
          </p:cNvPr>
          <p:cNvPicPr>
            <a:picLocks noChangeAspect="1"/>
          </p:cNvPicPr>
          <p:nvPr/>
        </p:nvPicPr>
        <p:blipFill>
          <a:blip r:embed="rId2"/>
          <a:stretch>
            <a:fillRect/>
          </a:stretch>
        </p:blipFill>
        <p:spPr>
          <a:xfrm>
            <a:off x="318706" y="1602464"/>
            <a:ext cx="4530759" cy="1826536"/>
          </a:xfrm>
          <a:prstGeom prst="rect">
            <a:avLst/>
          </a:prstGeom>
        </p:spPr>
      </p:pic>
      <p:pic>
        <p:nvPicPr>
          <p:cNvPr id="10" name="Picture 9">
            <a:extLst>
              <a:ext uri="{FF2B5EF4-FFF2-40B4-BE49-F238E27FC236}">
                <a16:creationId xmlns:a16="http://schemas.microsoft.com/office/drawing/2014/main" id="{DA426A65-4068-40E6-B50F-11032B745BA4}"/>
              </a:ext>
            </a:extLst>
          </p:cNvPr>
          <p:cNvPicPr>
            <a:picLocks noChangeAspect="1"/>
          </p:cNvPicPr>
          <p:nvPr/>
        </p:nvPicPr>
        <p:blipFill>
          <a:blip r:embed="rId3"/>
          <a:stretch>
            <a:fillRect/>
          </a:stretch>
        </p:blipFill>
        <p:spPr>
          <a:xfrm>
            <a:off x="212713" y="3892776"/>
            <a:ext cx="4636752" cy="814417"/>
          </a:xfrm>
          <a:prstGeom prst="rect">
            <a:avLst/>
          </a:prstGeom>
        </p:spPr>
      </p:pic>
    </p:spTree>
    <p:extLst>
      <p:ext uri="{BB962C8B-B14F-4D97-AF65-F5344CB8AC3E}">
        <p14:creationId xmlns:p14="http://schemas.microsoft.com/office/powerpoint/2010/main" val="4001825028"/>
      </p:ext>
    </p:extLst>
  </p:cSld>
  <p:clrMapOvr>
    <a:masterClrMapping/>
  </p:clrMapOvr>
  <mc:AlternateContent xmlns:mc="http://schemas.openxmlformats.org/markup-compatibility/2006" xmlns:p14="http://schemas.microsoft.com/office/powerpoint/2010/main">
    <mc:Choice Requires="p14">
      <p:transition spd="slow" p14:dur="2000" advTm="12361"/>
    </mc:Choice>
    <mc:Fallback xmlns="">
      <p:transition spd="slow" advTm="1236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6C26D0D-3244-47AC-9EF0-A8554163E5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153285-6773-41FC-0C26-2510D8D55547}"/>
              </a:ext>
            </a:extLst>
          </p:cNvPr>
          <p:cNvSpPr>
            <a:spLocks noGrp="1"/>
          </p:cNvSpPr>
          <p:nvPr>
            <p:ph type="title"/>
          </p:nvPr>
        </p:nvSpPr>
        <p:spPr>
          <a:xfrm>
            <a:off x="913795" y="609600"/>
            <a:ext cx="10353761" cy="1326321"/>
          </a:xfrm>
        </p:spPr>
        <p:txBody>
          <a:bodyPr vert="horz" lIns="91440" tIns="45720" rIns="91440" bIns="45720" rtlCol="0" anchor="ctr">
            <a:normAutofit/>
          </a:bodyPr>
          <a:lstStyle/>
          <a:p>
            <a:r>
              <a:rPr lang="en-US" sz="3400" u="sng"/>
              <a:t>Profit Prediction explanation</a:t>
            </a:r>
            <a:r>
              <a:rPr lang="en-US" sz="3400"/>
              <a:t>. (task 2)</a:t>
            </a:r>
          </a:p>
        </p:txBody>
      </p:sp>
      <p:sp>
        <p:nvSpPr>
          <p:cNvPr id="3" name="Content Placeholder 2">
            <a:extLst>
              <a:ext uri="{FF2B5EF4-FFF2-40B4-BE49-F238E27FC236}">
                <a16:creationId xmlns:a16="http://schemas.microsoft.com/office/drawing/2014/main" id="{F3F5046B-93D9-67CF-C115-42B7398C6267}"/>
              </a:ext>
            </a:extLst>
          </p:cNvPr>
          <p:cNvSpPr>
            <a:spLocks noGrp="1"/>
          </p:cNvSpPr>
          <p:nvPr>
            <p:ph idx="1"/>
          </p:nvPr>
        </p:nvSpPr>
        <p:spPr>
          <a:xfrm>
            <a:off x="913795" y="2096064"/>
            <a:ext cx="6352824" cy="3695136"/>
          </a:xfrm>
        </p:spPr>
        <p:txBody>
          <a:bodyPr vert="horz" lIns="91440" tIns="45720" rIns="91440" bIns="45720" rtlCol="0">
            <a:normAutofit/>
          </a:bodyPr>
          <a:lstStyle/>
          <a:p>
            <a:pPr>
              <a:lnSpc>
                <a:spcPct val="110000"/>
              </a:lnSpc>
            </a:pPr>
            <a:r>
              <a:rPr lang="en-US" sz="1600" u="sng"/>
              <a:t>Key Insights:</a:t>
            </a:r>
          </a:p>
          <a:p>
            <a:pPr marL="457200">
              <a:lnSpc>
                <a:spcPct val="110000"/>
              </a:lnSpc>
            </a:pPr>
            <a:r>
              <a:rPr lang="en-US" sz="1600"/>
              <a:t>R&amp;D spending is the most impactful drive of profit.</a:t>
            </a:r>
          </a:p>
          <a:p>
            <a:pPr marL="457200">
              <a:lnSpc>
                <a:spcPct val="110000"/>
              </a:lnSpc>
            </a:pPr>
            <a:r>
              <a:rPr lang="en-US" sz="1600"/>
              <a:t>Administration contributes positively but with lower effectiveness, the p value&gt; 0.05 it is not statistically significant.</a:t>
            </a:r>
          </a:p>
          <a:p>
            <a:pPr marL="457200">
              <a:lnSpc>
                <a:spcPct val="110000"/>
              </a:lnSpc>
            </a:pPr>
            <a:r>
              <a:rPr lang="en-US" sz="1600"/>
              <a:t>Marketing  spending has minimal influence, as p value is 0.08, we can keep this as option but not much effective on profit.</a:t>
            </a:r>
          </a:p>
          <a:p>
            <a:pPr marL="0">
              <a:lnSpc>
                <a:spcPct val="110000"/>
              </a:lnSpc>
            </a:pPr>
            <a:r>
              <a:rPr lang="en-US" sz="1600"/>
              <a:t>Our regression model clearly shows that R&amp;D investment delivers the highest return on profit, while administrative expenses contribute the least.</a:t>
            </a:r>
          </a:p>
          <a:p>
            <a:pPr>
              <a:lnSpc>
                <a:spcPct val="110000"/>
              </a:lnSpc>
            </a:pPr>
            <a:endParaRPr lang="en-US" sz="1600"/>
          </a:p>
        </p:txBody>
      </p:sp>
      <p:sp>
        <p:nvSpPr>
          <p:cNvPr id="15" name="Rectangle 14">
            <a:extLst>
              <a:ext uri="{FF2B5EF4-FFF2-40B4-BE49-F238E27FC236}">
                <a16:creationId xmlns:a16="http://schemas.microsoft.com/office/drawing/2014/main" id="{D2EF6D05-E3C4-41B7-8746-9782FE1FD6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78736" y="2210935"/>
            <a:ext cx="3511778" cy="3493180"/>
          </a:xfrm>
          <a:prstGeom prst="rect">
            <a:avLst/>
          </a:prstGeom>
          <a:solidFill>
            <a:srgbClr val="FFFFFF"/>
          </a:solidFill>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B7AEE67-C29C-93DA-8E19-FD0B479432FA}"/>
              </a:ext>
            </a:extLst>
          </p:cNvPr>
          <p:cNvPicPr>
            <a:picLocks noChangeAspect="1"/>
          </p:cNvPicPr>
          <p:nvPr/>
        </p:nvPicPr>
        <p:blipFill>
          <a:blip r:embed="rId3"/>
          <a:srcRect r="5808" b="3"/>
          <a:stretch>
            <a:fillRect/>
          </a:stretch>
        </p:blipFill>
        <p:spPr>
          <a:xfrm>
            <a:off x="7815374" y="2348863"/>
            <a:ext cx="3217333" cy="1480305"/>
          </a:xfrm>
          <a:prstGeom prst="rect">
            <a:avLst/>
          </a:prstGeom>
        </p:spPr>
      </p:pic>
      <p:pic>
        <p:nvPicPr>
          <p:cNvPr id="6" name="Picture 5">
            <a:extLst>
              <a:ext uri="{FF2B5EF4-FFF2-40B4-BE49-F238E27FC236}">
                <a16:creationId xmlns:a16="http://schemas.microsoft.com/office/drawing/2014/main" id="{2E211E17-7E4F-B905-1A54-9881FE888E0D}"/>
              </a:ext>
            </a:extLst>
          </p:cNvPr>
          <p:cNvPicPr>
            <a:picLocks noChangeAspect="1"/>
          </p:cNvPicPr>
          <p:nvPr/>
        </p:nvPicPr>
        <p:blipFill>
          <a:blip r:embed="rId4"/>
          <a:srcRect t="2685" r="5" b="8891"/>
          <a:stretch>
            <a:fillRect/>
          </a:stretch>
        </p:blipFill>
        <p:spPr>
          <a:xfrm>
            <a:off x="7815375" y="3990028"/>
            <a:ext cx="3217333" cy="1576160"/>
          </a:xfrm>
          <a:prstGeom prst="rect">
            <a:avLst/>
          </a:prstGeom>
        </p:spPr>
      </p:pic>
    </p:spTree>
    <p:extLst>
      <p:ext uri="{BB962C8B-B14F-4D97-AF65-F5344CB8AC3E}">
        <p14:creationId xmlns:p14="http://schemas.microsoft.com/office/powerpoint/2010/main" val="1238822491"/>
      </p:ext>
    </p:extLst>
  </p:cSld>
  <p:clrMapOvr>
    <a:masterClrMapping/>
  </p:clrMapOvr>
  <mc:AlternateContent xmlns:mc="http://schemas.openxmlformats.org/markup-compatibility/2006" xmlns:p14="http://schemas.microsoft.com/office/powerpoint/2010/main">
    <mc:Choice Requires="p14">
      <p:transition spd="slow" p14:dur="2000" advTm="12713"/>
    </mc:Choice>
    <mc:Fallback xmlns="">
      <p:transition spd="slow" advTm="12713"/>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76BBA50-25B1-6607-90A6-8B603A368E8A}"/>
              </a:ext>
            </a:extLst>
          </p:cNvPr>
          <p:cNvSpPr>
            <a:spLocks noGrp="1"/>
          </p:cNvSpPr>
          <p:nvPr>
            <p:ph type="ctrTitle"/>
          </p:nvPr>
        </p:nvSpPr>
        <p:spPr>
          <a:xfrm>
            <a:off x="1595269" y="1122363"/>
            <a:ext cx="9001462" cy="1237379"/>
          </a:xfrm>
        </p:spPr>
        <p:txBody>
          <a:bodyPr/>
          <a:lstStyle/>
          <a:p>
            <a:r>
              <a:rPr lang="en-IN" dirty="0"/>
              <a:t>Conclusion.</a:t>
            </a:r>
          </a:p>
        </p:txBody>
      </p:sp>
      <p:sp>
        <p:nvSpPr>
          <p:cNvPr id="6" name="Subtitle 5">
            <a:extLst>
              <a:ext uri="{FF2B5EF4-FFF2-40B4-BE49-F238E27FC236}">
                <a16:creationId xmlns:a16="http://schemas.microsoft.com/office/drawing/2014/main" id="{74EFC35F-6B31-E136-EF34-B5F06A00F156}"/>
              </a:ext>
            </a:extLst>
          </p:cNvPr>
          <p:cNvSpPr>
            <a:spLocks noGrp="1"/>
          </p:cNvSpPr>
          <p:nvPr>
            <p:ph type="subTitle" idx="1"/>
          </p:nvPr>
        </p:nvSpPr>
        <p:spPr>
          <a:xfrm>
            <a:off x="1595268" y="3602038"/>
            <a:ext cx="10085455" cy="1717214"/>
          </a:xfrm>
        </p:spPr>
        <p:txBody>
          <a:bodyPr/>
          <a:lstStyle/>
          <a:p>
            <a:r>
              <a:rPr lang="en-IN" dirty="0"/>
              <a:t>The analysis confirms that strategic spending, especially in R&amp;D, is the key of sustainable profit growth.</a:t>
            </a:r>
          </a:p>
        </p:txBody>
      </p:sp>
    </p:spTree>
    <p:extLst>
      <p:ext uri="{BB962C8B-B14F-4D97-AF65-F5344CB8AC3E}">
        <p14:creationId xmlns:p14="http://schemas.microsoft.com/office/powerpoint/2010/main" val="2342657003"/>
      </p:ext>
    </p:extLst>
  </p:cSld>
  <p:clrMapOvr>
    <a:masterClrMapping/>
  </p:clrMapOvr>
  <mc:AlternateContent xmlns:mc="http://schemas.openxmlformats.org/markup-compatibility/2006" xmlns:p14="http://schemas.microsoft.com/office/powerpoint/2010/main">
    <mc:Choice Requires="p14">
      <p:transition spd="slow" p14:dur="2000" advTm="9881"/>
    </mc:Choice>
    <mc:Fallback xmlns="">
      <p:transition spd="slow" advTm="9881"/>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2E7341-3722-E55D-B974-81C3578DFC54}"/>
              </a:ext>
            </a:extLst>
          </p:cNvPr>
          <p:cNvPicPr>
            <a:picLocks noChangeAspect="1"/>
          </p:cNvPicPr>
          <p:nvPr/>
        </p:nvPicPr>
        <p:blipFill>
          <a:blip r:embed="rId2"/>
          <a:stretch>
            <a:fillRect/>
          </a:stretch>
        </p:blipFill>
        <p:spPr>
          <a:xfrm>
            <a:off x="337646" y="167149"/>
            <a:ext cx="11516708" cy="6351639"/>
          </a:xfrm>
          <a:prstGeom prst="rect">
            <a:avLst/>
          </a:prstGeom>
        </p:spPr>
      </p:pic>
    </p:spTree>
    <p:extLst>
      <p:ext uri="{BB962C8B-B14F-4D97-AF65-F5344CB8AC3E}">
        <p14:creationId xmlns:p14="http://schemas.microsoft.com/office/powerpoint/2010/main" val="2589398417"/>
      </p:ext>
    </p:extLst>
  </p:cSld>
  <p:clrMapOvr>
    <a:masterClrMapping/>
  </p:clrMapOvr>
  <mc:AlternateContent xmlns:mc="http://schemas.openxmlformats.org/markup-compatibility/2006" xmlns:p14="http://schemas.microsoft.com/office/powerpoint/2010/main">
    <mc:Choice Requires="p14">
      <p:transition spd="slow" p14:dur="2000" advTm="7304"/>
    </mc:Choice>
    <mc:Fallback xmlns="">
      <p:transition spd="slow" advTm="7304"/>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815409-EF40-9EB4-8B8F-EFC34B878B97}"/>
              </a:ext>
            </a:extLst>
          </p:cNvPr>
          <p:cNvPicPr>
            <a:picLocks noChangeAspect="1"/>
          </p:cNvPicPr>
          <p:nvPr/>
        </p:nvPicPr>
        <p:blipFill>
          <a:blip r:embed="rId2"/>
          <a:stretch>
            <a:fillRect/>
          </a:stretch>
        </p:blipFill>
        <p:spPr>
          <a:xfrm>
            <a:off x="478055" y="185416"/>
            <a:ext cx="11235889" cy="6321848"/>
          </a:xfrm>
          <a:prstGeom prst="rect">
            <a:avLst/>
          </a:prstGeom>
        </p:spPr>
      </p:pic>
    </p:spTree>
    <p:extLst>
      <p:ext uri="{BB962C8B-B14F-4D97-AF65-F5344CB8AC3E}">
        <p14:creationId xmlns:p14="http://schemas.microsoft.com/office/powerpoint/2010/main" val="2371024357"/>
      </p:ext>
    </p:extLst>
  </p:cSld>
  <p:clrMapOvr>
    <a:masterClrMapping/>
  </p:clrMapOvr>
  <mc:AlternateContent xmlns:mc="http://schemas.openxmlformats.org/markup-compatibility/2006" xmlns:p14="http://schemas.microsoft.com/office/powerpoint/2010/main">
    <mc:Choice Requires="p14">
      <p:transition spd="slow" p14:dur="2000" advTm="6166"/>
    </mc:Choice>
    <mc:Fallback xmlns="">
      <p:transition spd="slow" advTm="6166"/>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EC3C5D-E8A2-2289-2F59-02E36B5551B2}"/>
              </a:ext>
            </a:extLst>
          </p:cNvPr>
          <p:cNvPicPr>
            <a:picLocks noChangeAspect="1"/>
          </p:cNvPicPr>
          <p:nvPr/>
        </p:nvPicPr>
        <p:blipFill>
          <a:blip r:embed="rId2"/>
          <a:stretch>
            <a:fillRect/>
          </a:stretch>
        </p:blipFill>
        <p:spPr>
          <a:xfrm>
            <a:off x="359272" y="247450"/>
            <a:ext cx="11272290" cy="6363100"/>
          </a:xfrm>
          <a:prstGeom prst="rect">
            <a:avLst/>
          </a:prstGeom>
        </p:spPr>
      </p:pic>
    </p:spTree>
    <p:extLst>
      <p:ext uri="{BB962C8B-B14F-4D97-AF65-F5344CB8AC3E}">
        <p14:creationId xmlns:p14="http://schemas.microsoft.com/office/powerpoint/2010/main" val="3952070724"/>
      </p:ext>
    </p:extLst>
  </p:cSld>
  <p:clrMapOvr>
    <a:masterClrMapping/>
  </p:clrMapOvr>
  <mc:AlternateContent xmlns:mc="http://schemas.openxmlformats.org/markup-compatibility/2006" xmlns:p14="http://schemas.microsoft.com/office/powerpoint/2010/main">
    <mc:Choice Requires="p14">
      <p:transition spd="slow" p14:dur="2000" advTm="6546"/>
    </mc:Choice>
    <mc:Fallback xmlns="">
      <p:transition spd="slow" advTm="6546"/>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D2957789-34B8-480C-AF9B-3EB54B9E5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A3F7EDC-E5B4-4BBC-9D2A-CBE6D46C37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Damask</Template>
  <TotalTime>3263</TotalTime>
  <Words>1003</Words>
  <Application>Microsoft Office PowerPoint</Application>
  <PresentationFormat>Widescreen</PresentationFormat>
  <Paragraphs>117</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Arial</vt:lpstr>
      <vt:lpstr>Bookman Old Style</vt:lpstr>
      <vt:lpstr>Calibri</vt:lpstr>
      <vt:lpstr>Courier New</vt:lpstr>
      <vt:lpstr>Rockwell</vt:lpstr>
      <vt:lpstr>Damask</vt:lpstr>
      <vt:lpstr>PRDA- 01 Profit Analysis.</vt:lpstr>
      <vt:lpstr>Capstone Project.</vt:lpstr>
      <vt:lpstr>Contents.</vt:lpstr>
      <vt:lpstr>Introduction.</vt:lpstr>
      <vt:lpstr>Dataset Overview.</vt:lpstr>
      <vt:lpstr>Regression analysis.</vt:lpstr>
      <vt:lpstr>KEY KPI and Matrices.</vt:lpstr>
      <vt:lpstr>Dashboards overview.</vt:lpstr>
      <vt:lpstr>Expenditure by customer. (Task 1)</vt:lpstr>
      <vt:lpstr>Regression analysis (Task1).</vt:lpstr>
      <vt:lpstr>Profit Prediction explanation. (taks1)</vt:lpstr>
      <vt:lpstr>Expenditure by customer. (Task 2)</vt:lpstr>
      <vt:lpstr>Regression analysis (taks2).</vt:lpstr>
      <vt:lpstr>Profit Prediction explanation. (task 2)</vt:lpstr>
      <vt:lpstr>Conclusion.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Darshana Pawar</dc:creator>
  <cp:lastModifiedBy>Darshana Pawar</cp:lastModifiedBy>
  <cp:revision>25</cp:revision>
  <dcterms:created xsi:type="dcterms:W3CDTF">2026-01-02T01:08:11Z</dcterms:created>
  <dcterms:modified xsi:type="dcterms:W3CDTF">2026-01-06T11:47:35Z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