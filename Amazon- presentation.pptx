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64" r:id="rId4"/>
  </p:sldMasterIdLst>
  <p:notesMasterIdLst>
    <p:notesMasterId r:id="rId19"/>
  </p:notesMasterIdLst>
  <p:handoutMasterIdLst>
    <p:handoutMasterId r:id="rId20"/>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75"/>
  </p:normalViewPr>
  <p:slideViewPr>
    <p:cSldViewPr snapToGrid="0" snapToObjects="1">
      <p:cViewPr varScale="1">
        <p:scale>
          <a:sx n="82" d="100"/>
          <a:sy n="82" d="100"/>
        </p:scale>
        <p:origin x="158" y="77"/>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FD5B44-62CF-4AB6-99F7-FD7FFA147BF0}"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60755103-72D1-488B-864F-8C1E40B82648}">
      <dgm:prSet/>
      <dgm:spPr/>
      <dgm:t>
        <a:bodyPr/>
        <a:lstStyle/>
        <a:p>
          <a:r>
            <a:rPr lang="en-IN"/>
            <a:t>1) Introduction.</a:t>
          </a:r>
          <a:endParaRPr lang="en-US"/>
        </a:p>
      </dgm:t>
    </dgm:pt>
    <dgm:pt modelId="{725434FE-F7CC-478D-AB6A-7D39E8510370}" type="parTrans" cxnId="{AC0EB1B5-E5D2-4903-A753-4177DB9BF97F}">
      <dgm:prSet/>
      <dgm:spPr/>
      <dgm:t>
        <a:bodyPr/>
        <a:lstStyle/>
        <a:p>
          <a:endParaRPr lang="en-US"/>
        </a:p>
      </dgm:t>
    </dgm:pt>
    <dgm:pt modelId="{7C298227-6AE9-404F-A79F-640F369E48F0}" type="sibTrans" cxnId="{AC0EB1B5-E5D2-4903-A753-4177DB9BF97F}">
      <dgm:prSet/>
      <dgm:spPr/>
      <dgm:t>
        <a:bodyPr/>
        <a:lstStyle/>
        <a:p>
          <a:endParaRPr lang="en-US"/>
        </a:p>
      </dgm:t>
    </dgm:pt>
    <dgm:pt modelId="{18235D9C-34D8-480F-A302-49599719731B}">
      <dgm:prSet/>
      <dgm:spPr/>
      <dgm:t>
        <a:bodyPr/>
        <a:lstStyle/>
        <a:p>
          <a:r>
            <a:rPr lang="en-IN" dirty="0"/>
            <a:t>2) Tools used to perform analysis</a:t>
          </a:r>
          <a:endParaRPr lang="en-US" dirty="0"/>
        </a:p>
      </dgm:t>
    </dgm:pt>
    <dgm:pt modelId="{AB208C76-940B-498F-9C59-66DD3CAF9DAC}" type="parTrans" cxnId="{AC7E20D7-D8F7-40CE-9EC3-A60AB8DA63ED}">
      <dgm:prSet/>
      <dgm:spPr/>
      <dgm:t>
        <a:bodyPr/>
        <a:lstStyle/>
        <a:p>
          <a:endParaRPr lang="en-US"/>
        </a:p>
      </dgm:t>
    </dgm:pt>
    <dgm:pt modelId="{99FEE08C-E06B-4360-8BCE-99ACA11749E4}" type="sibTrans" cxnId="{AC7E20D7-D8F7-40CE-9EC3-A60AB8DA63ED}">
      <dgm:prSet/>
      <dgm:spPr/>
      <dgm:t>
        <a:bodyPr/>
        <a:lstStyle/>
        <a:p>
          <a:endParaRPr lang="en-US"/>
        </a:p>
      </dgm:t>
    </dgm:pt>
    <dgm:pt modelId="{FD8E962F-9089-4E16-82F4-143E9047831B}">
      <dgm:prSet/>
      <dgm:spPr/>
      <dgm:t>
        <a:bodyPr/>
        <a:lstStyle/>
        <a:p>
          <a:r>
            <a:rPr lang="en-IN"/>
            <a:t>3) EDA</a:t>
          </a:r>
          <a:endParaRPr lang="en-US"/>
        </a:p>
      </dgm:t>
    </dgm:pt>
    <dgm:pt modelId="{96531465-63C9-422F-94AC-0E7128315B70}" type="parTrans" cxnId="{68EB479F-5B13-49E5-A2A2-563DCD4F0909}">
      <dgm:prSet/>
      <dgm:spPr/>
      <dgm:t>
        <a:bodyPr/>
        <a:lstStyle/>
        <a:p>
          <a:endParaRPr lang="en-US"/>
        </a:p>
      </dgm:t>
    </dgm:pt>
    <dgm:pt modelId="{C7AEB35B-697B-402E-908E-F31DC19B6965}" type="sibTrans" cxnId="{68EB479F-5B13-49E5-A2A2-563DCD4F0909}">
      <dgm:prSet/>
      <dgm:spPr/>
      <dgm:t>
        <a:bodyPr/>
        <a:lstStyle/>
        <a:p>
          <a:endParaRPr lang="en-US"/>
        </a:p>
      </dgm:t>
    </dgm:pt>
    <dgm:pt modelId="{DC7E56AA-96F8-4860-8730-6D64C349B740}">
      <dgm:prSet/>
      <dgm:spPr/>
      <dgm:t>
        <a:bodyPr/>
        <a:lstStyle/>
        <a:p>
          <a:r>
            <a:rPr lang="en-IN"/>
            <a:t>4) Feature engineering</a:t>
          </a:r>
          <a:endParaRPr lang="en-US"/>
        </a:p>
      </dgm:t>
    </dgm:pt>
    <dgm:pt modelId="{0BAEC4FE-4781-4835-9C53-C5D15C1DCE8E}" type="parTrans" cxnId="{0E555AC9-2A17-4B00-8965-70404AE63484}">
      <dgm:prSet/>
      <dgm:spPr/>
      <dgm:t>
        <a:bodyPr/>
        <a:lstStyle/>
        <a:p>
          <a:endParaRPr lang="en-US"/>
        </a:p>
      </dgm:t>
    </dgm:pt>
    <dgm:pt modelId="{B7E37D0C-06A5-42D6-8895-AFF38A2766D1}" type="sibTrans" cxnId="{0E555AC9-2A17-4B00-8965-70404AE63484}">
      <dgm:prSet/>
      <dgm:spPr/>
      <dgm:t>
        <a:bodyPr/>
        <a:lstStyle/>
        <a:p>
          <a:endParaRPr lang="en-US"/>
        </a:p>
      </dgm:t>
    </dgm:pt>
    <dgm:pt modelId="{1773CDFF-B745-4CF3-BF15-1DB48FBE4E8E}">
      <dgm:prSet/>
      <dgm:spPr/>
      <dgm:t>
        <a:bodyPr/>
        <a:lstStyle/>
        <a:p>
          <a:r>
            <a:rPr lang="en-IN"/>
            <a:t>5) Dashboard Overview</a:t>
          </a:r>
          <a:endParaRPr lang="en-US"/>
        </a:p>
      </dgm:t>
    </dgm:pt>
    <dgm:pt modelId="{7ED9FECF-0308-403D-84C1-925FA1FC8C82}" type="parTrans" cxnId="{B7ABF963-F2A3-402A-8DC6-AC2E1D089E1F}">
      <dgm:prSet/>
      <dgm:spPr/>
      <dgm:t>
        <a:bodyPr/>
        <a:lstStyle/>
        <a:p>
          <a:endParaRPr lang="en-US"/>
        </a:p>
      </dgm:t>
    </dgm:pt>
    <dgm:pt modelId="{3956A72F-7231-4F1A-AD54-18FCAE6DD967}" type="sibTrans" cxnId="{B7ABF963-F2A3-402A-8DC6-AC2E1D089E1F}">
      <dgm:prSet/>
      <dgm:spPr/>
      <dgm:t>
        <a:bodyPr/>
        <a:lstStyle/>
        <a:p>
          <a:endParaRPr lang="en-US"/>
        </a:p>
      </dgm:t>
    </dgm:pt>
    <dgm:pt modelId="{14A6EBE0-165B-4BCC-9747-576D64E0E5AF}">
      <dgm:prSet/>
      <dgm:spPr/>
      <dgm:t>
        <a:bodyPr/>
        <a:lstStyle/>
        <a:p>
          <a:r>
            <a:rPr lang="en-IN"/>
            <a:t>6) Delivery Person Performance</a:t>
          </a:r>
          <a:endParaRPr lang="en-US"/>
        </a:p>
      </dgm:t>
    </dgm:pt>
    <dgm:pt modelId="{31096A69-465E-4DE5-9DBF-A1529ED6F378}" type="parTrans" cxnId="{709629C5-353A-4B9F-B5FD-2346550C37CD}">
      <dgm:prSet/>
      <dgm:spPr/>
      <dgm:t>
        <a:bodyPr/>
        <a:lstStyle/>
        <a:p>
          <a:endParaRPr lang="en-US"/>
        </a:p>
      </dgm:t>
    </dgm:pt>
    <dgm:pt modelId="{9CF0E572-5FC2-4831-A893-1141EE0267A4}" type="sibTrans" cxnId="{709629C5-353A-4B9F-B5FD-2346550C37CD}">
      <dgm:prSet/>
      <dgm:spPr/>
      <dgm:t>
        <a:bodyPr/>
        <a:lstStyle/>
        <a:p>
          <a:endParaRPr lang="en-US"/>
        </a:p>
      </dgm:t>
    </dgm:pt>
    <dgm:pt modelId="{5380A573-617B-4E2E-8D83-D9D0050496C0}">
      <dgm:prSet/>
      <dgm:spPr/>
      <dgm:t>
        <a:bodyPr/>
        <a:lstStyle/>
        <a:p>
          <a:r>
            <a:rPr lang="en-IN"/>
            <a:t>7) Pickup and delivery Analysis</a:t>
          </a:r>
          <a:endParaRPr lang="en-US"/>
        </a:p>
      </dgm:t>
    </dgm:pt>
    <dgm:pt modelId="{14B44FC9-6142-4FAB-A316-288D9BF06220}" type="parTrans" cxnId="{63788D8B-17E0-4086-AE55-E8D33FB13841}">
      <dgm:prSet/>
      <dgm:spPr/>
      <dgm:t>
        <a:bodyPr/>
        <a:lstStyle/>
        <a:p>
          <a:endParaRPr lang="en-US"/>
        </a:p>
      </dgm:t>
    </dgm:pt>
    <dgm:pt modelId="{F88120AA-30AA-4BA0-8BC5-7474CA3F4983}" type="sibTrans" cxnId="{63788D8B-17E0-4086-AE55-E8D33FB13841}">
      <dgm:prSet/>
      <dgm:spPr/>
      <dgm:t>
        <a:bodyPr/>
        <a:lstStyle/>
        <a:p>
          <a:endParaRPr lang="en-US"/>
        </a:p>
      </dgm:t>
    </dgm:pt>
    <dgm:pt modelId="{23C4C188-B4B2-46D6-A117-806A11C3990C}">
      <dgm:prSet/>
      <dgm:spPr/>
      <dgm:t>
        <a:bodyPr/>
        <a:lstStyle/>
        <a:p>
          <a:r>
            <a:rPr lang="en-IN"/>
            <a:t>8) Conclusion</a:t>
          </a:r>
          <a:endParaRPr lang="en-US"/>
        </a:p>
      </dgm:t>
    </dgm:pt>
    <dgm:pt modelId="{D0831AA9-52B9-4524-99E5-D009DC7EA9E5}" type="parTrans" cxnId="{3EC7B353-FD01-4C1D-8A80-E101876ABAD7}">
      <dgm:prSet/>
      <dgm:spPr/>
      <dgm:t>
        <a:bodyPr/>
        <a:lstStyle/>
        <a:p>
          <a:endParaRPr lang="en-US"/>
        </a:p>
      </dgm:t>
    </dgm:pt>
    <dgm:pt modelId="{521F4288-0F55-42AE-A4E0-A3FDAA50D86C}" type="sibTrans" cxnId="{3EC7B353-FD01-4C1D-8A80-E101876ABAD7}">
      <dgm:prSet/>
      <dgm:spPr/>
      <dgm:t>
        <a:bodyPr/>
        <a:lstStyle/>
        <a:p>
          <a:endParaRPr lang="en-US"/>
        </a:p>
      </dgm:t>
    </dgm:pt>
    <dgm:pt modelId="{F7714E71-448A-4444-8168-E4A5D17DF723}" type="pres">
      <dgm:prSet presAssocID="{0FFD5B44-62CF-4AB6-99F7-FD7FFA147BF0}" presName="diagram" presStyleCnt="0">
        <dgm:presLayoutVars>
          <dgm:dir/>
          <dgm:resizeHandles val="exact"/>
        </dgm:presLayoutVars>
      </dgm:prSet>
      <dgm:spPr/>
    </dgm:pt>
    <dgm:pt modelId="{1FF505F7-499F-41C9-A757-57025858C67E}" type="pres">
      <dgm:prSet presAssocID="{60755103-72D1-488B-864F-8C1E40B82648}" presName="node" presStyleLbl="node1" presStyleIdx="0" presStyleCnt="8">
        <dgm:presLayoutVars>
          <dgm:bulletEnabled val="1"/>
        </dgm:presLayoutVars>
      </dgm:prSet>
      <dgm:spPr/>
    </dgm:pt>
    <dgm:pt modelId="{EFAFD481-ACB4-4EBF-BA7B-389AC5FEAF38}" type="pres">
      <dgm:prSet presAssocID="{7C298227-6AE9-404F-A79F-640F369E48F0}" presName="sibTrans" presStyleCnt="0"/>
      <dgm:spPr/>
    </dgm:pt>
    <dgm:pt modelId="{26FFC86A-B1F8-4A99-AC07-F4E466AE58B2}" type="pres">
      <dgm:prSet presAssocID="{18235D9C-34D8-480F-A302-49599719731B}" presName="node" presStyleLbl="node1" presStyleIdx="1" presStyleCnt="8">
        <dgm:presLayoutVars>
          <dgm:bulletEnabled val="1"/>
        </dgm:presLayoutVars>
      </dgm:prSet>
      <dgm:spPr/>
    </dgm:pt>
    <dgm:pt modelId="{0500AA3B-DE5E-40E5-A3B7-213932B67E69}" type="pres">
      <dgm:prSet presAssocID="{99FEE08C-E06B-4360-8BCE-99ACA11749E4}" presName="sibTrans" presStyleCnt="0"/>
      <dgm:spPr/>
    </dgm:pt>
    <dgm:pt modelId="{31341706-DF8D-4CF5-9582-F36F645DFA41}" type="pres">
      <dgm:prSet presAssocID="{FD8E962F-9089-4E16-82F4-143E9047831B}" presName="node" presStyleLbl="node1" presStyleIdx="2" presStyleCnt="8">
        <dgm:presLayoutVars>
          <dgm:bulletEnabled val="1"/>
        </dgm:presLayoutVars>
      </dgm:prSet>
      <dgm:spPr/>
    </dgm:pt>
    <dgm:pt modelId="{4BB251EB-B8C2-44FD-9EFA-1B47D6188C75}" type="pres">
      <dgm:prSet presAssocID="{C7AEB35B-697B-402E-908E-F31DC19B6965}" presName="sibTrans" presStyleCnt="0"/>
      <dgm:spPr/>
    </dgm:pt>
    <dgm:pt modelId="{78E98F32-D5A9-47A4-9610-2B5771A43B72}" type="pres">
      <dgm:prSet presAssocID="{DC7E56AA-96F8-4860-8730-6D64C349B740}" presName="node" presStyleLbl="node1" presStyleIdx="3" presStyleCnt="8">
        <dgm:presLayoutVars>
          <dgm:bulletEnabled val="1"/>
        </dgm:presLayoutVars>
      </dgm:prSet>
      <dgm:spPr/>
    </dgm:pt>
    <dgm:pt modelId="{14123865-556B-4F2E-99F1-E9A28ED2B0B7}" type="pres">
      <dgm:prSet presAssocID="{B7E37D0C-06A5-42D6-8895-AFF38A2766D1}" presName="sibTrans" presStyleCnt="0"/>
      <dgm:spPr/>
    </dgm:pt>
    <dgm:pt modelId="{772898DF-60B3-4B8C-9217-E65830EB0AFB}" type="pres">
      <dgm:prSet presAssocID="{1773CDFF-B745-4CF3-BF15-1DB48FBE4E8E}" presName="node" presStyleLbl="node1" presStyleIdx="4" presStyleCnt="8">
        <dgm:presLayoutVars>
          <dgm:bulletEnabled val="1"/>
        </dgm:presLayoutVars>
      </dgm:prSet>
      <dgm:spPr/>
    </dgm:pt>
    <dgm:pt modelId="{5D332880-9CC1-4B2E-9A22-E59D03A40C78}" type="pres">
      <dgm:prSet presAssocID="{3956A72F-7231-4F1A-AD54-18FCAE6DD967}" presName="sibTrans" presStyleCnt="0"/>
      <dgm:spPr/>
    </dgm:pt>
    <dgm:pt modelId="{B8F7D0FF-1D27-4C40-AA53-1C04119192F7}" type="pres">
      <dgm:prSet presAssocID="{14A6EBE0-165B-4BCC-9747-576D64E0E5AF}" presName="node" presStyleLbl="node1" presStyleIdx="5" presStyleCnt="8">
        <dgm:presLayoutVars>
          <dgm:bulletEnabled val="1"/>
        </dgm:presLayoutVars>
      </dgm:prSet>
      <dgm:spPr/>
    </dgm:pt>
    <dgm:pt modelId="{A381DF6F-9E69-4656-8120-5B7B262EEA98}" type="pres">
      <dgm:prSet presAssocID="{9CF0E572-5FC2-4831-A893-1141EE0267A4}" presName="sibTrans" presStyleCnt="0"/>
      <dgm:spPr/>
    </dgm:pt>
    <dgm:pt modelId="{156684B5-F798-49BF-89ED-5EF823F22395}" type="pres">
      <dgm:prSet presAssocID="{5380A573-617B-4E2E-8D83-D9D0050496C0}" presName="node" presStyleLbl="node1" presStyleIdx="6" presStyleCnt="8">
        <dgm:presLayoutVars>
          <dgm:bulletEnabled val="1"/>
        </dgm:presLayoutVars>
      </dgm:prSet>
      <dgm:spPr/>
    </dgm:pt>
    <dgm:pt modelId="{852F4C6E-ABE1-4697-9962-6F4029598BAC}" type="pres">
      <dgm:prSet presAssocID="{F88120AA-30AA-4BA0-8BC5-7474CA3F4983}" presName="sibTrans" presStyleCnt="0"/>
      <dgm:spPr/>
    </dgm:pt>
    <dgm:pt modelId="{4FAD2457-0DC3-439F-B52F-6D249ADDADD1}" type="pres">
      <dgm:prSet presAssocID="{23C4C188-B4B2-46D6-A117-806A11C3990C}" presName="node" presStyleLbl="node1" presStyleIdx="7" presStyleCnt="8">
        <dgm:presLayoutVars>
          <dgm:bulletEnabled val="1"/>
        </dgm:presLayoutVars>
      </dgm:prSet>
      <dgm:spPr/>
    </dgm:pt>
  </dgm:ptLst>
  <dgm:cxnLst>
    <dgm:cxn modelId="{B07C7401-1B3A-4D3B-8DC4-4D042B8063FC}" type="presOf" srcId="{18235D9C-34D8-480F-A302-49599719731B}" destId="{26FFC86A-B1F8-4A99-AC07-F4E466AE58B2}" srcOrd="0" destOrd="0" presId="urn:microsoft.com/office/officeart/2005/8/layout/default"/>
    <dgm:cxn modelId="{B2B04C32-3BFA-40A8-8802-D9CFEFEF0028}" type="presOf" srcId="{5380A573-617B-4E2E-8D83-D9D0050496C0}" destId="{156684B5-F798-49BF-89ED-5EF823F22395}" srcOrd="0" destOrd="0" presId="urn:microsoft.com/office/officeart/2005/8/layout/default"/>
    <dgm:cxn modelId="{27DEF638-E515-4B3D-90FF-B6CE33993A7B}" type="presOf" srcId="{FD8E962F-9089-4E16-82F4-143E9047831B}" destId="{31341706-DF8D-4CF5-9582-F36F645DFA41}" srcOrd="0" destOrd="0" presId="urn:microsoft.com/office/officeart/2005/8/layout/default"/>
    <dgm:cxn modelId="{9176073A-B1E0-4C7F-8D08-431E4C9F3739}" type="presOf" srcId="{0FFD5B44-62CF-4AB6-99F7-FD7FFA147BF0}" destId="{F7714E71-448A-4444-8168-E4A5D17DF723}" srcOrd="0" destOrd="0" presId="urn:microsoft.com/office/officeart/2005/8/layout/default"/>
    <dgm:cxn modelId="{B7ABF963-F2A3-402A-8DC6-AC2E1D089E1F}" srcId="{0FFD5B44-62CF-4AB6-99F7-FD7FFA147BF0}" destId="{1773CDFF-B745-4CF3-BF15-1DB48FBE4E8E}" srcOrd="4" destOrd="0" parTransId="{7ED9FECF-0308-403D-84C1-925FA1FC8C82}" sibTransId="{3956A72F-7231-4F1A-AD54-18FCAE6DD967}"/>
    <dgm:cxn modelId="{A9E38B6F-76AA-4CEC-9D09-A71390A6E02A}" type="presOf" srcId="{1773CDFF-B745-4CF3-BF15-1DB48FBE4E8E}" destId="{772898DF-60B3-4B8C-9217-E65830EB0AFB}" srcOrd="0" destOrd="0" presId="urn:microsoft.com/office/officeart/2005/8/layout/default"/>
    <dgm:cxn modelId="{3EC7B353-FD01-4C1D-8A80-E101876ABAD7}" srcId="{0FFD5B44-62CF-4AB6-99F7-FD7FFA147BF0}" destId="{23C4C188-B4B2-46D6-A117-806A11C3990C}" srcOrd="7" destOrd="0" parTransId="{D0831AA9-52B9-4524-99E5-D009DC7EA9E5}" sibTransId="{521F4288-0F55-42AE-A4E0-A3FDAA50D86C}"/>
    <dgm:cxn modelId="{63788D8B-17E0-4086-AE55-E8D33FB13841}" srcId="{0FFD5B44-62CF-4AB6-99F7-FD7FFA147BF0}" destId="{5380A573-617B-4E2E-8D83-D9D0050496C0}" srcOrd="6" destOrd="0" parTransId="{14B44FC9-6142-4FAB-A316-288D9BF06220}" sibTransId="{F88120AA-30AA-4BA0-8BC5-7474CA3F4983}"/>
    <dgm:cxn modelId="{68EB479F-5B13-49E5-A2A2-563DCD4F0909}" srcId="{0FFD5B44-62CF-4AB6-99F7-FD7FFA147BF0}" destId="{FD8E962F-9089-4E16-82F4-143E9047831B}" srcOrd="2" destOrd="0" parTransId="{96531465-63C9-422F-94AC-0E7128315B70}" sibTransId="{C7AEB35B-697B-402E-908E-F31DC19B6965}"/>
    <dgm:cxn modelId="{AC0EB1B5-E5D2-4903-A753-4177DB9BF97F}" srcId="{0FFD5B44-62CF-4AB6-99F7-FD7FFA147BF0}" destId="{60755103-72D1-488B-864F-8C1E40B82648}" srcOrd="0" destOrd="0" parTransId="{725434FE-F7CC-478D-AB6A-7D39E8510370}" sibTransId="{7C298227-6AE9-404F-A79F-640F369E48F0}"/>
    <dgm:cxn modelId="{1D36FEB6-64AD-42D2-9B47-44EA2910993D}" type="presOf" srcId="{DC7E56AA-96F8-4860-8730-6D64C349B740}" destId="{78E98F32-D5A9-47A4-9610-2B5771A43B72}" srcOrd="0" destOrd="0" presId="urn:microsoft.com/office/officeart/2005/8/layout/default"/>
    <dgm:cxn modelId="{709629C5-353A-4B9F-B5FD-2346550C37CD}" srcId="{0FFD5B44-62CF-4AB6-99F7-FD7FFA147BF0}" destId="{14A6EBE0-165B-4BCC-9747-576D64E0E5AF}" srcOrd="5" destOrd="0" parTransId="{31096A69-465E-4DE5-9DBF-A1529ED6F378}" sibTransId="{9CF0E572-5FC2-4831-A893-1141EE0267A4}"/>
    <dgm:cxn modelId="{0E555AC9-2A17-4B00-8965-70404AE63484}" srcId="{0FFD5B44-62CF-4AB6-99F7-FD7FFA147BF0}" destId="{DC7E56AA-96F8-4860-8730-6D64C349B740}" srcOrd="3" destOrd="0" parTransId="{0BAEC4FE-4781-4835-9C53-C5D15C1DCE8E}" sibTransId="{B7E37D0C-06A5-42D6-8895-AFF38A2766D1}"/>
    <dgm:cxn modelId="{AC7E20D7-D8F7-40CE-9EC3-A60AB8DA63ED}" srcId="{0FFD5B44-62CF-4AB6-99F7-FD7FFA147BF0}" destId="{18235D9C-34D8-480F-A302-49599719731B}" srcOrd="1" destOrd="0" parTransId="{AB208C76-940B-498F-9C59-66DD3CAF9DAC}" sibTransId="{99FEE08C-E06B-4360-8BCE-99ACA11749E4}"/>
    <dgm:cxn modelId="{903496E1-16B8-4BC5-9DC0-16FADE01F374}" type="presOf" srcId="{14A6EBE0-165B-4BCC-9747-576D64E0E5AF}" destId="{B8F7D0FF-1D27-4C40-AA53-1C04119192F7}" srcOrd="0" destOrd="0" presId="urn:microsoft.com/office/officeart/2005/8/layout/default"/>
    <dgm:cxn modelId="{6F1AB4E1-3CA4-4E94-8381-AB27515FDBCD}" type="presOf" srcId="{23C4C188-B4B2-46D6-A117-806A11C3990C}" destId="{4FAD2457-0DC3-439F-B52F-6D249ADDADD1}" srcOrd="0" destOrd="0" presId="urn:microsoft.com/office/officeart/2005/8/layout/default"/>
    <dgm:cxn modelId="{72862FE5-E27E-4D6D-9B87-91AFB8333D8E}" type="presOf" srcId="{60755103-72D1-488B-864F-8C1E40B82648}" destId="{1FF505F7-499F-41C9-A757-57025858C67E}" srcOrd="0" destOrd="0" presId="urn:microsoft.com/office/officeart/2005/8/layout/default"/>
    <dgm:cxn modelId="{8AA143B4-1240-4B5A-AC46-284420BAB966}" type="presParOf" srcId="{F7714E71-448A-4444-8168-E4A5D17DF723}" destId="{1FF505F7-499F-41C9-A757-57025858C67E}" srcOrd="0" destOrd="0" presId="urn:microsoft.com/office/officeart/2005/8/layout/default"/>
    <dgm:cxn modelId="{977362F9-E011-4D44-AF6D-A591DC7E571F}" type="presParOf" srcId="{F7714E71-448A-4444-8168-E4A5D17DF723}" destId="{EFAFD481-ACB4-4EBF-BA7B-389AC5FEAF38}" srcOrd="1" destOrd="0" presId="urn:microsoft.com/office/officeart/2005/8/layout/default"/>
    <dgm:cxn modelId="{3FC708F9-EDF4-4443-BF44-AB907A8DCF22}" type="presParOf" srcId="{F7714E71-448A-4444-8168-E4A5D17DF723}" destId="{26FFC86A-B1F8-4A99-AC07-F4E466AE58B2}" srcOrd="2" destOrd="0" presId="urn:microsoft.com/office/officeart/2005/8/layout/default"/>
    <dgm:cxn modelId="{8AC30E8D-9FB4-4BCB-9DEF-0F84817B291A}" type="presParOf" srcId="{F7714E71-448A-4444-8168-E4A5D17DF723}" destId="{0500AA3B-DE5E-40E5-A3B7-213932B67E69}" srcOrd="3" destOrd="0" presId="urn:microsoft.com/office/officeart/2005/8/layout/default"/>
    <dgm:cxn modelId="{E11855B3-3C51-4791-96AF-409CB125ED8A}" type="presParOf" srcId="{F7714E71-448A-4444-8168-E4A5D17DF723}" destId="{31341706-DF8D-4CF5-9582-F36F645DFA41}" srcOrd="4" destOrd="0" presId="urn:microsoft.com/office/officeart/2005/8/layout/default"/>
    <dgm:cxn modelId="{9544CB7F-8CF2-40F9-AF92-1D4E831B4044}" type="presParOf" srcId="{F7714E71-448A-4444-8168-E4A5D17DF723}" destId="{4BB251EB-B8C2-44FD-9EFA-1B47D6188C75}" srcOrd="5" destOrd="0" presId="urn:microsoft.com/office/officeart/2005/8/layout/default"/>
    <dgm:cxn modelId="{615EB761-39DD-44D9-B15F-D812125F54C4}" type="presParOf" srcId="{F7714E71-448A-4444-8168-E4A5D17DF723}" destId="{78E98F32-D5A9-47A4-9610-2B5771A43B72}" srcOrd="6" destOrd="0" presId="urn:microsoft.com/office/officeart/2005/8/layout/default"/>
    <dgm:cxn modelId="{1938B1D4-F3F2-4764-8052-1F77A5BE0436}" type="presParOf" srcId="{F7714E71-448A-4444-8168-E4A5D17DF723}" destId="{14123865-556B-4F2E-99F1-E9A28ED2B0B7}" srcOrd="7" destOrd="0" presId="urn:microsoft.com/office/officeart/2005/8/layout/default"/>
    <dgm:cxn modelId="{DE235765-A8FE-4D99-8FAB-139182CAF7B5}" type="presParOf" srcId="{F7714E71-448A-4444-8168-E4A5D17DF723}" destId="{772898DF-60B3-4B8C-9217-E65830EB0AFB}" srcOrd="8" destOrd="0" presId="urn:microsoft.com/office/officeart/2005/8/layout/default"/>
    <dgm:cxn modelId="{ECF0627A-ECA8-4D16-ACD2-2C1F1B44D47B}" type="presParOf" srcId="{F7714E71-448A-4444-8168-E4A5D17DF723}" destId="{5D332880-9CC1-4B2E-9A22-E59D03A40C78}" srcOrd="9" destOrd="0" presId="urn:microsoft.com/office/officeart/2005/8/layout/default"/>
    <dgm:cxn modelId="{D88C25E9-D554-4D27-BE95-6361CCA9E6A7}" type="presParOf" srcId="{F7714E71-448A-4444-8168-E4A5D17DF723}" destId="{B8F7D0FF-1D27-4C40-AA53-1C04119192F7}" srcOrd="10" destOrd="0" presId="urn:microsoft.com/office/officeart/2005/8/layout/default"/>
    <dgm:cxn modelId="{1FE05AF9-226B-4F75-B5BD-64AB17A7976B}" type="presParOf" srcId="{F7714E71-448A-4444-8168-E4A5D17DF723}" destId="{A381DF6F-9E69-4656-8120-5B7B262EEA98}" srcOrd="11" destOrd="0" presId="urn:microsoft.com/office/officeart/2005/8/layout/default"/>
    <dgm:cxn modelId="{865583BE-A192-4F90-9606-2382F3BD0E04}" type="presParOf" srcId="{F7714E71-448A-4444-8168-E4A5D17DF723}" destId="{156684B5-F798-49BF-89ED-5EF823F22395}" srcOrd="12" destOrd="0" presId="urn:microsoft.com/office/officeart/2005/8/layout/default"/>
    <dgm:cxn modelId="{7EC9E31F-969F-4E91-8A53-2745072023D8}" type="presParOf" srcId="{F7714E71-448A-4444-8168-E4A5D17DF723}" destId="{852F4C6E-ABE1-4697-9962-6F4029598BAC}" srcOrd="13" destOrd="0" presId="urn:microsoft.com/office/officeart/2005/8/layout/default"/>
    <dgm:cxn modelId="{76255E52-EB15-4945-9572-0AC40288F08F}" type="presParOf" srcId="{F7714E71-448A-4444-8168-E4A5D17DF723}" destId="{4FAD2457-0DC3-439F-B52F-6D249ADDADD1}"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F505F7-499F-41C9-A757-57025858C67E}">
      <dsp:nvSpPr>
        <dsp:cNvPr id="0" name=""/>
        <dsp:cNvSpPr/>
      </dsp:nvSpPr>
      <dsp:spPr>
        <a:xfrm>
          <a:off x="0" y="300818"/>
          <a:ext cx="1537505" cy="922503"/>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1) Introduction.</a:t>
          </a:r>
          <a:endParaRPr lang="en-US" sz="1700" kern="1200"/>
        </a:p>
      </dsp:txBody>
      <dsp:txXfrm>
        <a:off x="0" y="300818"/>
        <a:ext cx="1537505" cy="922503"/>
      </dsp:txXfrm>
    </dsp:sp>
    <dsp:sp modelId="{26FFC86A-B1F8-4A99-AC07-F4E466AE58B2}">
      <dsp:nvSpPr>
        <dsp:cNvPr id="0" name=""/>
        <dsp:cNvSpPr/>
      </dsp:nvSpPr>
      <dsp:spPr>
        <a:xfrm>
          <a:off x="1691256" y="300818"/>
          <a:ext cx="1537505" cy="922503"/>
        </a:xfrm>
        <a:prstGeom prst="rect">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2) Tools used to perform analysis</a:t>
          </a:r>
          <a:endParaRPr lang="en-US" sz="1700" kern="1200" dirty="0"/>
        </a:p>
      </dsp:txBody>
      <dsp:txXfrm>
        <a:off x="1691256" y="300818"/>
        <a:ext cx="1537505" cy="922503"/>
      </dsp:txXfrm>
    </dsp:sp>
    <dsp:sp modelId="{31341706-DF8D-4CF5-9582-F36F645DFA41}">
      <dsp:nvSpPr>
        <dsp:cNvPr id="0" name=""/>
        <dsp:cNvSpPr/>
      </dsp:nvSpPr>
      <dsp:spPr>
        <a:xfrm>
          <a:off x="3382513" y="300818"/>
          <a:ext cx="1537505" cy="922503"/>
        </a:xfrm>
        <a:prstGeom prst="rect">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3) EDA</a:t>
          </a:r>
          <a:endParaRPr lang="en-US" sz="1700" kern="1200"/>
        </a:p>
      </dsp:txBody>
      <dsp:txXfrm>
        <a:off x="3382513" y="300818"/>
        <a:ext cx="1537505" cy="922503"/>
      </dsp:txXfrm>
    </dsp:sp>
    <dsp:sp modelId="{78E98F32-D5A9-47A4-9610-2B5771A43B72}">
      <dsp:nvSpPr>
        <dsp:cNvPr id="0" name=""/>
        <dsp:cNvSpPr/>
      </dsp:nvSpPr>
      <dsp:spPr>
        <a:xfrm>
          <a:off x="0" y="1377072"/>
          <a:ext cx="1537505" cy="922503"/>
        </a:xfrm>
        <a:prstGeom prst="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4) Feature engineering</a:t>
          </a:r>
          <a:endParaRPr lang="en-US" sz="1700" kern="1200"/>
        </a:p>
      </dsp:txBody>
      <dsp:txXfrm>
        <a:off x="0" y="1377072"/>
        <a:ext cx="1537505" cy="922503"/>
      </dsp:txXfrm>
    </dsp:sp>
    <dsp:sp modelId="{772898DF-60B3-4B8C-9217-E65830EB0AFB}">
      <dsp:nvSpPr>
        <dsp:cNvPr id="0" name=""/>
        <dsp:cNvSpPr/>
      </dsp:nvSpPr>
      <dsp:spPr>
        <a:xfrm>
          <a:off x="1691256" y="1377072"/>
          <a:ext cx="1537505" cy="922503"/>
        </a:xfrm>
        <a:prstGeom prst="rect">
          <a:avLst/>
        </a:prstGeom>
        <a:gradFill rotWithShape="0">
          <a:gsLst>
            <a:gs pos="0">
              <a:schemeClr val="accent6">
                <a:hueOff val="0"/>
                <a:satOff val="0"/>
                <a:lumOff val="0"/>
                <a:alphaOff val="0"/>
                <a:tint val="96000"/>
                <a:lumMod val="104000"/>
              </a:schemeClr>
            </a:gs>
            <a:gs pos="100000">
              <a:schemeClr val="accent6">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5) Dashboard Overview</a:t>
          </a:r>
          <a:endParaRPr lang="en-US" sz="1700" kern="1200"/>
        </a:p>
      </dsp:txBody>
      <dsp:txXfrm>
        <a:off x="1691256" y="1377072"/>
        <a:ext cx="1537505" cy="922503"/>
      </dsp:txXfrm>
    </dsp:sp>
    <dsp:sp modelId="{B8F7D0FF-1D27-4C40-AA53-1C04119192F7}">
      <dsp:nvSpPr>
        <dsp:cNvPr id="0" name=""/>
        <dsp:cNvSpPr/>
      </dsp:nvSpPr>
      <dsp:spPr>
        <a:xfrm>
          <a:off x="3382513" y="1377072"/>
          <a:ext cx="1537505" cy="922503"/>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6) Delivery Person Performance</a:t>
          </a:r>
          <a:endParaRPr lang="en-US" sz="1700" kern="1200"/>
        </a:p>
      </dsp:txBody>
      <dsp:txXfrm>
        <a:off x="3382513" y="1377072"/>
        <a:ext cx="1537505" cy="922503"/>
      </dsp:txXfrm>
    </dsp:sp>
    <dsp:sp modelId="{156684B5-F798-49BF-89ED-5EF823F22395}">
      <dsp:nvSpPr>
        <dsp:cNvPr id="0" name=""/>
        <dsp:cNvSpPr/>
      </dsp:nvSpPr>
      <dsp:spPr>
        <a:xfrm>
          <a:off x="845628" y="2453326"/>
          <a:ext cx="1537505" cy="922503"/>
        </a:xfrm>
        <a:prstGeom prst="rect">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7) Pickup and delivery Analysis</a:t>
          </a:r>
          <a:endParaRPr lang="en-US" sz="1700" kern="1200"/>
        </a:p>
      </dsp:txBody>
      <dsp:txXfrm>
        <a:off x="845628" y="2453326"/>
        <a:ext cx="1537505" cy="922503"/>
      </dsp:txXfrm>
    </dsp:sp>
    <dsp:sp modelId="{4FAD2457-0DC3-439F-B52F-6D249ADDADD1}">
      <dsp:nvSpPr>
        <dsp:cNvPr id="0" name=""/>
        <dsp:cNvSpPr/>
      </dsp:nvSpPr>
      <dsp:spPr>
        <a:xfrm>
          <a:off x="2536884" y="2453326"/>
          <a:ext cx="1537505" cy="922503"/>
        </a:xfrm>
        <a:prstGeom prst="rect">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8) Conclusion</a:t>
          </a:r>
          <a:endParaRPr lang="en-US" sz="1700" kern="1200"/>
        </a:p>
      </dsp:txBody>
      <dsp:txXfrm>
        <a:off x="2536884" y="2453326"/>
        <a:ext cx="1537505" cy="92250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663F-0F71-4941-839F-4D376A50B1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C142CB8-EC67-47AC-810C-39EACC3AA5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1F8F58-3262-4466-8DB1-B329F63F404F}" type="datetimeFigureOut">
              <a:rPr lang="en-US" smtClean="0"/>
              <a:t>8/10/2026</a:t>
            </a:fld>
            <a:endParaRPr lang="en-US" dirty="0"/>
          </a:p>
        </p:txBody>
      </p:sp>
      <p:sp>
        <p:nvSpPr>
          <p:cNvPr id="4" name="Footer Placeholder 3">
            <a:extLst>
              <a:ext uri="{FF2B5EF4-FFF2-40B4-BE49-F238E27FC236}">
                <a16:creationId xmlns:a16="http://schemas.microsoft.com/office/drawing/2014/main" id="{87EB2D2D-60E4-477E-84AF-48DE5C24FA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5F6F142-CFE2-4AA2-8A1E-CADC565C24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F595F6-1BED-4F30-933F-F0CD66CEE780}" type="slidenum">
              <a:rPr lang="en-US" smtClean="0"/>
              <a:t>‹#›</a:t>
            </a:fld>
            <a:endParaRPr lang="en-US" dirty="0"/>
          </a:p>
        </p:txBody>
      </p:sp>
    </p:spTree>
    <p:extLst>
      <p:ext uri="{BB962C8B-B14F-4D97-AF65-F5344CB8AC3E}">
        <p14:creationId xmlns:p14="http://schemas.microsoft.com/office/powerpoint/2010/main" val="3501541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CF71C-E8D2-4E49-B04C-B160BC17D861}" type="datetimeFigureOut">
              <a:rPr lang="en-US" smtClean="0"/>
              <a:t>8/10/2026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D76E09-41B7-FE4E-B099-04DFD58B8CF1}" type="slidenum">
              <a:rPr lang="en-US" smtClean="0"/>
              <a:t>‹#›</a:t>
            </a:fld>
            <a:endParaRPr lang="en-US" dirty="0"/>
          </a:p>
        </p:txBody>
      </p:sp>
    </p:spTree>
    <p:extLst>
      <p:ext uri="{BB962C8B-B14F-4D97-AF65-F5344CB8AC3E}">
        <p14:creationId xmlns:p14="http://schemas.microsoft.com/office/powerpoint/2010/main" val="1629511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D76E09-41B7-FE4E-B099-04DFD58B8CF1}" type="slidenum">
              <a:rPr lang="en-US" smtClean="0"/>
              <a:t>1</a:t>
            </a:fld>
            <a:endParaRPr lang="en-US" dirty="0"/>
          </a:p>
        </p:txBody>
      </p:sp>
    </p:spTree>
    <p:extLst>
      <p:ext uri="{BB962C8B-B14F-4D97-AF65-F5344CB8AC3E}">
        <p14:creationId xmlns:p14="http://schemas.microsoft.com/office/powerpoint/2010/main" val="922166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D0534-BB92-D249-82B9-49A38E7BB51A}"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06851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E8AFE-A49F-3347-91BC-9E8CE1BCC4B4}"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77979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A109CB-DDDB-7949-A85C-355CAB3D7576}"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12233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E56BB9-C860-D945-A0DA-AC84E1154E6B}" type="datetime1">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93595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C5F966-147F-B24F-8855-ADF4B9638779}" type="datetime1">
              <a:rPr lang="en-US" smtClean="0"/>
              <a:t>8/10/2026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3560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2BB21E-6508-274A-8215-090AB0A8BFD7}" type="datetime1">
              <a:rPr lang="en-US" smtClean="0"/>
              <a:t>8/10/2026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77415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5E3B75-9C36-5140-9B2C-4AB02DB5CE55}" type="datetime1">
              <a:rPr lang="en-US" smtClean="0"/>
              <a:t>8/10/2026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0370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7E5107-D26A-8749-91B4-BDF6C1B6361A}" type="datetime1">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72732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45CC6945-859D-154B-9E61-3980F2B5BC84}" type="datetime1">
              <a:rPr lang="en-US" smtClean="0"/>
              <a:t>8/10/2026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2490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2B6D2D-DD65-7542-B616-C09BD0686257}" type="datetime1">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329381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B6D2D-DD65-7542-B616-C09BD0686257}"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7396740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3E2B6D2D-DD65-7542-B616-C09BD0686257}"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483273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3E2B6D2D-DD65-7542-B616-C09BD0686257}"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1674490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B6D2D-DD65-7542-B616-C09BD0686257}"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7682172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B6D2D-DD65-7542-B616-C09BD0686257}"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0689780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922B72-5EFB-2B4D-BBDF-916337A53DC6}"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457333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6B05E1-C71E-544E-9F74-844878BC4783}"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33556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3E2B6D2D-DD65-7542-B616-C09BD0686257}" type="datetime1">
              <a:rPr lang="en-US" smtClean="0"/>
              <a:t>8/10/2026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98469912"/>
      </p:ext>
    </p:extLst>
  </p:cSld>
  <p:clrMap bg1="dk1" tx1="lt1" bg2="dk2" tx2="lt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 id="2147483881" r:id="rId17"/>
  </p:sldLayoutIdLst>
  <p:hf hdr="0" ftr="0" dt="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3.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8.xml"/><Relationship Id="rId1" Type="http://schemas.openxmlformats.org/officeDocument/2006/relationships/tags" Target="../tags/tag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vocados and peppers on a cutting board">
            <a:extLst>
              <a:ext uri="{FF2B5EF4-FFF2-40B4-BE49-F238E27FC236}">
                <a16:creationId xmlns:a16="http://schemas.microsoft.com/office/drawing/2014/main" id="{573EC269-9A59-49F8-B377-784E209B3A04}"/>
              </a:ext>
            </a:extLst>
          </p:cNvPr>
          <p:cNvPicPr>
            <a:picLocks noChangeAspect="1"/>
          </p:cNvPicPr>
          <p:nvPr/>
        </p:nvPicPr>
        <p:blipFill rotWithShape="1">
          <a:blip r:embed="rId3">
            <a:alphaModFix amt="80000"/>
            <a:extLst>
              <a:ext uri="{28A0092B-C50C-407E-A947-70E740481C1C}">
                <a14:useLocalDpi xmlns:a14="http://schemas.microsoft.com/office/drawing/2010/main" val="0"/>
              </a:ext>
            </a:extLst>
          </a:blip>
          <a:srcRect b="30"/>
          <a:stretch>
            <a:fillRect/>
          </a:stretch>
        </p:blipFill>
        <p:spPr>
          <a:xfrm>
            <a:off x="-67752" y="-4"/>
            <a:ext cx="12191980" cy="6855958"/>
          </a:xfrm>
          <a:prstGeom prst="rect">
            <a:avLst/>
          </a:prstGeom>
        </p:spPr>
      </p:pic>
      <p:sp>
        <p:nvSpPr>
          <p:cNvPr id="2" name="Title 1">
            <a:extLst>
              <a:ext uri="{FF2B5EF4-FFF2-40B4-BE49-F238E27FC236}">
                <a16:creationId xmlns:a16="http://schemas.microsoft.com/office/drawing/2014/main" id="{A5C93519-6B29-1346-9FCB-0835B80531A4}"/>
              </a:ext>
            </a:extLst>
          </p:cNvPr>
          <p:cNvSpPr>
            <a:spLocks noGrp="1"/>
          </p:cNvSpPr>
          <p:nvPr>
            <p:ph type="ctrTitle"/>
          </p:nvPr>
        </p:nvSpPr>
        <p:spPr>
          <a:xfrm>
            <a:off x="1051560" y="1432223"/>
            <a:ext cx="4856259" cy="3035808"/>
          </a:xfrm>
        </p:spPr>
        <p:txBody>
          <a:bodyPr>
            <a:normAutofit/>
          </a:bodyPr>
          <a:lstStyle/>
          <a:p>
            <a:r>
              <a:rPr lang="en-US" sz="6600" dirty="0">
                <a:solidFill>
                  <a:schemeClr val="tx1"/>
                </a:solidFill>
              </a:rPr>
              <a:t>Amazon.</a:t>
            </a:r>
          </a:p>
        </p:txBody>
      </p:sp>
      <p:sp>
        <p:nvSpPr>
          <p:cNvPr id="8" name="Subtitle 7">
            <a:extLst>
              <a:ext uri="{FF2B5EF4-FFF2-40B4-BE49-F238E27FC236}">
                <a16:creationId xmlns:a16="http://schemas.microsoft.com/office/drawing/2014/main" id="{57FFE273-805C-47CC-98BD-C63CD14BF635}"/>
              </a:ext>
            </a:extLst>
          </p:cNvPr>
          <p:cNvSpPr>
            <a:spLocks noGrp="1"/>
          </p:cNvSpPr>
          <p:nvPr>
            <p:ph type="subTitle" idx="1"/>
          </p:nvPr>
        </p:nvSpPr>
        <p:spPr>
          <a:xfrm>
            <a:off x="1069848" y="4468030"/>
            <a:ext cx="4856259" cy="990937"/>
          </a:xfrm>
        </p:spPr>
        <p:txBody>
          <a:bodyPr>
            <a:normAutofit/>
          </a:bodyPr>
          <a:lstStyle/>
          <a:p>
            <a:r>
              <a:rPr lang="en-US" dirty="0">
                <a:solidFill>
                  <a:srgbClr val="FFFFFF"/>
                </a:solidFill>
              </a:rPr>
              <a:t>Food Delivery Analysis.</a:t>
            </a:r>
          </a:p>
        </p:txBody>
      </p:sp>
      <p:pic>
        <p:nvPicPr>
          <p:cNvPr id="4" name="Picture 3">
            <a:extLst>
              <a:ext uri="{FF2B5EF4-FFF2-40B4-BE49-F238E27FC236}">
                <a16:creationId xmlns:a16="http://schemas.microsoft.com/office/drawing/2014/main" id="{6FD0AF93-2CDF-5671-ACD7-8445BDD528D3}"/>
              </a:ext>
            </a:extLst>
          </p:cNvPr>
          <p:cNvPicPr>
            <a:picLocks noChangeAspect="1"/>
          </p:cNvPicPr>
          <p:nvPr/>
        </p:nvPicPr>
        <p:blipFill>
          <a:blip r:embed="rId4"/>
          <a:srcRect l="24531" r="10706"/>
          <a:stretch>
            <a:fillRect/>
          </a:stretch>
        </p:blipFill>
        <p:spPr>
          <a:xfrm>
            <a:off x="6672832" y="1155560"/>
            <a:ext cx="5535932" cy="5732592"/>
          </a:xfrm>
          <a:custGeom>
            <a:avLst/>
            <a:gdLst/>
            <a:ahLst/>
            <a:cxnLst/>
            <a:rect l="l" t="t" r="r" b="b"/>
            <a:pathLst>
              <a:path w="5535932" h="5705781">
                <a:moveTo>
                  <a:pt x="3331301" y="0"/>
                </a:moveTo>
                <a:cubicBezTo>
                  <a:pt x="4136225" y="0"/>
                  <a:pt x="4874473" y="285478"/>
                  <a:pt x="5450318" y="760707"/>
                </a:cubicBezTo>
                <a:lnTo>
                  <a:pt x="5535932" y="838519"/>
                </a:lnTo>
                <a:lnTo>
                  <a:pt x="5535932" y="5705781"/>
                </a:lnTo>
                <a:lnTo>
                  <a:pt x="996505" y="5705781"/>
                </a:lnTo>
                <a:lnTo>
                  <a:pt x="975716" y="5686887"/>
                </a:lnTo>
                <a:cubicBezTo>
                  <a:pt x="372869" y="5084040"/>
                  <a:pt x="0" y="4251215"/>
                  <a:pt x="0" y="3331301"/>
                </a:cubicBezTo>
                <a:cubicBezTo>
                  <a:pt x="0" y="1491474"/>
                  <a:pt x="1491474" y="0"/>
                  <a:pt x="3331301" y="0"/>
                </a:cubicBezTo>
                <a:close/>
              </a:path>
            </a:pathLst>
          </a:custGeom>
        </p:spPr>
      </p:pic>
    </p:spTree>
    <p:extLst>
      <p:ext uri="{BB962C8B-B14F-4D97-AF65-F5344CB8AC3E}">
        <p14:creationId xmlns:p14="http://schemas.microsoft.com/office/powerpoint/2010/main" val="531247187"/>
      </p:ext>
    </p:extLst>
  </p:cSld>
  <p:clrMapOvr>
    <a:masterClrMapping/>
  </p:clrMapOvr>
  <mc:AlternateContent xmlns:mc="http://schemas.openxmlformats.org/markup-compatibility/2006">
    <mc:Choice xmlns:p14="http://schemas.microsoft.com/office/powerpoint/2010/main" Requires="p14">
      <p:transition spd="slow" p14:dur="2000" advTm="11175"/>
    </mc:Choice>
    <mc:Fallback>
      <p:transition spd="slow" advTm="111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4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94CE-21F2-43F4-A061-36036581CE27}"/>
              </a:ext>
            </a:extLst>
          </p:cNvPr>
          <p:cNvSpPr>
            <a:spLocks noGrp="1"/>
          </p:cNvSpPr>
          <p:nvPr>
            <p:ph type="title"/>
          </p:nvPr>
        </p:nvSpPr>
        <p:spPr>
          <a:xfrm>
            <a:off x="6550924" y="685801"/>
            <a:ext cx="5107676" cy="1295400"/>
          </a:xfrm>
        </p:spPr>
        <p:txBody>
          <a:bodyPr>
            <a:normAutofit/>
          </a:bodyPr>
          <a:lstStyle/>
          <a:p>
            <a:r>
              <a:rPr lang="en-IN" dirty="0">
                <a:solidFill>
                  <a:schemeClr val="tx1"/>
                </a:solidFill>
              </a:rPr>
              <a:t>Table of contents.</a:t>
            </a:r>
          </a:p>
        </p:txBody>
      </p:sp>
      <p:graphicFrame>
        <p:nvGraphicFramePr>
          <p:cNvPr id="6" name="Content Placeholder 2">
            <a:extLst>
              <a:ext uri="{FF2B5EF4-FFF2-40B4-BE49-F238E27FC236}">
                <a16:creationId xmlns:a16="http://schemas.microsoft.com/office/drawing/2014/main" id="{1547D4FA-F825-C202-04BA-BA8B488B1F82}"/>
              </a:ext>
            </a:extLst>
          </p:cNvPr>
          <p:cNvGraphicFramePr>
            <a:graphicFrameLocks noGrp="1"/>
          </p:cNvGraphicFramePr>
          <p:nvPr>
            <p:ph idx="1"/>
            <p:extLst>
              <p:ext uri="{D42A27DB-BD31-4B8C-83A1-F6EECF244321}">
                <p14:modId xmlns:p14="http://schemas.microsoft.com/office/powerpoint/2010/main" val="2602697110"/>
              </p:ext>
            </p:extLst>
          </p:nvPr>
        </p:nvGraphicFramePr>
        <p:xfrm>
          <a:off x="6550924" y="2495550"/>
          <a:ext cx="4920019" cy="36766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40A03BAD-CEF5-E0D4-B6C9-FD8844B40158}"/>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solidFill>
                  <a:schemeClr val="tx1"/>
                </a:solidFill>
              </a:rPr>
              <a:pPr>
                <a:spcAft>
                  <a:spcPts val="600"/>
                </a:spcAft>
              </a:pPr>
              <a:t>2</a:t>
            </a:fld>
            <a:endParaRPr lang="en-US">
              <a:solidFill>
                <a:schemeClr val="tx1"/>
              </a:solidFill>
            </a:endParaRPr>
          </a:p>
        </p:txBody>
      </p:sp>
      <p:pic>
        <p:nvPicPr>
          <p:cNvPr id="7" name="Picture 6">
            <a:extLst>
              <a:ext uri="{FF2B5EF4-FFF2-40B4-BE49-F238E27FC236}">
                <a16:creationId xmlns:a16="http://schemas.microsoft.com/office/drawing/2014/main" id="{F29B4290-4301-B970-EE85-03BE53EE052C}"/>
              </a:ext>
            </a:extLst>
          </p:cNvPr>
          <p:cNvPicPr>
            <a:picLocks noChangeAspect="1"/>
          </p:cNvPicPr>
          <p:nvPr/>
        </p:nvPicPr>
        <p:blipFill>
          <a:blip r:embed="rId8"/>
          <a:srcRect l="1779" r="9336"/>
          <a:stretch>
            <a:fillRect/>
          </a:stretch>
        </p:blipFill>
        <p:spPr>
          <a:xfrm>
            <a:off x="305" y="0"/>
            <a:ext cx="6095695"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Tree>
    <p:custDataLst>
      <p:tags r:id="rId1"/>
    </p:custDataLst>
    <p:extLst>
      <p:ext uri="{BB962C8B-B14F-4D97-AF65-F5344CB8AC3E}">
        <p14:creationId xmlns:p14="http://schemas.microsoft.com/office/powerpoint/2010/main" val="3666895437"/>
      </p:ext>
    </p:extLst>
  </p:cSld>
  <p:clrMapOvr>
    <a:masterClrMapping/>
  </p:clrMapOvr>
  <mc:AlternateContent xmlns:mc="http://schemas.openxmlformats.org/markup-compatibility/2006">
    <mc:Choice xmlns:p14="http://schemas.microsoft.com/office/powerpoint/2010/main" Requires="p14">
      <p:transition spd="slow" p14:dur="2000" advTm="5824"/>
    </mc:Choice>
    <mc:Fallback>
      <p:transition spd="slow" advTm="58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D3E8763-AF5E-1196-0C2D-63DD55DB0791}"/>
              </a:ext>
            </a:extLst>
          </p:cNvPr>
          <p:cNvPicPr>
            <a:picLocks noChangeAspect="1"/>
          </p:cNvPicPr>
          <p:nvPr/>
        </p:nvPicPr>
        <p:blipFill>
          <a:blip r:embed="rId3">
            <a:alphaModFix amt="35000"/>
          </a:blip>
          <a:srcRect/>
          <a:stretch>
            <a:fillRect/>
          </a:stretch>
        </p:blipFill>
        <p:spPr>
          <a:xfrm>
            <a:off x="20" y="10"/>
            <a:ext cx="12191980" cy="6857989"/>
          </a:xfrm>
          <a:prstGeom prst="rect">
            <a:avLst/>
          </a:prstGeom>
        </p:spPr>
      </p:pic>
      <p:sp>
        <p:nvSpPr>
          <p:cNvPr id="2" name="Title 1">
            <a:extLst>
              <a:ext uri="{FF2B5EF4-FFF2-40B4-BE49-F238E27FC236}">
                <a16:creationId xmlns:a16="http://schemas.microsoft.com/office/drawing/2014/main" id="{C4571EEB-B4EB-8CB5-7A58-2F9C87D36935}"/>
              </a:ext>
            </a:extLst>
          </p:cNvPr>
          <p:cNvSpPr>
            <a:spLocks noGrp="1"/>
          </p:cNvSpPr>
          <p:nvPr>
            <p:ph type="title"/>
          </p:nvPr>
        </p:nvSpPr>
        <p:spPr>
          <a:xfrm>
            <a:off x="1063752" y="246888"/>
            <a:ext cx="10058400" cy="1208688"/>
          </a:xfrm>
        </p:spPr>
        <p:txBody>
          <a:bodyPr anchor="ctr">
            <a:normAutofit/>
          </a:bodyPr>
          <a:lstStyle/>
          <a:p>
            <a:pPr algn="ctr"/>
            <a:r>
              <a:rPr lang="en-IN" u="sng" dirty="0">
                <a:solidFill>
                  <a:schemeClr val="tx1"/>
                </a:solidFill>
                <a:latin typeface="Algerian" panose="04020705040A02060702" pitchFamily="82" charset="0"/>
              </a:rPr>
              <a:t>1.) Introduction</a:t>
            </a:r>
            <a:r>
              <a:rPr lang="en-IN" dirty="0">
                <a:solidFill>
                  <a:schemeClr val="tx1"/>
                </a:solidFill>
                <a:latin typeface="Amasis MT Pro Medium" panose="02040604050005020304" pitchFamily="18" charset="0"/>
              </a:rPr>
              <a:t>.</a:t>
            </a:r>
          </a:p>
        </p:txBody>
      </p:sp>
      <p:sp>
        <p:nvSpPr>
          <p:cNvPr id="45" name="Content Placeholder 31">
            <a:extLst>
              <a:ext uri="{FF2B5EF4-FFF2-40B4-BE49-F238E27FC236}">
                <a16:creationId xmlns:a16="http://schemas.microsoft.com/office/drawing/2014/main" id="{7D1645DD-0C10-91DF-0FCA-3B61C5337647}"/>
              </a:ext>
            </a:extLst>
          </p:cNvPr>
          <p:cNvSpPr>
            <a:spLocks noGrp="1"/>
          </p:cNvSpPr>
          <p:nvPr>
            <p:ph idx="1"/>
          </p:nvPr>
        </p:nvSpPr>
        <p:spPr>
          <a:xfrm>
            <a:off x="1069848" y="1455576"/>
            <a:ext cx="10058400" cy="5182333"/>
          </a:xfrm>
        </p:spPr>
        <p:txBody>
          <a:bodyPr>
            <a:noAutofit/>
          </a:bodyPr>
          <a:lstStyle/>
          <a:p>
            <a:pPr marL="0" indent="0">
              <a:buNone/>
            </a:pPr>
            <a:r>
              <a:rPr lang="en-US" sz="2400" dirty="0">
                <a:solidFill>
                  <a:schemeClr val="tx1"/>
                </a:solidFill>
                <a:latin typeface="Aptos" panose="020B0004020202020204" pitchFamily="34" charset="0"/>
              </a:rPr>
              <a:t>The food delivery analysis project focuses on analyzing the delivery operation and customer feedback/experience. The tools that is used in this project is power bi, Visual studio code, Excel. The objective of this project mainly focuses on customer feedback and how to improve the experience in a better way.</a:t>
            </a:r>
          </a:p>
          <a:p>
            <a:pPr marL="0" indent="0">
              <a:buNone/>
            </a:pPr>
            <a:r>
              <a:rPr lang="en-US" sz="2400" dirty="0">
                <a:solidFill>
                  <a:schemeClr val="tx1"/>
                </a:solidFill>
                <a:latin typeface="Aptos" panose="020B0004020202020204" pitchFamily="34" charset="0"/>
              </a:rPr>
              <a:t>The dataset contents information related to orders, restaurant distance, pickup time, delivery time, preparation time, Delivery partner rating, traffic density, climate etc.</a:t>
            </a:r>
          </a:p>
          <a:p>
            <a:pPr marL="0" indent="0">
              <a:buNone/>
            </a:pPr>
            <a:r>
              <a:rPr lang="en-US" sz="2400" dirty="0">
                <a:solidFill>
                  <a:schemeClr val="tx1"/>
                </a:solidFill>
                <a:latin typeface="Aptos" panose="020B0004020202020204" pitchFamily="34" charset="0"/>
              </a:rPr>
              <a:t>The dashboard provides us insights about the order trends, delivery partner performance, pickup and delivery analysis. These insights will help us to identify the factors that needs to be focus on to improve our performance in a better way.</a:t>
            </a:r>
          </a:p>
        </p:txBody>
      </p:sp>
      <p:sp>
        <p:nvSpPr>
          <p:cNvPr id="4" name="Slide Number Placeholder 3">
            <a:extLst>
              <a:ext uri="{FF2B5EF4-FFF2-40B4-BE49-F238E27FC236}">
                <a16:creationId xmlns:a16="http://schemas.microsoft.com/office/drawing/2014/main" id="{BD3CD810-4BBC-1FD2-3E57-6AC67FDB06D3}"/>
              </a:ext>
            </a:extLst>
          </p:cNvPr>
          <p:cNvSpPr>
            <a:spLocks noGrp="1"/>
          </p:cNvSpPr>
          <p:nvPr>
            <p:ph type="sldNum" sz="quarter" idx="12"/>
          </p:nvPr>
        </p:nvSpPr>
        <p:spPr/>
        <p:txBody>
          <a:bodyPr>
            <a:normAutofit/>
          </a:bodyPr>
          <a:lstStyle/>
          <a:p>
            <a:pPr>
              <a:spcAft>
                <a:spcPts val="600"/>
              </a:spcAft>
            </a:pPr>
            <a:fld id="{4FAB73BC-B049-4115-A692-8D63A059BFB8}" type="slidenum">
              <a:rPr lang="en-US"/>
              <a:pPr>
                <a:spcAft>
                  <a:spcPts val="600"/>
                </a:spcAft>
              </a:pPr>
              <a:t>3</a:t>
            </a:fld>
            <a:endParaRPr lang="en-US"/>
          </a:p>
        </p:txBody>
      </p:sp>
    </p:spTree>
    <p:custDataLst>
      <p:tags r:id="rId1"/>
    </p:custDataLst>
    <p:extLst>
      <p:ext uri="{BB962C8B-B14F-4D97-AF65-F5344CB8AC3E}">
        <p14:creationId xmlns:p14="http://schemas.microsoft.com/office/powerpoint/2010/main" val="1085590698"/>
      </p:ext>
    </p:extLst>
  </p:cSld>
  <p:clrMapOvr>
    <a:masterClrMapping/>
  </p:clrMapOvr>
  <mc:AlternateContent xmlns:mc="http://schemas.openxmlformats.org/markup-compatibility/2006">
    <mc:Choice xmlns:p14="http://schemas.microsoft.com/office/powerpoint/2010/main" Requires="p14">
      <p:transition spd="slow" p14:dur="2000" advTm="18036"/>
    </mc:Choice>
    <mc:Fallback>
      <p:transition spd="slow" advTm="1803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5">
                                            <p:txEl>
                                              <p:pRg st="1" end="1"/>
                                            </p:txEl>
                                          </p:spTgt>
                                        </p:tgtEl>
                                        <p:attrNameLst>
                                          <p:attrName>style.visibility</p:attrName>
                                        </p:attrNameLst>
                                      </p:cBhvr>
                                      <p:to>
                                        <p:strVal val="visible"/>
                                      </p:to>
                                    </p:set>
                                    <p:animEffect transition="in" filter="barn(inVertical)">
                                      <p:cBhvr>
                                        <p:cTn id="12" dur="500"/>
                                        <p:tgtEl>
                                          <p:spTgt spid="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5">
                                            <p:txEl>
                                              <p:pRg st="2" end="2"/>
                                            </p:txEl>
                                          </p:spTgt>
                                        </p:tgtEl>
                                        <p:attrNameLst>
                                          <p:attrName>style.visibility</p:attrName>
                                        </p:attrNameLst>
                                      </p:cBhvr>
                                      <p:to>
                                        <p:strVal val="visible"/>
                                      </p:to>
                                    </p:set>
                                    <p:animEffect transition="in" filter="barn(inVertical)">
                                      <p:cBhvr>
                                        <p:cTn id="17" dur="500"/>
                                        <p:tgtEl>
                                          <p:spTgt spid="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B3053-6030-E12B-78FB-8774D064571E}"/>
              </a:ext>
            </a:extLst>
          </p:cNvPr>
          <p:cNvSpPr>
            <a:spLocks noGrp="1"/>
          </p:cNvSpPr>
          <p:nvPr>
            <p:ph type="title"/>
          </p:nvPr>
        </p:nvSpPr>
        <p:spPr>
          <a:xfrm>
            <a:off x="158139" y="379968"/>
            <a:ext cx="8690870" cy="1082911"/>
          </a:xfrm>
        </p:spPr>
        <p:txBody>
          <a:bodyPr>
            <a:normAutofit/>
          </a:bodyPr>
          <a:lstStyle/>
          <a:p>
            <a:r>
              <a:rPr lang="en-IN" i="1" u="sng" dirty="0">
                <a:solidFill>
                  <a:schemeClr val="tx1">
                    <a:lumMod val="85000"/>
                  </a:schemeClr>
                </a:solidFill>
              </a:rPr>
              <a:t>2). Tools used to perform analysis</a:t>
            </a:r>
          </a:p>
        </p:txBody>
      </p:sp>
      <p:sp>
        <p:nvSpPr>
          <p:cNvPr id="12" name="Content Placeholder 11">
            <a:extLst>
              <a:ext uri="{FF2B5EF4-FFF2-40B4-BE49-F238E27FC236}">
                <a16:creationId xmlns:a16="http://schemas.microsoft.com/office/drawing/2014/main" id="{EBAEAD05-6A18-74D2-41C8-024463798659}"/>
              </a:ext>
            </a:extLst>
          </p:cNvPr>
          <p:cNvSpPr>
            <a:spLocks noGrp="1"/>
          </p:cNvSpPr>
          <p:nvPr>
            <p:ph idx="1"/>
          </p:nvPr>
        </p:nvSpPr>
        <p:spPr>
          <a:xfrm>
            <a:off x="634000" y="1866122"/>
            <a:ext cx="7330424" cy="4611910"/>
          </a:xfrm>
        </p:spPr>
        <p:txBody>
          <a:bodyPr>
            <a:noAutofit/>
          </a:bodyPr>
          <a:lstStyle/>
          <a:p>
            <a:pPr>
              <a:buClr>
                <a:schemeClr val="tx1"/>
              </a:buClr>
            </a:pPr>
            <a:r>
              <a:rPr lang="en-US" sz="2400" dirty="0">
                <a:solidFill>
                  <a:schemeClr val="tx1">
                    <a:lumMod val="85000"/>
                  </a:schemeClr>
                </a:solidFill>
              </a:rPr>
              <a:t>Python- We have use python to clean data, detect outliers, one hot encoding, replace null values into median, EDA etc.</a:t>
            </a:r>
          </a:p>
          <a:p>
            <a:pPr>
              <a:buClr>
                <a:schemeClr val="tx1"/>
              </a:buClr>
            </a:pPr>
            <a:r>
              <a:rPr lang="en-US" sz="2400" dirty="0">
                <a:solidFill>
                  <a:schemeClr val="tx1">
                    <a:lumMod val="85000"/>
                  </a:schemeClr>
                </a:solidFill>
              </a:rPr>
              <a:t>Excel- We have used excel to detect datatypes and set the datatype according to the data, remove unnecessary columns. </a:t>
            </a:r>
          </a:p>
          <a:p>
            <a:pPr>
              <a:buClr>
                <a:schemeClr val="tx1"/>
              </a:buClr>
            </a:pPr>
            <a:r>
              <a:rPr lang="en-US" sz="2400" dirty="0">
                <a:solidFill>
                  <a:schemeClr val="tx1">
                    <a:lumMod val="85000"/>
                  </a:schemeClr>
                </a:solidFill>
              </a:rPr>
              <a:t>Power Bi- This tool used to analyze the performance of the delivery partner and the pickup drop analysis, this gives us meaningful insights with visual for better understanding. Additionally, we have calculated some DAX measure for better analysis.</a:t>
            </a:r>
          </a:p>
        </p:txBody>
      </p:sp>
      <p:sp>
        <p:nvSpPr>
          <p:cNvPr id="4" name="Slide Number Placeholder 3">
            <a:extLst>
              <a:ext uri="{FF2B5EF4-FFF2-40B4-BE49-F238E27FC236}">
                <a16:creationId xmlns:a16="http://schemas.microsoft.com/office/drawing/2014/main" id="{B76D55C8-6ACF-87B2-B353-56D8915461D6}"/>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pPr>
                <a:spcAft>
                  <a:spcPts val="600"/>
                </a:spcAft>
              </a:pPr>
              <a:t>4</a:t>
            </a:fld>
            <a:endParaRPr lang="en-US"/>
          </a:p>
        </p:txBody>
      </p:sp>
      <p:pic>
        <p:nvPicPr>
          <p:cNvPr id="10" name="Picture 9">
            <a:extLst>
              <a:ext uri="{FF2B5EF4-FFF2-40B4-BE49-F238E27FC236}">
                <a16:creationId xmlns:a16="http://schemas.microsoft.com/office/drawing/2014/main" id="{8CC00F85-8A2D-F4B3-320E-9BDFC6475DFC}"/>
              </a:ext>
            </a:extLst>
          </p:cNvPr>
          <p:cNvPicPr>
            <a:picLocks noChangeAspect="1"/>
          </p:cNvPicPr>
          <p:nvPr/>
        </p:nvPicPr>
        <p:blipFill>
          <a:blip r:embed="rId3">
            <a:alphaModFix amt="85000"/>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9164101" y="639447"/>
            <a:ext cx="1697170" cy="1697170"/>
          </a:xfrm>
          <a:prstGeom prst="rect">
            <a:avLst/>
          </a:prstGeom>
          <a:ln w="228600" cap="sq" cmpd="thickThin">
            <a:solidFill>
              <a:srgbClr val="000000"/>
            </a:solidFill>
            <a:prstDash val="solid"/>
            <a:miter lim="800000"/>
          </a:ln>
          <a:effectLst>
            <a:innerShdw blurRad="76200">
              <a:srgbClr val="000000"/>
            </a:innerShdw>
          </a:effectLst>
        </p:spPr>
      </p:pic>
      <p:pic>
        <p:nvPicPr>
          <p:cNvPr id="6" name="Content Placeholder 5">
            <a:extLst>
              <a:ext uri="{FF2B5EF4-FFF2-40B4-BE49-F238E27FC236}">
                <a16:creationId xmlns:a16="http://schemas.microsoft.com/office/drawing/2014/main" id="{9F1161B3-5040-5D67-5C17-C7328FFC30C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4676" y1="50559" x2="32438" y2="20805"/>
                        <a14:foregroundMark x1="32438" y1="20805" x2="63758" y2="15884"/>
                        <a14:foregroundMark x1="63758" y1="15884" x2="58837" y2="47651"/>
                        <a14:foregroundMark x1="58837" y1="47651" x2="32438" y2="49888"/>
                        <a14:backgroundMark x1="16107" y1="19463" x2="18792" y2="27517"/>
                      </a14:backgroundRemoval>
                    </a14:imgEffect>
                  </a14:imgLayer>
                </a14:imgProps>
              </a:ext>
            </a:extLst>
          </a:blip>
          <a:stretch>
            <a:fillRect/>
          </a:stretch>
        </p:blipFill>
        <p:spPr>
          <a:xfrm>
            <a:off x="9158463" y="2486209"/>
            <a:ext cx="1708446" cy="1708446"/>
          </a:xfrm>
          <a:prstGeom prst="rect">
            <a:avLst/>
          </a:prstGeom>
          <a:ln w="228600" cap="sq" cmpd="thickThin">
            <a:solidFill>
              <a:srgbClr val="000000"/>
            </a:solidFill>
            <a:prstDash val="solid"/>
            <a:miter lim="800000"/>
          </a:ln>
          <a:effectLst>
            <a:innerShdw blurRad="76200">
              <a:srgbClr val="000000"/>
            </a:innerShdw>
          </a:effectLst>
        </p:spPr>
      </p:pic>
      <p:pic>
        <p:nvPicPr>
          <p:cNvPr id="8" name="Picture 7">
            <a:extLst>
              <a:ext uri="{FF2B5EF4-FFF2-40B4-BE49-F238E27FC236}">
                <a16:creationId xmlns:a16="http://schemas.microsoft.com/office/drawing/2014/main" id="{68DCA5C3-7541-F0AF-6E58-0F1A268782B5}"/>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8739808" y="4355524"/>
            <a:ext cx="2410107" cy="1606738"/>
          </a:xfrm>
          <a:prstGeom prst="rect">
            <a:avLst/>
          </a:prstGeom>
          <a:ln w="228600" cap="sq" cmpd="thickThin">
            <a:solidFill>
              <a:srgbClr val="000000"/>
            </a:solidFill>
            <a:prstDash val="solid"/>
            <a:miter lim="800000"/>
          </a:ln>
          <a:effectLst>
            <a:innerShdw blurRad="76200">
              <a:srgbClr val="000000"/>
            </a:innerShdw>
          </a:effectLst>
        </p:spPr>
      </p:pic>
    </p:spTree>
    <p:custDataLst>
      <p:tags r:id="rId1"/>
    </p:custDataLst>
    <p:extLst>
      <p:ext uri="{BB962C8B-B14F-4D97-AF65-F5344CB8AC3E}">
        <p14:creationId xmlns:p14="http://schemas.microsoft.com/office/powerpoint/2010/main" val="88334603"/>
      </p:ext>
    </p:extLst>
  </p:cSld>
  <p:clrMapOvr>
    <a:masterClrMapping/>
  </p:clrMapOvr>
  <mc:AlternateContent xmlns:mc="http://schemas.openxmlformats.org/markup-compatibility/2006">
    <mc:Choice xmlns:p14="http://schemas.microsoft.com/office/powerpoint/2010/main" Requires="p14">
      <p:transition spd="slow" p14:dur="2000" advTm="7073"/>
    </mc:Choice>
    <mc:Fallback>
      <p:transition spd="slow" advTm="70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down)">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down)">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5E18-D058-90BB-CBBD-49D4CC40BC7C}"/>
              </a:ext>
            </a:extLst>
          </p:cNvPr>
          <p:cNvSpPr>
            <a:spLocks noGrp="1"/>
          </p:cNvSpPr>
          <p:nvPr>
            <p:ph type="title"/>
          </p:nvPr>
        </p:nvSpPr>
        <p:spPr>
          <a:xfrm>
            <a:off x="5412589" y="312577"/>
            <a:ext cx="6779106" cy="883177"/>
          </a:xfrm>
        </p:spPr>
        <p:txBody>
          <a:bodyPr>
            <a:normAutofit fontScale="90000"/>
          </a:bodyPr>
          <a:lstStyle/>
          <a:p>
            <a:r>
              <a:rPr lang="en-IN" dirty="0">
                <a:solidFill>
                  <a:schemeClr val="tx1">
                    <a:lumMod val="85000"/>
                  </a:schemeClr>
                </a:solidFill>
                <a:latin typeface="Algerian" panose="04020705040A02060702" pitchFamily="82" charset="0"/>
              </a:rPr>
              <a:t>3). Exploratory Data Analysis.</a:t>
            </a:r>
          </a:p>
        </p:txBody>
      </p:sp>
      <p:sp>
        <p:nvSpPr>
          <p:cNvPr id="10" name="Content Placeholder 9">
            <a:extLst>
              <a:ext uri="{FF2B5EF4-FFF2-40B4-BE49-F238E27FC236}">
                <a16:creationId xmlns:a16="http://schemas.microsoft.com/office/drawing/2014/main" id="{20FC69B4-1E6D-4EDD-2B5F-8A14613AE71C}"/>
              </a:ext>
            </a:extLst>
          </p:cNvPr>
          <p:cNvSpPr>
            <a:spLocks noGrp="1"/>
          </p:cNvSpPr>
          <p:nvPr>
            <p:ph idx="1"/>
          </p:nvPr>
        </p:nvSpPr>
        <p:spPr>
          <a:xfrm>
            <a:off x="6181487" y="1613640"/>
            <a:ext cx="5859483" cy="3904861"/>
          </a:xfrm>
        </p:spPr>
        <p:txBody>
          <a:bodyPr>
            <a:normAutofit/>
          </a:bodyPr>
          <a:lstStyle/>
          <a:p>
            <a:pPr marL="457200" indent="-457200">
              <a:buClr>
                <a:schemeClr val="tx1"/>
              </a:buClr>
              <a:buFont typeface="+mj-lt"/>
              <a:buAutoNum type="arabicParenR"/>
            </a:pPr>
            <a:r>
              <a:rPr lang="en-US" dirty="0">
                <a:solidFill>
                  <a:schemeClr val="tx1">
                    <a:lumMod val="85000"/>
                  </a:schemeClr>
                </a:solidFill>
              </a:rPr>
              <a:t>Total records are 11,399 rows and 20 columns.</a:t>
            </a:r>
          </a:p>
          <a:p>
            <a:pPr marL="457200" indent="-457200">
              <a:buClr>
                <a:schemeClr val="tx1"/>
              </a:buClr>
              <a:buFont typeface="+mj-lt"/>
              <a:buAutoNum type="arabicParenR"/>
            </a:pPr>
            <a:r>
              <a:rPr lang="en-US" dirty="0">
                <a:solidFill>
                  <a:schemeClr val="tx1">
                    <a:lumMod val="85000"/>
                  </a:schemeClr>
                </a:solidFill>
              </a:rPr>
              <a:t>Total null value in % is 1.1% and we removed those null values.</a:t>
            </a:r>
          </a:p>
          <a:p>
            <a:pPr marL="457200" indent="-457200">
              <a:buClr>
                <a:schemeClr val="tx1"/>
              </a:buClr>
              <a:buFont typeface="+mj-lt"/>
              <a:buAutoNum type="arabicParenR"/>
            </a:pPr>
            <a:r>
              <a:rPr lang="en-US" dirty="0">
                <a:solidFill>
                  <a:schemeClr val="tx1">
                    <a:lumMod val="85000"/>
                  </a:schemeClr>
                </a:solidFill>
              </a:rPr>
              <a:t>After removing null values total record is 10291 rows and 20 columns.</a:t>
            </a:r>
          </a:p>
          <a:p>
            <a:pPr marL="457200" indent="-457200">
              <a:buClr>
                <a:schemeClr val="tx1"/>
              </a:buClr>
              <a:buFont typeface="+mj-lt"/>
              <a:buAutoNum type="arabicParenR"/>
            </a:pPr>
            <a:r>
              <a:rPr lang="en-US" dirty="0">
                <a:solidFill>
                  <a:schemeClr val="tx1">
                    <a:lumMod val="85000"/>
                  </a:schemeClr>
                </a:solidFill>
              </a:rPr>
              <a:t>There was no duplicate values.</a:t>
            </a:r>
          </a:p>
          <a:p>
            <a:pPr marL="457200" indent="-457200">
              <a:buClr>
                <a:schemeClr val="tx1"/>
              </a:buClr>
              <a:buFont typeface="+mj-lt"/>
              <a:buAutoNum type="arabicParenR"/>
            </a:pPr>
            <a:r>
              <a:rPr lang="en-US" dirty="0">
                <a:solidFill>
                  <a:schemeClr val="tx1">
                    <a:lumMod val="85000"/>
                  </a:schemeClr>
                </a:solidFill>
              </a:rPr>
              <a:t>We have changed the datatype from object to float.</a:t>
            </a:r>
          </a:p>
          <a:p>
            <a:pPr marL="457200" indent="-457200">
              <a:buClr>
                <a:schemeClr val="tx1"/>
              </a:buClr>
              <a:buFont typeface="+mj-lt"/>
              <a:buAutoNum type="arabicParenR"/>
            </a:pPr>
            <a:r>
              <a:rPr lang="en-US" dirty="0">
                <a:solidFill>
                  <a:schemeClr val="tx1">
                    <a:lumMod val="85000"/>
                  </a:schemeClr>
                </a:solidFill>
              </a:rPr>
              <a:t>Replace the 0 values to median.</a:t>
            </a:r>
          </a:p>
        </p:txBody>
      </p:sp>
      <p:sp>
        <p:nvSpPr>
          <p:cNvPr id="4" name="Slide Number Placeholder 3">
            <a:extLst>
              <a:ext uri="{FF2B5EF4-FFF2-40B4-BE49-F238E27FC236}">
                <a16:creationId xmlns:a16="http://schemas.microsoft.com/office/drawing/2014/main" id="{77BA73D1-63C8-A7DD-FEE2-46B580FA9512}"/>
              </a:ext>
            </a:extLst>
          </p:cNvPr>
          <p:cNvSpPr>
            <a:spLocks noGrp="1"/>
          </p:cNvSpPr>
          <p:nvPr>
            <p:ph type="sldNum" sz="quarter" idx="12"/>
          </p:nvPr>
        </p:nvSpPr>
        <p:spPr/>
        <p:txBody>
          <a:bodyPr>
            <a:normAutofit/>
          </a:bodyPr>
          <a:lstStyle/>
          <a:p>
            <a:pPr>
              <a:spcAft>
                <a:spcPts val="600"/>
              </a:spcAft>
            </a:pPr>
            <a:fld id="{4FAB73BC-B049-4115-A692-8D63A059BFB8}" type="slidenum">
              <a:rPr lang="en-US" smtClean="0">
                <a:solidFill>
                  <a:schemeClr val="tx1"/>
                </a:solidFill>
              </a:rPr>
              <a:pPr>
                <a:spcAft>
                  <a:spcPts val="600"/>
                </a:spcAft>
              </a:pPr>
              <a:t>5</a:t>
            </a:fld>
            <a:endParaRPr lang="en-US">
              <a:solidFill>
                <a:schemeClr val="tx1"/>
              </a:solidFill>
            </a:endParaRPr>
          </a:p>
        </p:txBody>
      </p:sp>
      <p:pic>
        <p:nvPicPr>
          <p:cNvPr id="6" name="Content Placeholder 5">
            <a:extLst>
              <a:ext uri="{FF2B5EF4-FFF2-40B4-BE49-F238E27FC236}">
                <a16:creationId xmlns:a16="http://schemas.microsoft.com/office/drawing/2014/main" id="{6AEFF0B0-91A6-8682-9C26-30AAA1DF2922}"/>
              </a:ext>
            </a:extLst>
          </p:cNvPr>
          <p:cNvPicPr>
            <a:picLocks noChangeAspect="1"/>
          </p:cNvPicPr>
          <p:nvPr/>
        </p:nvPicPr>
        <p:blipFill>
          <a:blip r:embed="rId3"/>
          <a:srcRect t="24903" r="-1" b="-1"/>
          <a:stretch>
            <a:fillRect/>
          </a:stretch>
        </p:blipFill>
        <p:spPr>
          <a:xfrm>
            <a:off x="1" y="2"/>
            <a:ext cx="5859483"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Tree>
    <p:custDataLst>
      <p:tags r:id="rId1"/>
    </p:custDataLst>
    <p:extLst>
      <p:ext uri="{BB962C8B-B14F-4D97-AF65-F5344CB8AC3E}">
        <p14:creationId xmlns:p14="http://schemas.microsoft.com/office/powerpoint/2010/main" val="2231840858"/>
      </p:ext>
    </p:extLst>
  </p:cSld>
  <p:clrMapOvr>
    <a:masterClrMapping/>
  </p:clrMapOvr>
  <mc:AlternateContent xmlns:mc="http://schemas.openxmlformats.org/markup-compatibility/2006">
    <mc:Choice xmlns:p14="http://schemas.microsoft.com/office/powerpoint/2010/main" Requires="p14">
      <p:transition spd="slow" p14:dur="2000" advTm="12187"/>
    </mc:Choice>
    <mc:Fallback>
      <p:transition spd="slow" advTm="121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 calcmode="lin" valueType="num">
                                      <p:cBhvr additive="base">
                                        <p:cTn id="3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anim calcmode="lin" valueType="num">
                                      <p:cBhvr additive="base">
                                        <p:cTn id="37"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47B1-EC56-DBFF-1902-1594AA9DEA3A}"/>
              </a:ext>
            </a:extLst>
          </p:cNvPr>
          <p:cNvSpPr>
            <a:spLocks noGrp="1"/>
          </p:cNvSpPr>
          <p:nvPr>
            <p:ph type="title"/>
          </p:nvPr>
        </p:nvSpPr>
        <p:spPr>
          <a:xfrm>
            <a:off x="1069848" y="214044"/>
            <a:ext cx="10058400" cy="896299"/>
          </a:xfrm>
        </p:spPr>
        <p:txBody>
          <a:bodyPr/>
          <a:lstStyle/>
          <a:p>
            <a:r>
              <a:rPr lang="en-IN" dirty="0">
                <a:solidFill>
                  <a:schemeClr val="tx1">
                    <a:lumMod val="85000"/>
                  </a:schemeClr>
                </a:solidFill>
                <a:latin typeface="Algerian" panose="04020705040A02060702" pitchFamily="82" charset="0"/>
              </a:rPr>
              <a:t>4). Feature Engineering.</a:t>
            </a:r>
          </a:p>
        </p:txBody>
      </p:sp>
      <p:sp>
        <p:nvSpPr>
          <p:cNvPr id="3" name="Content Placeholder 2">
            <a:extLst>
              <a:ext uri="{FF2B5EF4-FFF2-40B4-BE49-F238E27FC236}">
                <a16:creationId xmlns:a16="http://schemas.microsoft.com/office/drawing/2014/main" id="{2C69470E-DBE4-6E1F-51F4-41DC7C73E8B4}"/>
              </a:ext>
            </a:extLst>
          </p:cNvPr>
          <p:cNvSpPr>
            <a:spLocks noGrp="1"/>
          </p:cNvSpPr>
          <p:nvPr>
            <p:ph idx="1"/>
          </p:nvPr>
        </p:nvSpPr>
        <p:spPr>
          <a:xfrm>
            <a:off x="1069848" y="1287624"/>
            <a:ext cx="10058400" cy="5169159"/>
          </a:xfrm>
        </p:spPr>
        <p:txBody>
          <a:bodyPr>
            <a:normAutofit/>
          </a:bodyPr>
          <a:lstStyle/>
          <a:p>
            <a:pPr>
              <a:buClr>
                <a:schemeClr val="tx1"/>
              </a:buClr>
              <a:buFont typeface="Wingdings" panose="05000000000000000000" pitchFamily="2" charset="2"/>
              <a:buChar char="q"/>
            </a:pPr>
            <a:r>
              <a:rPr lang="en-IN" dirty="0">
                <a:solidFill>
                  <a:schemeClr val="bg2">
                    <a:lumMod val="40000"/>
                    <a:lumOff val="60000"/>
                  </a:schemeClr>
                </a:solidFill>
              </a:rPr>
              <a:t> </a:t>
            </a:r>
            <a:r>
              <a:rPr lang="en-IN" sz="1800" u="sng" dirty="0">
                <a:solidFill>
                  <a:schemeClr val="bg2">
                    <a:lumMod val="40000"/>
                    <a:lumOff val="60000"/>
                  </a:schemeClr>
                </a:solidFill>
              </a:rPr>
              <a:t>Pickup time Take- </a:t>
            </a:r>
            <a:r>
              <a:rPr lang="en-IN" sz="1800" dirty="0">
                <a:solidFill>
                  <a:schemeClr val="bg2">
                    <a:lumMod val="40000"/>
                    <a:lumOff val="60000"/>
                  </a:schemeClr>
                </a:solidFill>
              </a:rPr>
              <a:t>This is the new column we added for the better analysis.</a:t>
            </a:r>
          </a:p>
          <a:p>
            <a:pPr>
              <a:buClr>
                <a:schemeClr val="tx1"/>
              </a:buClr>
              <a:buFont typeface="Wingdings" panose="05000000000000000000" pitchFamily="2" charset="2"/>
              <a:buChar char="q"/>
            </a:pPr>
            <a:r>
              <a:rPr lang="en-IN" sz="1800" dirty="0">
                <a:solidFill>
                  <a:schemeClr val="bg2">
                    <a:lumMod val="40000"/>
                    <a:lumOff val="60000"/>
                  </a:schemeClr>
                </a:solidFill>
              </a:rPr>
              <a:t> </a:t>
            </a:r>
            <a:r>
              <a:rPr lang="en-IN" sz="1800" u="sng" dirty="0">
                <a:solidFill>
                  <a:schemeClr val="bg2">
                    <a:lumMod val="40000"/>
                    <a:lumOff val="60000"/>
                  </a:schemeClr>
                </a:solidFill>
              </a:rPr>
              <a:t>We have new measures calculated in power bi:</a:t>
            </a:r>
          </a:p>
          <a:p>
            <a:pPr marL="457200" indent="-457200">
              <a:buClr>
                <a:schemeClr val="tx1"/>
              </a:buClr>
              <a:buFont typeface="+mj-lt"/>
              <a:buAutoNum type="arabicPeriod"/>
            </a:pPr>
            <a:r>
              <a:rPr lang="en-IN" sz="1800" dirty="0">
                <a:solidFill>
                  <a:schemeClr val="bg2">
                    <a:lumMod val="40000"/>
                    <a:lumOff val="60000"/>
                  </a:schemeClr>
                </a:solidFill>
              </a:rPr>
              <a:t>Average Age.</a:t>
            </a:r>
          </a:p>
          <a:p>
            <a:pPr marL="457200" indent="-457200">
              <a:buClr>
                <a:schemeClr val="tx1"/>
              </a:buClr>
              <a:buFont typeface="+mj-lt"/>
              <a:buAutoNum type="arabicPeriod"/>
            </a:pPr>
            <a:r>
              <a:rPr lang="en-IN" sz="1800" dirty="0">
                <a:solidFill>
                  <a:schemeClr val="bg2">
                    <a:lumMod val="40000"/>
                    <a:lumOff val="60000"/>
                  </a:schemeClr>
                </a:solidFill>
              </a:rPr>
              <a:t>Average Rating</a:t>
            </a:r>
          </a:p>
          <a:p>
            <a:pPr marL="457200" indent="-457200">
              <a:buClr>
                <a:schemeClr val="tx1"/>
              </a:buClr>
              <a:buFont typeface="+mj-lt"/>
              <a:buAutoNum type="arabicPeriod"/>
            </a:pPr>
            <a:r>
              <a:rPr lang="en-IN" sz="1800" dirty="0">
                <a:solidFill>
                  <a:schemeClr val="bg2">
                    <a:lumMod val="40000"/>
                    <a:lumOff val="60000"/>
                  </a:schemeClr>
                </a:solidFill>
              </a:rPr>
              <a:t>Maximum Rating</a:t>
            </a:r>
          </a:p>
          <a:p>
            <a:pPr marL="457200" indent="-457200">
              <a:buClr>
                <a:schemeClr val="tx1"/>
              </a:buClr>
              <a:buFont typeface="+mj-lt"/>
              <a:buAutoNum type="arabicPeriod"/>
            </a:pPr>
            <a:r>
              <a:rPr lang="en-IN" sz="1800" dirty="0">
                <a:solidFill>
                  <a:schemeClr val="bg2">
                    <a:lumMod val="40000"/>
                    <a:lumOff val="60000"/>
                  </a:schemeClr>
                </a:solidFill>
              </a:rPr>
              <a:t>Minimum Rating</a:t>
            </a:r>
          </a:p>
          <a:p>
            <a:pPr marL="457200" indent="-457200">
              <a:buClr>
                <a:schemeClr val="tx1"/>
              </a:buClr>
              <a:buFont typeface="+mj-lt"/>
              <a:buAutoNum type="arabicPeriod"/>
            </a:pPr>
            <a:r>
              <a:rPr lang="en-IN" sz="1800" dirty="0">
                <a:solidFill>
                  <a:schemeClr val="bg2">
                    <a:lumMod val="40000"/>
                    <a:lumOff val="60000"/>
                  </a:schemeClr>
                </a:solidFill>
              </a:rPr>
              <a:t>Multiple deliveries</a:t>
            </a:r>
          </a:p>
          <a:p>
            <a:pPr marL="457200" indent="-457200">
              <a:buClr>
                <a:schemeClr val="tx1"/>
              </a:buClr>
              <a:buFont typeface="+mj-lt"/>
              <a:buAutoNum type="arabicPeriod"/>
            </a:pPr>
            <a:r>
              <a:rPr lang="en-IN" sz="1800" dirty="0">
                <a:solidFill>
                  <a:schemeClr val="bg2">
                    <a:lumMod val="40000"/>
                    <a:lumOff val="60000"/>
                  </a:schemeClr>
                </a:solidFill>
              </a:rPr>
              <a:t>Total Festival</a:t>
            </a:r>
          </a:p>
          <a:p>
            <a:pPr marL="457200" indent="-457200">
              <a:buClr>
                <a:schemeClr val="tx1"/>
              </a:buClr>
              <a:buFont typeface="+mj-lt"/>
              <a:buAutoNum type="arabicPeriod"/>
            </a:pPr>
            <a:r>
              <a:rPr lang="en-IN" sz="1800" dirty="0">
                <a:solidFill>
                  <a:schemeClr val="bg2">
                    <a:lumMod val="40000"/>
                    <a:lumOff val="60000"/>
                  </a:schemeClr>
                </a:solidFill>
              </a:rPr>
              <a:t>Total orders.</a:t>
            </a:r>
          </a:p>
          <a:p>
            <a:pPr>
              <a:buClr>
                <a:schemeClr val="tx1"/>
              </a:buClr>
              <a:buFont typeface="Wingdings" panose="05000000000000000000" pitchFamily="2" charset="2"/>
              <a:buChar char="q"/>
            </a:pPr>
            <a:r>
              <a:rPr lang="en-IN" sz="1800" dirty="0">
                <a:solidFill>
                  <a:schemeClr val="bg2">
                    <a:lumMod val="40000"/>
                    <a:lumOff val="60000"/>
                  </a:schemeClr>
                </a:solidFill>
              </a:rPr>
              <a:t> We have converted festival column into 0 and 1 with the use of one hot encoding.</a:t>
            </a:r>
          </a:p>
          <a:p>
            <a:pPr>
              <a:buClr>
                <a:schemeClr val="tx1"/>
              </a:buClr>
              <a:buFont typeface="Wingdings" panose="05000000000000000000" pitchFamily="2" charset="2"/>
              <a:buChar char="q"/>
            </a:pPr>
            <a:r>
              <a:rPr lang="en-IN" sz="1800" dirty="0">
                <a:solidFill>
                  <a:schemeClr val="bg2">
                    <a:lumMod val="40000"/>
                    <a:lumOff val="60000"/>
                  </a:schemeClr>
                </a:solidFill>
              </a:rPr>
              <a:t> Detecting outliers with the help of IQR technique in python. As we discovered that the minimum value is 0, it is converted into median value to avoid bias. Restaurant latitude, longitude, delivery location latitude and longitude, these column were fixed.</a:t>
            </a:r>
          </a:p>
          <a:p>
            <a:pPr marL="0" indent="0">
              <a:buClr>
                <a:schemeClr val="tx1"/>
              </a:buClr>
              <a:buNone/>
            </a:pPr>
            <a:endParaRPr lang="en-IN" dirty="0"/>
          </a:p>
          <a:p>
            <a:pPr marL="0" indent="0">
              <a:buClr>
                <a:schemeClr val="tx1"/>
              </a:buClr>
              <a:buNone/>
            </a:pPr>
            <a:endParaRPr lang="en-IN" dirty="0"/>
          </a:p>
        </p:txBody>
      </p:sp>
      <p:sp>
        <p:nvSpPr>
          <p:cNvPr id="4" name="Slide Number Placeholder 3">
            <a:extLst>
              <a:ext uri="{FF2B5EF4-FFF2-40B4-BE49-F238E27FC236}">
                <a16:creationId xmlns:a16="http://schemas.microsoft.com/office/drawing/2014/main" id="{B861FFFE-82ED-E209-B2FE-D2E6804ADAEB}"/>
              </a:ext>
            </a:extLst>
          </p:cNvPr>
          <p:cNvSpPr>
            <a:spLocks noGrp="1"/>
          </p:cNvSpPr>
          <p:nvPr>
            <p:ph type="sldNum" sz="quarter" idx="12"/>
          </p:nvPr>
        </p:nvSpPr>
        <p:spPr/>
        <p:txBody>
          <a:bodyPr/>
          <a:lstStyle/>
          <a:p>
            <a:fld id="{4FAB73BC-B049-4115-A692-8D63A059BFB8}" type="slidenum">
              <a:rPr lang="en-US" smtClean="0"/>
              <a:t>6</a:t>
            </a:fld>
            <a:endParaRPr lang="en-US" dirty="0"/>
          </a:p>
        </p:txBody>
      </p:sp>
    </p:spTree>
    <p:custDataLst>
      <p:tags r:id="rId1"/>
    </p:custDataLst>
    <p:extLst>
      <p:ext uri="{BB962C8B-B14F-4D97-AF65-F5344CB8AC3E}">
        <p14:creationId xmlns:p14="http://schemas.microsoft.com/office/powerpoint/2010/main" val="1713605352"/>
      </p:ext>
    </p:extLst>
  </p:cSld>
  <p:clrMapOvr>
    <a:masterClrMapping/>
  </p:clrMapOvr>
  <mc:AlternateContent xmlns:mc="http://schemas.openxmlformats.org/markup-compatibility/2006">
    <mc:Choice xmlns:p14="http://schemas.microsoft.com/office/powerpoint/2010/main" Requires="p14">
      <p:transition spd="slow" p14:dur="2000" advTm="6550"/>
    </mc:Choice>
    <mc:Fallback>
      <p:transition spd="slow" advTm="65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412A-51DC-76EA-8246-36D24DE26E76}"/>
              </a:ext>
            </a:extLst>
          </p:cNvPr>
          <p:cNvSpPr>
            <a:spLocks noGrp="1"/>
          </p:cNvSpPr>
          <p:nvPr>
            <p:ph type="title"/>
          </p:nvPr>
        </p:nvSpPr>
        <p:spPr>
          <a:xfrm>
            <a:off x="3770245" y="271605"/>
            <a:ext cx="6743767" cy="931644"/>
          </a:xfrm>
        </p:spPr>
        <p:txBody>
          <a:bodyPr vert="horz" lIns="91440" tIns="45720" rIns="91440" bIns="45720" rtlCol="0" anchor="ctr">
            <a:normAutofit/>
          </a:bodyPr>
          <a:lstStyle/>
          <a:p>
            <a:r>
              <a:rPr lang="en-US" u="sng" dirty="0"/>
              <a:t>5).Dashboard Overview</a:t>
            </a:r>
          </a:p>
        </p:txBody>
      </p:sp>
      <p:pic>
        <p:nvPicPr>
          <p:cNvPr id="16" name="Content Placeholder 15">
            <a:extLst>
              <a:ext uri="{FF2B5EF4-FFF2-40B4-BE49-F238E27FC236}">
                <a16:creationId xmlns:a16="http://schemas.microsoft.com/office/drawing/2014/main" id="{D841BA44-963D-E833-B038-9C0E41E170BC}"/>
              </a:ext>
            </a:extLst>
          </p:cNvPr>
          <p:cNvPicPr>
            <a:picLocks noGrp="1" noChangeAspect="1"/>
          </p:cNvPicPr>
          <p:nvPr>
            <p:ph sz="half" idx="1"/>
          </p:nvPr>
        </p:nvPicPr>
        <p:blipFill>
          <a:blip r:embed="rId3"/>
          <a:stretch>
            <a:fillRect/>
          </a:stretch>
        </p:blipFill>
        <p:spPr>
          <a:xfrm>
            <a:off x="740880" y="1325326"/>
            <a:ext cx="6743766" cy="609798"/>
          </a:xfrm>
          <a:prstGeom prst="rect">
            <a:avLst/>
          </a:prstGeo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pic>
      <p:pic>
        <p:nvPicPr>
          <p:cNvPr id="20" name="Picture 19">
            <a:extLst>
              <a:ext uri="{FF2B5EF4-FFF2-40B4-BE49-F238E27FC236}">
                <a16:creationId xmlns:a16="http://schemas.microsoft.com/office/drawing/2014/main" id="{990B8157-B99F-9802-F53E-1F1A4B3E2F87}"/>
              </a:ext>
            </a:extLst>
          </p:cNvPr>
          <p:cNvPicPr>
            <a:picLocks noChangeAspect="1"/>
          </p:cNvPicPr>
          <p:nvPr/>
        </p:nvPicPr>
        <p:blipFill>
          <a:blip r:embed="rId4"/>
          <a:stretch>
            <a:fillRect/>
          </a:stretch>
        </p:blipFill>
        <p:spPr>
          <a:xfrm>
            <a:off x="561896" y="2497077"/>
            <a:ext cx="2792685" cy="3585671"/>
          </a:xfrm>
          <a:prstGeom prst="rect">
            <a:avLst/>
          </a:prstGeo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pic>
      <p:sp>
        <p:nvSpPr>
          <p:cNvPr id="6" name="Content Placeholder 5">
            <a:extLst>
              <a:ext uri="{FF2B5EF4-FFF2-40B4-BE49-F238E27FC236}">
                <a16:creationId xmlns:a16="http://schemas.microsoft.com/office/drawing/2014/main" id="{7568880B-0197-3E82-F073-1D0554F2DDC9}"/>
              </a:ext>
            </a:extLst>
          </p:cNvPr>
          <p:cNvSpPr>
            <a:spLocks noGrp="1"/>
          </p:cNvSpPr>
          <p:nvPr>
            <p:ph sz="half" idx="2"/>
          </p:nvPr>
        </p:nvSpPr>
        <p:spPr>
          <a:xfrm>
            <a:off x="4303643" y="2164703"/>
            <a:ext cx="7046844" cy="4418342"/>
          </a:xfrm>
        </p:spPr>
        <p:txBody>
          <a:bodyPr vert="horz" lIns="91440" tIns="45720" rIns="91440" bIns="45720" rtlCol="0" anchor="ctr">
            <a:noAutofit/>
          </a:bodyPr>
          <a:lstStyle/>
          <a:p>
            <a:pPr marL="457200" indent="-457200">
              <a:lnSpc>
                <a:spcPct val="90000"/>
              </a:lnSpc>
            </a:pPr>
            <a:r>
              <a:rPr lang="en-US" sz="1600" dirty="0"/>
              <a:t>As we can check in the figure. There are 5 KPI which shows average age, average rating, minimum rating, maximum rating, multiple deliveries, total orders.</a:t>
            </a:r>
          </a:p>
          <a:p>
            <a:pPr marL="457200" indent="-457200">
              <a:lnSpc>
                <a:spcPct val="90000"/>
              </a:lnSpc>
            </a:pPr>
            <a:r>
              <a:rPr lang="en-US" sz="1600" dirty="0"/>
              <a:t>Total orders in 10K. Average Rating is 4.7 which is good, minimum rating is 2.6 is low and needs to improve. Average age of a delivery partner is 30 which is good that means there are chances of multiple deliveries.</a:t>
            </a:r>
          </a:p>
          <a:p>
            <a:pPr marL="457200" indent="-457200">
              <a:lnSpc>
                <a:spcPct val="90000"/>
              </a:lnSpc>
            </a:pPr>
            <a:r>
              <a:rPr lang="en-US" sz="1600" u="sng" dirty="0"/>
              <a:t>Total orders by weather: </a:t>
            </a:r>
          </a:p>
          <a:p>
            <a:pPr>
              <a:lnSpc>
                <a:spcPct val="90000"/>
              </a:lnSpc>
            </a:pPr>
            <a:r>
              <a:rPr lang="en-US" sz="1600" dirty="0"/>
              <a:t> Windy- total order is 1,746 </a:t>
            </a:r>
          </a:p>
          <a:p>
            <a:pPr>
              <a:lnSpc>
                <a:spcPct val="90000"/>
              </a:lnSpc>
            </a:pPr>
            <a:r>
              <a:rPr lang="en-US" sz="1600" dirty="0"/>
              <a:t>Sunny - Total order is 1,735</a:t>
            </a:r>
          </a:p>
          <a:p>
            <a:pPr>
              <a:lnSpc>
                <a:spcPct val="90000"/>
              </a:lnSpc>
            </a:pPr>
            <a:r>
              <a:rPr lang="en-US" sz="1600" dirty="0"/>
              <a:t>Sandstrom- Total order is 1,698</a:t>
            </a:r>
          </a:p>
          <a:p>
            <a:pPr>
              <a:lnSpc>
                <a:spcPct val="90000"/>
              </a:lnSpc>
            </a:pPr>
            <a:r>
              <a:rPr lang="en-US" sz="1600" dirty="0"/>
              <a:t>Cloudy- Total order is 1,682</a:t>
            </a:r>
          </a:p>
          <a:p>
            <a:pPr>
              <a:lnSpc>
                <a:spcPct val="90000"/>
              </a:lnSpc>
            </a:pPr>
            <a:r>
              <a:rPr lang="en-US" sz="1600" dirty="0"/>
              <a:t>Storms- Total order is 1,633</a:t>
            </a:r>
          </a:p>
          <a:p>
            <a:pPr>
              <a:lnSpc>
                <a:spcPct val="90000"/>
              </a:lnSpc>
            </a:pPr>
            <a:r>
              <a:rPr lang="en-US" sz="1600" dirty="0"/>
              <a:t>Fog- Total order is 1,613</a:t>
            </a:r>
          </a:p>
        </p:txBody>
      </p:sp>
      <p:sp>
        <p:nvSpPr>
          <p:cNvPr id="4" name="Slide Number Placeholder 3">
            <a:extLst>
              <a:ext uri="{FF2B5EF4-FFF2-40B4-BE49-F238E27FC236}">
                <a16:creationId xmlns:a16="http://schemas.microsoft.com/office/drawing/2014/main" id="{65355251-0463-4C13-50DE-60E516B280B9}"/>
              </a:ext>
            </a:extLst>
          </p:cNvPr>
          <p:cNvSpPr>
            <a:spLocks noGrp="1"/>
          </p:cNvSpPr>
          <p:nvPr>
            <p:ph type="sldNum" sz="quarter" idx="12"/>
          </p:nvPr>
        </p:nvSpPr>
        <p:spPr>
          <a:xfrm>
            <a:off x="10514012" y="6217920"/>
            <a:ext cx="551167" cy="365125"/>
          </a:xfrm>
        </p:spPr>
        <p:txBody>
          <a:bodyPr vert="horz" lIns="91440" tIns="45720" rIns="91440" bIns="45720" rtlCol="0" anchor="ctr">
            <a:normAutofit/>
          </a:bodyPr>
          <a:lstStyle/>
          <a:p>
            <a:pPr defTabSz="914400">
              <a:spcAft>
                <a:spcPts val="600"/>
              </a:spcAft>
            </a:pPr>
            <a:fld id="{4FAB73BC-B049-4115-A692-8D63A059BFB8}" type="slidenum">
              <a:rPr lang="en-US" smtClean="0"/>
              <a:pPr defTabSz="914400">
                <a:spcAft>
                  <a:spcPts val="600"/>
                </a:spcAft>
              </a:pPr>
              <a:t>7</a:t>
            </a:fld>
            <a:endParaRPr lang="en-US"/>
          </a:p>
        </p:txBody>
      </p:sp>
    </p:spTree>
    <p:custDataLst>
      <p:tags r:id="rId1"/>
    </p:custDataLst>
    <p:extLst>
      <p:ext uri="{BB962C8B-B14F-4D97-AF65-F5344CB8AC3E}">
        <p14:creationId xmlns:p14="http://schemas.microsoft.com/office/powerpoint/2010/main" val="2350351325"/>
      </p:ext>
    </p:extLst>
  </p:cSld>
  <p:clrMapOvr>
    <a:masterClrMapping/>
  </p:clrMapOvr>
  <mc:AlternateContent xmlns:mc="http://schemas.openxmlformats.org/markup-compatibility/2006">
    <mc:Choice xmlns:p14="http://schemas.microsoft.com/office/powerpoint/2010/main" Requires="p14">
      <p:transition spd="slow" p14:dur="2000" advTm="5797"/>
    </mc:Choice>
    <mc:Fallback>
      <p:transition spd="slow" advTm="57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xEl>
                                              <p:pRg st="0" end="0"/>
                                            </p:txEl>
                                          </p:spTgt>
                                        </p:tgtEl>
                                      </p:cBhvr>
                                    </p:animEffect>
                                    <p:animScale>
                                      <p:cBhvr>
                                        <p:cTn id="7" dur="250" autoRev="1" fill="hold"/>
                                        <p:tgtEl>
                                          <p:spTgt spid="6">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6">
                                            <p:txEl>
                                              <p:pRg st="1" end="1"/>
                                            </p:txEl>
                                          </p:spTgt>
                                        </p:tgtEl>
                                      </p:cBhvr>
                                    </p:animEffect>
                                    <p:animScale>
                                      <p:cBhvr>
                                        <p:cTn id="12" dur="250" autoRev="1" fill="hold"/>
                                        <p:tgtEl>
                                          <p:spTgt spid="6">
                                            <p:txEl>
                                              <p:pRg st="1" end="1"/>
                                            </p:txEl>
                                          </p:spTgt>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6">
                                            <p:txEl>
                                              <p:pRg st="2" end="2"/>
                                            </p:txEl>
                                          </p:spTgt>
                                        </p:tgtEl>
                                      </p:cBhvr>
                                    </p:animEffect>
                                    <p:animScale>
                                      <p:cBhvr>
                                        <p:cTn id="17" dur="250" autoRev="1" fill="hold"/>
                                        <p:tgtEl>
                                          <p:spTgt spid="6">
                                            <p:txEl>
                                              <p:pRg st="2" end="2"/>
                                            </p:txEl>
                                          </p:spTgt>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6">
                                            <p:txEl>
                                              <p:pRg st="3" end="3"/>
                                            </p:txEl>
                                          </p:spTgt>
                                        </p:tgtEl>
                                      </p:cBhvr>
                                    </p:animEffect>
                                    <p:animScale>
                                      <p:cBhvr>
                                        <p:cTn id="22" dur="250" autoRev="1" fill="hold"/>
                                        <p:tgtEl>
                                          <p:spTgt spid="6">
                                            <p:txEl>
                                              <p:pRg st="3" end="3"/>
                                            </p:txEl>
                                          </p:spTgt>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6">
                                            <p:txEl>
                                              <p:pRg st="4" end="4"/>
                                            </p:txEl>
                                          </p:spTgt>
                                        </p:tgtEl>
                                      </p:cBhvr>
                                    </p:animEffect>
                                    <p:animScale>
                                      <p:cBhvr>
                                        <p:cTn id="27" dur="250" autoRev="1" fill="hold"/>
                                        <p:tgtEl>
                                          <p:spTgt spid="6">
                                            <p:txEl>
                                              <p:pRg st="4" end="4"/>
                                            </p:txEl>
                                          </p:spTgt>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grpId="0" nodeType="clickEffect">
                                  <p:stCondLst>
                                    <p:cond delay="0"/>
                                  </p:stCondLst>
                                  <p:childTnLst>
                                    <p:animEffect transition="out" filter="fade">
                                      <p:cBhvr>
                                        <p:cTn id="31" dur="500" tmFilter="0, 0; .2, .5; .8, .5; 1, 0"/>
                                        <p:tgtEl>
                                          <p:spTgt spid="6">
                                            <p:txEl>
                                              <p:pRg st="5" end="5"/>
                                            </p:txEl>
                                          </p:spTgt>
                                        </p:tgtEl>
                                      </p:cBhvr>
                                    </p:animEffect>
                                    <p:animScale>
                                      <p:cBhvr>
                                        <p:cTn id="32" dur="250" autoRev="1" fill="hold"/>
                                        <p:tgtEl>
                                          <p:spTgt spid="6">
                                            <p:txEl>
                                              <p:pRg st="5" end="5"/>
                                            </p:txEl>
                                          </p:spTgt>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26" presetClass="emph" presetSubtype="0" fill="hold" grpId="0" nodeType="clickEffect">
                                  <p:stCondLst>
                                    <p:cond delay="0"/>
                                  </p:stCondLst>
                                  <p:childTnLst>
                                    <p:animEffect transition="out" filter="fade">
                                      <p:cBhvr>
                                        <p:cTn id="36" dur="500" tmFilter="0, 0; .2, .5; .8, .5; 1, 0"/>
                                        <p:tgtEl>
                                          <p:spTgt spid="6">
                                            <p:txEl>
                                              <p:pRg st="6" end="6"/>
                                            </p:txEl>
                                          </p:spTgt>
                                        </p:tgtEl>
                                      </p:cBhvr>
                                    </p:animEffect>
                                    <p:animScale>
                                      <p:cBhvr>
                                        <p:cTn id="37" dur="250" autoRev="1" fill="hold"/>
                                        <p:tgtEl>
                                          <p:spTgt spid="6">
                                            <p:txEl>
                                              <p:pRg st="6" end="6"/>
                                            </p:txEl>
                                          </p:spTgt>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26" presetClass="emph" presetSubtype="0" fill="hold" grpId="0" nodeType="clickEffect">
                                  <p:stCondLst>
                                    <p:cond delay="0"/>
                                  </p:stCondLst>
                                  <p:childTnLst>
                                    <p:animEffect transition="out" filter="fade">
                                      <p:cBhvr>
                                        <p:cTn id="41" dur="500" tmFilter="0, 0; .2, .5; .8, .5; 1, 0"/>
                                        <p:tgtEl>
                                          <p:spTgt spid="6">
                                            <p:txEl>
                                              <p:pRg st="7" end="7"/>
                                            </p:txEl>
                                          </p:spTgt>
                                        </p:tgtEl>
                                      </p:cBhvr>
                                    </p:animEffect>
                                    <p:animScale>
                                      <p:cBhvr>
                                        <p:cTn id="42" dur="250" autoRev="1" fill="hold"/>
                                        <p:tgtEl>
                                          <p:spTgt spid="6">
                                            <p:txEl>
                                              <p:pRg st="7" end="7"/>
                                            </p:txEl>
                                          </p:spTgt>
                                        </p:tgtEl>
                                      </p:cBhvr>
                                      <p:by x="105000" y="105000"/>
                                    </p:animScale>
                                  </p:childTnLst>
                                </p:cTn>
                              </p:par>
                            </p:childTnLst>
                          </p:cTn>
                        </p:par>
                      </p:childTnLst>
                    </p:cTn>
                  </p:par>
                  <p:par>
                    <p:cTn id="43" fill="hold">
                      <p:stCondLst>
                        <p:cond delay="indefinite"/>
                      </p:stCondLst>
                      <p:childTnLst>
                        <p:par>
                          <p:cTn id="44" fill="hold">
                            <p:stCondLst>
                              <p:cond delay="0"/>
                            </p:stCondLst>
                            <p:childTnLst>
                              <p:par>
                                <p:cTn id="45" presetID="26" presetClass="emph" presetSubtype="0" fill="hold" grpId="0" nodeType="clickEffect">
                                  <p:stCondLst>
                                    <p:cond delay="0"/>
                                  </p:stCondLst>
                                  <p:childTnLst>
                                    <p:animEffect transition="out" filter="fade">
                                      <p:cBhvr>
                                        <p:cTn id="46" dur="500" tmFilter="0, 0; .2, .5; .8, .5; 1, 0"/>
                                        <p:tgtEl>
                                          <p:spTgt spid="6">
                                            <p:txEl>
                                              <p:pRg st="8" end="8"/>
                                            </p:txEl>
                                          </p:spTgt>
                                        </p:tgtEl>
                                      </p:cBhvr>
                                    </p:animEffect>
                                    <p:animScale>
                                      <p:cBhvr>
                                        <p:cTn id="47" dur="250" autoRev="1" fill="hold"/>
                                        <p:tgtEl>
                                          <p:spTgt spid="6">
                                            <p:txEl>
                                              <p:pRg st="8" end="8"/>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FA0F-D48D-34BA-A284-B09BAA33172C}"/>
              </a:ext>
            </a:extLst>
          </p:cNvPr>
          <p:cNvSpPr>
            <a:spLocks noGrp="1"/>
          </p:cNvSpPr>
          <p:nvPr>
            <p:ph type="title"/>
          </p:nvPr>
        </p:nvSpPr>
        <p:spPr>
          <a:xfrm>
            <a:off x="779670" y="217775"/>
            <a:ext cx="4043539" cy="650866"/>
          </a:xfrm>
        </p:spPr>
        <p:txBody>
          <a:bodyPr>
            <a:normAutofit/>
          </a:bodyPr>
          <a:lstStyle/>
          <a:p>
            <a:r>
              <a:rPr lang="en-IN" b="1" u="sng" dirty="0"/>
              <a:t>Dashboard Overview.</a:t>
            </a:r>
          </a:p>
        </p:txBody>
      </p:sp>
      <p:pic>
        <p:nvPicPr>
          <p:cNvPr id="7" name="Content Placeholder 6">
            <a:extLst>
              <a:ext uri="{FF2B5EF4-FFF2-40B4-BE49-F238E27FC236}">
                <a16:creationId xmlns:a16="http://schemas.microsoft.com/office/drawing/2014/main" id="{3CA1B1E1-911C-535E-9273-683CB031FC63}"/>
              </a:ext>
            </a:extLst>
          </p:cNvPr>
          <p:cNvPicPr>
            <a:picLocks noGrp="1" noChangeAspect="1"/>
          </p:cNvPicPr>
          <p:nvPr>
            <p:ph idx="1"/>
          </p:nvPr>
        </p:nvPicPr>
        <p:blipFill>
          <a:blip r:embed="rId3"/>
          <a:stretch>
            <a:fillRect/>
          </a:stretch>
        </p:blipFill>
        <p:spPr>
          <a:xfrm>
            <a:off x="923111" y="4001432"/>
            <a:ext cx="2753109" cy="2638793"/>
          </a:xfrm>
          <a:prstGeom prst="rect">
            <a:avLst/>
          </a:prstGeom>
        </p:spPr>
      </p:pic>
      <p:sp>
        <p:nvSpPr>
          <p:cNvPr id="17" name="Text Placeholder 16">
            <a:extLst>
              <a:ext uri="{FF2B5EF4-FFF2-40B4-BE49-F238E27FC236}">
                <a16:creationId xmlns:a16="http://schemas.microsoft.com/office/drawing/2014/main" id="{AFBCFBA7-5261-AD45-723D-69E69DB4B8A1}"/>
              </a:ext>
            </a:extLst>
          </p:cNvPr>
          <p:cNvSpPr>
            <a:spLocks noGrp="1"/>
          </p:cNvSpPr>
          <p:nvPr>
            <p:ph type="body" sz="half" idx="2"/>
          </p:nvPr>
        </p:nvSpPr>
        <p:spPr>
          <a:xfrm>
            <a:off x="5492061" y="588307"/>
            <a:ext cx="5893473" cy="5370366"/>
          </a:xfrm>
        </p:spPr>
        <p:txBody>
          <a:bodyPr/>
          <a:lstStyle/>
          <a:p>
            <a:pPr marL="285750" indent="-285750">
              <a:buFont typeface="Wingdings" panose="05000000000000000000" pitchFamily="2" charset="2"/>
              <a:buChar char="Ø"/>
            </a:pPr>
            <a:r>
              <a:rPr lang="en-IN" sz="1800" u="sng" dirty="0"/>
              <a:t>Total Orders by type of vehicle:</a:t>
            </a:r>
          </a:p>
          <a:p>
            <a:r>
              <a:rPr lang="en-IN" dirty="0"/>
              <a:t>1) </a:t>
            </a:r>
            <a:r>
              <a:rPr lang="en-IN" u="sng" dirty="0"/>
              <a:t>Motorcycle:</a:t>
            </a:r>
            <a:r>
              <a:rPr lang="en-IN" dirty="0"/>
              <a:t> </a:t>
            </a:r>
            <a:r>
              <a:rPr lang="en-IN" sz="1400" dirty="0"/>
              <a:t>Total orders in motorcycle is 5,955 (58.92%).</a:t>
            </a:r>
          </a:p>
          <a:p>
            <a:r>
              <a:rPr lang="en-IN" dirty="0"/>
              <a:t>2) </a:t>
            </a:r>
            <a:r>
              <a:rPr lang="en-IN" u="sng" dirty="0"/>
              <a:t>Scooter</a:t>
            </a:r>
            <a:r>
              <a:rPr lang="en-IN" dirty="0"/>
              <a:t>: Total orders delivered by scooter is 3,364 (33.28%).</a:t>
            </a:r>
          </a:p>
          <a:p>
            <a:r>
              <a:rPr lang="en-IN" dirty="0"/>
              <a:t>3) </a:t>
            </a:r>
            <a:r>
              <a:rPr lang="en-IN" u="sng" dirty="0"/>
              <a:t>Electric scooter: </a:t>
            </a:r>
            <a:r>
              <a:rPr lang="en-IN" sz="1400" dirty="0"/>
              <a:t>Total orders in electric scooter is 788 (7.8%).</a:t>
            </a:r>
          </a:p>
          <a:p>
            <a:endParaRPr lang="en-IN" sz="1400" dirty="0"/>
          </a:p>
          <a:p>
            <a:pPr marL="285750" indent="-285750">
              <a:buFont typeface="Wingdings" panose="05000000000000000000" pitchFamily="2" charset="2"/>
              <a:buChar char="Ø"/>
            </a:pPr>
            <a:r>
              <a:rPr lang="en-IN" sz="1800" u="sng" dirty="0"/>
              <a:t>Total type of orders:</a:t>
            </a:r>
          </a:p>
          <a:p>
            <a:r>
              <a:rPr lang="en-IN" sz="1400" dirty="0"/>
              <a:t>1) </a:t>
            </a:r>
            <a:r>
              <a:rPr lang="en-IN" u="sng" dirty="0"/>
              <a:t>Drinks</a:t>
            </a:r>
            <a:r>
              <a:rPr lang="en-IN" sz="1400" dirty="0"/>
              <a:t>: As per to the model drinks are the food type which is more sailable, which is 2,578 orders in total.</a:t>
            </a:r>
          </a:p>
          <a:p>
            <a:r>
              <a:rPr lang="en-IN" sz="1400" dirty="0"/>
              <a:t>2) </a:t>
            </a:r>
            <a:r>
              <a:rPr lang="en-IN" u="sng" dirty="0"/>
              <a:t>Buffet:</a:t>
            </a:r>
            <a:r>
              <a:rPr lang="en-IN" sz="1400" dirty="0"/>
              <a:t> Buffet is similar to the drinks but slight difference is there. The total order for buffet is 2,560 orders.</a:t>
            </a:r>
          </a:p>
          <a:p>
            <a:r>
              <a:rPr lang="en-IN" sz="1400" dirty="0"/>
              <a:t>3) </a:t>
            </a:r>
            <a:r>
              <a:rPr lang="en-IN" u="sng" dirty="0"/>
              <a:t>Snack: </a:t>
            </a:r>
            <a:r>
              <a:rPr lang="en-IN" sz="1400" dirty="0"/>
              <a:t>The total order for snake is 2,489 orders.</a:t>
            </a:r>
          </a:p>
          <a:p>
            <a:r>
              <a:rPr lang="en-IN" sz="1400" dirty="0"/>
              <a:t>4) </a:t>
            </a:r>
            <a:r>
              <a:rPr lang="en-IN" u="sng" dirty="0"/>
              <a:t>Meal:</a:t>
            </a:r>
            <a:r>
              <a:rPr lang="en-IN" sz="1400" dirty="0"/>
              <a:t> The total orders for meal is 2, 480.</a:t>
            </a:r>
          </a:p>
          <a:p>
            <a:endParaRPr lang="en-IN" sz="1400" dirty="0"/>
          </a:p>
        </p:txBody>
      </p:sp>
      <p:sp>
        <p:nvSpPr>
          <p:cNvPr id="5" name="Slide Number Placeholder 4">
            <a:extLst>
              <a:ext uri="{FF2B5EF4-FFF2-40B4-BE49-F238E27FC236}">
                <a16:creationId xmlns:a16="http://schemas.microsoft.com/office/drawing/2014/main" id="{B30B526B-2258-FF09-6C87-C654673CC04B}"/>
              </a:ext>
            </a:extLst>
          </p:cNvPr>
          <p:cNvSpPr>
            <a:spLocks noGrp="1"/>
          </p:cNvSpPr>
          <p:nvPr>
            <p:ph type="sldNum" sz="quarter" idx="12"/>
          </p:nvPr>
        </p:nvSpPr>
        <p:spPr/>
        <p:txBody>
          <a:bodyPr/>
          <a:lstStyle/>
          <a:p>
            <a:fld id="{4FAB73BC-B049-4115-A692-8D63A059BFB8}" type="slidenum">
              <a:rPr lang="en-US" smtClean="0"/>
              <a:t>8</a:t>
            </a:fld>
            <a:endParaRPr lang="en-US" dirty="0"/>
          </a:p>
        </p:txBody>
      </p:sp>
      <p:pic>
        <p:nvPicPr>
          <p:cNvPr id="9" name="Picture 8">
            <a:extLst>
              <a:ext uri="{FF2B5EF4-FFF2-40B4-BE49-F238E27FC236}">
                <a16:creationId xmlns:a16="http://schemas.microsoft.com/office/drawing/2014/main" id="{E80A217B-E719-EDD7-48C3-A2D37A482E9E}"/>
              </a:ext>
            </a:extLst>
          </p:cNvPr>
          <p:cNvPicPr>
            <a:picLocks noChangeAspect="1"/>
          </p:cNvPicPr>
          <p:nvPr/>
        </p:nvPicPr>
        <p:blipFill>
          <a:blip r:embed="rId4"/>
          <a:stretch>
            <a:fillRect/>
          </a:stretch>
        </p:blipFill>
        <p:spPr>
          <a:xfrm>
            <a:off x="806466" y="1091824"/>
            <a:ext cx="2986401" cy="2686425"/>
          </a:xfrm>
          <a:prstGeom prst="rect">
            <a:avLst/>
          </a:prstGeom>
        </p:spPr>
      </p:pic>
    </p:spTree>
    <p:custDataLst>
      <p:tags r:id="rId1"/>
    </p:custDataLst>
    <p:extLst>
      <p:ext uri="{BB962C8B-B14F-4D97-AF65-F5344CB8AC3E}">
        <p14:creationId xmlns:p14="http://schemas.microsoft.com/office/powerpoint/2010/main" val="4015107639"/>
      </p:ext>
    </p:extLst>
  </p:cSld>
  <p:clrMapOvr>
    <a:masterClrMapping/>
  </p:clrMapOvr>
  <mc:AlternateContent xmlns:mc="http://schemas.openxmlformats.org/markup-compatibility/2006">
    <mc:Choice xmlns:p14="http://schemas.microsoft.com/office/powerpoint/2010/main" Requires="p14">
      <p:transition spd="slow" p14:dur="2000" advTm="6674"/>
    </mc:Choice>
    <mc:Fallback>
      <p:transition spd="slow" advTm="66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barn(inVertical)">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barn(inVertical)">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barn(inVertical)">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barn(inVertical)">
                                      <p:cBhvr>
                                        <p:cTn id="22" dur="500"/>
                                        <p:tgtEl>
                                          <p:spTgt spid="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7">
                                            <p:txEl>
                                              <p:pRg st="5" end="5"/>
                                            </p:txEl>
                                          </p:spTgt>
                                        </p:tgtEl>
                                        <p:attrNameLst>
                                          <p:attrName>style.visibility</p:attrName>
                                        </p:attrNameLst>
                                      </p:cBhvr>
                                      <p:to>
                                        <p:strVal val="visible"/>
                                      </p:to>
                                    </p:set>
                                    <p:animEffect transition="in" filter="barn(inVertical)">
                                      <p:cBhvr>
                                        <p:cTn id="27" dur="500"/>
                                        <p:tgtEl>
                                          <p:spTgt spid="1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7">
                                            <p:txEl>
                                              <p:pRg st="6" end="6"/>
                                            </p:txEl>
                                          </p:spTgt>
                                        </p:tgtEl>
                                        <p:attrNameLst>
                                          <p:attrName>style.visibility</p:attrName>
                                        </p:attrNameLst>
                                      </p:cBhvr>
                                      <p:to>
                                        <p:strVal val="visible"/>
                                      </p:to>
                                    </p:set>
                                    <p:animEffect transition="in" filter="barn(inVertical)">
                                      <p:cBhvr>
                                        <p:cTn id="32" dur="500"/>
                                        <p:tgtEl>
                                          <p:spTgt spid="1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7">
                                            <p:txEl>
                                              <p:pRg st="7" end="7"/>
                                            </p:txEl>
                                          </p:spTgt>
                                        </p:tgtEl>
                                        <p:attrNameLst>
                                          <p:attrName>style.visibility</p:attrName>
                                        </p:attrNameLst>
                                      </p:cBhvr>
                                      <p:to>
                                        <p:strVal val="visible"/>
                                      </p:to>
                                    </p:set>
                                    <p:animEffect transition="in" filter="barn(inVertical)">
                                      <p:cBhvr>
                                        <p:cTn id="37" dur="500"/>
                                        <p:tgtEl>
                                          <p:spTgt spid="1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7">
                                            <p:txEl>
                                              <p:pRg st="8" end="8"/>
                                            </p:txEl>
                                          </p:spTgt>
                                        </p:tgtEl>
                                        <p:attrNameLst>
                                          <p:attrName>style.visibility</p:attrName>
                                        </p:attrNameLst>
                                      </p:cBhvr>
                                      <p:to>
                                        <p:strVal val="visible"/>
                                      </p:to>
                                    </p:set>
                                    <p:animEffect transition="in" filter="barn(inVertical)">
                                      <p:cBhvr>
                                        <p:cTn id="42" dur="500"/>
                                        <p:tgtEl>
                                          <p:spTgt spid="1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17">
                                            <p:txEl>
                                              <p:pRg st="9" end="9"/>
                                            </p:txEl>
                                          </p:spTgt>
                                        </p:tgtEl>
                                        <p:attrNameLst>
                                          <p:attrName>style.visibility</p:attrName>
                                        </p:attrNameLst>
                                      </p:cBhvr>
                                      <p:to>
                                        <p:strVal val="visible"/>
                                      </p:to>
                                    </p:set>
                                    <p:animEffect transition="in" filter="barn(inVertical)">
                                      <p:cBhvr>
                                        <p:cTn id="47" dur="500"/>
                                        <p:tgtEl>
                                          <p:spTgt spid="1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437135-C409-DF4D-0BF5-6D64B92E67F2}"/>
              </a:ext>
            </a:extLst>
          </p:cNvPr>
          <p:cNvSpPr>
            <a:spLocks noGrp="1"/>
          </p:cNvSpPr>
          <p:nvPr>
            <p:ph type="title"/>
          </p:nvPr>
        </p:nvSpPr>
        <p:spPr>
          <a:xfrm>
            <a:off x="1141413" y="182306"/>
            <a:ext cx="9905998" cy="508159"/>
          </a:xfrm>
        </p:spPr>
        <p:txBody>
          <a:bodyPr>
            <a:normAutofit fontScale="90000"/>
          </a:bodyPr>
          <a:lstStyle/>
          <a:p>
            <a:pPr algn="ctr"/>
            <a:r>
              <a:rPr lang="en-IN" dirty="0">
                <a:latin typeface="Algerian" panose="04020705040A02060702" pitchFamily="82" charset="0"/>
              </a:rPr>
              <a:t>6). Delivery person performance.</a:t>
            </a:r>
          </a:p>
        </p:txBody>
      </p:sp>
      <p:sp>
        <p:nvSpPr>
          <p:cNvPr id="7" name="Content Placeholder 6">
            <a:extLst>
              <a:ext uri="{FF2B5EF4-FFF2-40B4-BE49-F238E27FC236}">
                <a16:creationId xmlns:a16="http://schemas.microsoft.com/office/drawing/2014/main" id="{52174B92-B237-9C13-C06A-6BCD045852E1}"/>
              </a:ext>
            </a:extLst>
          </p:cNvPr>
          <p:cNvSpPr>
            <a:spLocks noGrp="1"/>
          </p:cNvSpPr>
          <p:nvPr>
            <p:ph idx="1"/>
          </p:nvPr>
        </p:nvSpPr>
        <p:spPr>
          <a:xfrm>
            <a:off x="5047861" y="905069"/>
            <a:ext cx="5999550" cy="4886131"/>
          </a:xfrm>
        </p:spPr>
        <p:txBody>
          <a:bodyPr/>
          <a:lstStyle/>
          <a:p>
            <a:r>
              <a:rPr lang="en-IN" dirty="0"/>
              <a:t>KPI:</a:t>
            </a:r>
          </a:p>
          <a:p>
            <a:pPr marL="457200" indent="-457200">
              <a:buAutoNum type="arabicParenR"/>
            </a:pPr>
            <a:r>
              <a:rPr lang="en-IN" dirty="0"/>
              <a:t>Total delivery person is 1,282</a:t>
            </a:r>
          </a:p>
          <a:p>
            <a:pPr marL="457200" indent="-457200">
              <a:buAutoNum type="arabicParenR"/>
            </a:pPr>
            <a:r>
              <a:rPr lang="en-IN" dirty="0"/>
              <a:t>Average rating for them is 4.63% which is overall good.</a:t>
            </a:r>
          </a:p>
          <a:p>
            <a:pPr marL="457200" indent="-457200">
              <a:buAutoNum type="arabicParenR"/>
            </a:pPr>
            <a:r>
              <a:rPr lang="en-IN" dirty="0"/>
              <a:t>Average delivery they do is 29.55 .</a:t>
            </a:r>
          </a:p>
          <a:p>
            <a:pPr marL="457200" indent="-457200">
              <a:buAutoNum type="arabicParenR"/>
            </a:pPr>
            <a:r>
              <a:rPr lang="en-IN" dirty="0"/>
              <a:t>There are 3 multiple delivery on daily basis.</a:t>
            </a:r>
          </a:p>
          <a:p>
            <a:pPr>
              <a:buFont typeface="Arial" panose="020B0604020202020204" pitchFamily="34" charset="0"/>
              <a:buChar char="•"/>
            </a:pPr>
            <a:r>
              <a:rPr lang="en-IN" dirty="0"/>
              <a:t>Here we have focus more on multiple deliveries and delivery rate on daily basis.</a:t>
            </a:r>
          </a:p>
          <a:p>
            <a:pPr>
              <a:buFont typeface="Arial" panose="020B0604020202020204" pitchFamily="34" charset="0"/>
              <a:buChar char="•"/>
            </a:pPr>
            <a:r>
              <a:rPr lang="en-IN" dirty="0"/>
              <a:t>Average rating 4.63% is very good rating according to the model.</a:t>
            </a:r>
          </a:p>
        </p:txBody>
      </p:sp>
      <p:sp>
        <p:nvSpPr>
          <p:cNvPr id="5" name="Slide Number Placeholder 4">
            <a:extLst>
              <a:ext uri="{FF2B5EF4-FFF2-40B4-BE49-F238E27FC236}">
                <a16:creationId xmlns:a16="http://schemas.microsoft.com/office/drawing/2014/main" id="{E67E8D1D-5802-C0D8-00A9-8FB2374F4CD7}"/>
              </a:ext>
            </a:extLst>
          </p:cNvPr>
          <p:cNvSpPr>
            <a:spLocks noGrp="1"/>
          </p:cNvSpPr>
          <p:nvPr>
            <p:ph type="sldNum" sz="quarter" idx="12"/>
          </p:nvPr>
        </p:nvSpPr>
        <p:spPr/>
        <p:txBody>
          <a:bodyPr/>
          <a:lstStyle/>
          <a:p>
            <a:fld id="{4FAB73BC-B049-4115-A692-8D63A059BFB8}" type="slidenum">
              <a:rPr lang="en-US" smtClean="0"/>
              <a:t>9</a:t>
            </a:fld>
            <a:endParaRPr lang="en-US" dirty="0"/>
          </a:p>
        </p:txBody>
      </p:sp>
      <p:pic>
        <p:nvPicPr>
          <p:cNvPr id="9" name="Picture 8">
            <a:extLst>
              <a:ext uri="{FF2B5EF4-FFF2-40B4-BE49-F238E27FC236}">
                <a16:creationId xmlns:a16="http://schemas.microsoft.com/office/drawing/2014/main" id="{BDB5B407-A36D-2EDF-4D6C-CAAAC2FC6B22}"/>
              </a:ext>
            </a:extLst>
          </p:cNvPr>
          <p:cNvPicPr>
            <a:picLocks noChangeAspect="1"/>
          </p:cNvPicPr>
          <p:nvPr/>
        </p:nvPicPr>
        <p:blipFill>
          <a:blip r:embed="rId3"/>
          <a:stretch>
            <a:fillRect/>
          </a:stretch>
        </p:blipFill>
        <p:spPr>
          <a:xfrm>
            <a:off x="397356" y="2425959"/>
            <a:ext cx="4044015" cy="922175"/>
          </a:xfrm>
          <a:prstGeom prst="rect">
            <a:avLst/>
          </a:prstGeom>
        </p:spPr>
      </p:pic>
    </p:spTree>
    <p:custDataLst>
      <p:tags r:id="rId1"/>
    </p:custDataLst>
    <p:extLst>
      <p:ext uri="{BB962C8B-B14F-4D97-AF65-F5344CB8AC3E}">
        <p14:creationId xmlns:p14="http://schemas.microsoft.com/office/powerpoint/2010/main" val="2390108506"/>
      </p:ext>
    </p:extLst>
  </p:cSld>
  <p:clrMapOvr>
    <a:masterClrMapping/>
  </p:clrMapOvr>
  <mc:AlternateContent xmlns:mc="http://schemas.openxmlformats.org/markup-compatibility/2006">
    <mc:Choice xmlns:p14="http://schemas.microsoft.com/office/powerpoint/2010/main" Requires="p14">
      <p:transition spd="slow" p14:dur="2000" advTm="14702"/>
    </mc:Choice>
    <mc:Fallback>
      <p:transition spd="slow" advTm="147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heel(1)">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heel(1)">
                                      <p:cBhvr>
                                        <p:cTn id="12" dur="20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heel(1)">
                                      <p:cBhvr>
                                        <p:cTn id="17" dur="20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heel(1)">
                                      <p:cBhvr>
                                        <p:cTn id="22" dur="20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heel(1)">
                                      <p:cBhvr>
                                        <p:cTn id="27" dur="20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heel(1)">
                                      <p:cBhvr>
                                        <p:cTn id="32" dur="20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heel(1)">
                                      <p:cBhvr>
                                        <p:cTn id="37" dur="20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FF0C5-D03B-D124-9A78-C890D1062BE9}"/>
              </a:ext>
            </a:extLst>
          </p:cNvPr>
          <p:cNvSpPr>
            <a:spLocks noGrp="1"/>
          </p:cNvSpPr>
          <p:nvPr>
            <p:ph type="title"/>
          </p:nvPr>
        </p:nvSpPr>
        <p:spPr>
          <a:xfrm>
            <a:off x="863065" y="244475"/>
            <a:ext cx="10465869" cy="622041"/>
          </a:xfrm>
        </p:spPr>
        <p:txBody>
          <a:bodyPr>
            <a:normAutofit/>
          </a:bodyPr>
          <a:lstStyle/>
          <a:p>
            <a:r>
              <a:rPr lang="en-IN" dirty="0"/>
              <a:t>Total orders delivery and their top 5 orders.</a:t>
            </a:r>
          </a:p>
        </p:txBody>
      </p:sp>
      <p:sp>
        <p:nvSpPr>
          <p:cNvPr id="3" name="Content Placeholder 2">
            <a:extLst>
              <a:ext uri="{FF2B5EF4-FFF2-40B4-BE49-F238E27FC236}">
                <a16:creationId xmlns:a16="http://schemas.microsoft.com/office/drawing/2014/main" id="{193D29D9-41B5-FC80-70C2-E65FC2E85118}"/>
              </a:ext>
            </a:extLst>
          </p:cNvPr>
          <p:cNvSpPr>
            <a:spLocks noGrp="1"/>
          </p:cNvSpPr>
          <p:nvPr>
            <p:ph idx="1"/>
          </p:nvPr>
        </p:nvSpPr>
        <p:spPr>
          <a:xfrm>
            <a:off x="5365761" y="940836"/>
            <a:ext cx="6530770" cy="5581262"/>
          </a:xfrm>
        </p:spPr>
        <p:txBody>
          <a:bodyPr/>
          <a:lstStyle/>
          <a:p>
            <a:r>
              <a:rPr lang="en-IN" dirty="0">
                <a:latin typeface="Aptos" panose="020B0004020202020204" pitchFamily="34" charset="0"/>
              </a:rPr>
              <a:t>There are top 5 delivery partners who is topping the chart by doing total 22 deliveries in a year.</a:t>
            </a:r>
          </a:p>
          <a:p>
            <a:r>
              <a:rPr lang="en-IN" dirty="0">
                <a:latin typeface="Aptos" panose="020B0004020202020204" pitchFamily="34" charset="0"/>
              </a:rPr>
              <a:t>Mumres11del02, mysres01del02, chenres08del01, coimbres01del01, indores14del01. These are the 5 ID who is topping the chart. </a:t>
            </a:r>
          </a:p>
          <a:p>
            <a:r>
              <a:rPr lang="en-IN" dirty="0">
                <a:latin typeface="Aptos" panose="020B0004020202020204" pitchFamily="34" charset="0"/>
              </a:rPr>
              <a:t>Mumres11del02- The location for this delivery partner is in Mumbai</a:t>
            </a:r>
          </a:p>
          <a:p>
            <a:r>
              <a:rPr lang="en-IN" dirty="0">
                <a:latin typeface="Aptos" panose="020B0004020202020204" pitchFamily="34" charset="0"/>
              </a:rPr>
              <a:t>Mysres01del02- This is located in Mysore.</a:t>
            </a:r>
          </a:p>
          <a:p>
            <a:r>
              <a:rPr lang="en-IN" dirty="0">
                <a:latin typeface="Aptos" panose="020B0004020202020204" pitchFamily="34" charset="0"/>
              </a:rPr>
              <a:t>Chenres08del01- This location is of Chennai</a:t>
            </a:r>
          </a:p>
          <a:p>
            <a:r>
              <a:rPr lang="en-IN" dirty="0">
                <a:latin typeface="Aptos" panose="020B0004020202020204" pitchFamily="34" charset="0"/>
              </a:rPr>
              <a:t>Indores14del01- This is from Indore.</a:t>
            </a:r>
          </a:p>
          <a:p>
            <a:endParaRPr lang="en-IN" dirty="0"/>
          </a:p>
        </p:txBody>
      </p:sp>
      <p:sp>
        <p:nvSpPr>
          <p:cNvPr id="4" name="Slide Number Placeholder 3">
            <a:extLst>
              <a:ext uri="{FF2B5EF4-FFF2-40B4-BE49-F238E27FC236}">
                <a16:creationId xmlns:a16="http://schemas.microsoft.com/office/drawing/2014/main" id="{2485E897-A491-EAC6-17C5-A99A3628D0CC}"/>
              </a:ext>
            </a:extLst>
          </p:cNvPr>
          <p:cNvSpPr>
            <a:spLocks noGrp="1"/>
          </p:cNvSpPr>
          <p:nvPr>
            <p:ph type="sldNum" sz="quarter" idx="12"/>
          </p:nvPr>
        </p:nvSpPr>
        <p:spPr/>
        <p:txBody>
          <a:bodyPr/>
          <a:lstStyle/>
          <a:p>
            <a:fld id="{4FAB73BC-B049-4115-A692-8D63A059BFB8}" type="slidenum">
              <a:rPr lang="en-US" smtClean="0"/>
              <a:t>10</a:t>
            </a:fld>
            <a:endParaRPr lang="en-US" dirty="0"/>
          </a:p>
        </p:txBody>
      </p:sp>
      <p:pic>
        <p:nvPicPr>
          <p:cNvPr id="6" name="Picture 5">
            <a:extLst>
              <a:ext uri="{FF2B5EF4-FFF2-40B4-BE49-F238E27FC236}">
                <a16:creationId xmlns:a16="http://schemas.microsoft.com/office/drawing/2014/main" id="{DCC39E37-0976-5563-CC3B-CC9EB343C33D}"/>
              </a:ext>
            </a:extLst>
          </p:cNvPr>
          <p:cNvPicPr>
            <a:picLocks noChangeAspect="1"/>
          </p:cNvPicPr>
          <p:nvPr/>
        </p:nvPicPr>
        <p:blipFill>
          <a:blip r:embed="rId3"/>
          <a:stretch>
            <a:fillRect/>
          </a:stretch>
        </p:blipFill>
        <p:spPr>
          <a:xfrm>
            <a:off x="1175641" y="1190571"/>
            <a:ext cx="2914038" cy="2670005"/>
          </a:xfrm>
          <a:prstGeom prst="rect">
            <a:avLst/>
          </a:prstGeom>
        </p:spPr>
      </p:pic>
      <p:pic>
        <p:nvPicPr>
          <p:cNvPr id="8" name="Picture 7">
            <a:extLst>
              <a:ext uri="{FF2B5EF4-FFF2-40B4-BE49-F238E27FC236}">
                <a16:creationId xmlns:a16="http://schemas.microsoft.com/office/drawing/2014/main" id="{C49F5336-2284-0AB5-6DCF-3AC612468A08}"/>
              </a:ext>
            </a:extLst>
          </p:cNvPr>
          <p:cNvPicPr>
            <a:picLocks noChangeAspect="1"/>
          </p:cNvPicPr>
          <p:nvPr/>
        </p:nvPicPr>
        <p:blipFill>
          <a:blip r:embed="rId4"/>
          <a:stretch>
            <a:fillRect/>
          </a:stretch>
        </p:blipFill>
        <p:spPr>
          <a:xfrm>
            <a:off x="851755" y="4122466"/>
            <a:ext cx="3824597" cy="2125934"/>
          </a:xfrm>
          <a:prstGeom prst="rect">
            <a:avLst/>
          </a:prstGeom>
        </p:spPr>
      </p:pic>
    </p:spTree>
    <p:custDataLst>
      <p:tags r:id="rId1"/>
    </p:custDataLst>
    <p:extLst>
      <p:ext uri="{BB962C8B-B14F-4D97-AF65-F5344CB8AC3E}">
        <p14:creationId xmlns:p14="http://schemas.microsoft.com/office/powerpoint/2010/main" val="3677044502"/>
      </p:ext>
    </p:extLst>
  </p:cSld>
  <p:clrMapOvr>
    <a:masterClrMapping/>
  </p:clrMapOvr>
  <mc:AlternateContent xmlns:mc="http://schemas.openxmlformats.org/markup-compatibility/2006">
    <mc:Choice xmlns:p14="http://schemas.microsoft.com/office/powerpoint/2010/main" Requires="p14">
      <p:transition spd="slow" p14:dur="2000" advTm="15098"/>
    </mc:Choice>
    <mc:Fallback>
      <p:transition spd="slow" advTm="150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3">
                                            <p:txEl>
                                              <p:pRg st="0" end="0"/>
                                            </p:txEl>
                                          </p:spTgt>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8" presetClass="emph" presetSubtype="0" fill="hold" grpId="0" nodeType="clickEffect">
                                  <p:stCondLst>
                                    <p:cond delay="0"/>
                                  </p:stCondLst>
                                  <p:childTnLst>
                                    <p:animRot by="21600000">
                                      <p:cBhvr>
                                        <p:cTn id="10" dur="2000" fill="hold"/>
                                        <p:tgtEl>
                                          <p:spTgt spid="3">
                                            <p:txEl>
                                              <p:pRg st="1" end="1"/>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8" presetClass="emph" presetSubtype="0" fill="hold" grpId="0" nodeType="clickEffect">
                                  <p:stCondLst>
                                    <p:cond delay="0"/>
                                  </p:stCondLst>
                                  <p:childTnLst>
                                    <p:animRot by="21600000">
                                      <p:cBhvr>
                                        <p:cTn id="14" dur="2000" fill="hold"/>
                                        <p:tgtEl>
                                          <p:spTgt spid="3">
                                            <p:txEl>
                                              <p:pRg st="2" end="2"/>
                                            </p:txEl>
                                          </p:spTgt>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grpId="0" nodeType="clickEffect">
                                  <p:stCondLst>
                                    <p:cond delay="0"/>
                                  </p:stCondLst>
                                  <p:childTnLst>
                                    <p:animRot by="21600000">
                                      <p:cBhvr>
                                        <p:cTn id="18" dur="2000" fill="hold"/>
                                        <p:tgtEl>
                                          <p:spTgt spid="3">
                                            <p:txEl>
                                              <p:pRg st="3" end="3"/>
                                            </p:txEl>
                                          </p:spTgt>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8" presetClass="emph" presetSubtype="0" fill="hold" grpId="0" nodeType="clickEffect">
                                  <p:stCondLst>
                                    <p:cond delay="0"/>
                                  </p:stCondLst>
                                  <p:childTnLst>
                                    <p:animRot by="21600000">
                                      <p:cBhvr>
                                        <p:cTn id="22" dur="2000" fill="hold"/>
                                        <p:tgtEl>
                                          <p:spTgt spid="3">
                                            <p:txEl>
                                              <p:pRg st="4" end="4"/>
                                            </p:txEl>
                                          </p:spTgt>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8" presetClass="emph" presetSubtype="0" fill="hold" grpId="0" nodeType="clickEffect">
                                  <p:stCondLst>
                                    <p:cond delay="0"/>
                                  </p:stCondLst>
                                  <p:childTnLst>
                                    <p:animRot by="21600000">
                                      <p:cBhvr>
                                        <p:cTn id="26" dur="2000" fill="hold"/>
                                        <p:tgtEl>
                                          <p:spTgt spid="3">
                                            <p:txEl>
                                              <p:pRg st="5" end="5"/>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978A8-92DA-F157-5D5F-2E959543E3F4}"/>
              </a:ext>
            </a:extLst>
          </p:cNvPr>
          <p:cNvSpPr>
            <a:spLocks noGrp="1"/>
          </p:cNvSpPr>
          <p:nvPr>
            <p:ph type="title"/>
          </p:nvPr>
        </p:nvSpPr>
        <p:spPr>
          <a:xfrm>
            <a:off x="1318695" y="307910"/>
            <a:ext cx="9905998" cy="603380"/>
          </a:xfrm>
        </p:spPr>
        <p:txBody>
          <a:bodyPr/>
          <a:lstStyle/>
          <a:p>
            <a:pPr algn="ctr"/>
            <a:r>
              <a:rPr lang="en-IN" dirty="0">
                <a:latin typeface="Algerian" panose="04020705040A02060702" pitchFamily="82" charset="0"/>
              </a:rPr>
              <a:t>7). Pickup up and delivery analysis</a:t>
            </a:r>
            <a:r>
              <a:rPr lang="en-IN" dirty="0"/>
              <a:t>.</a:t>
            </a:r>
          </a:p>
        </p:txBody>
      </p:sp>
      <p:sp>
        <p:nvSpPr>
          <p:cNvPr id="3" name="Content Placeholder 2">
            <a:extLst>
              <a:ext uri="{FF2B5EF4-FFF2-40B4-BE49-F238E27FC236}">
                <a16:creationId xmlns:a16="http://schemas.microsoft.com/office/drawing/2014/main" id="{60506D87-6418-2867-2CA9-F4DADAF5ADC2}"/>
              </a:ext>
            </a:extLst>
          </p:cNvPr>
          <p:cNvSpPr>
            <a:spLocks noGrp="1"/>
          </p:cNvSpPr>
          <p:nvPr>
            <p:ph idx="1"/>
          </p:nvPr>
        </p:nvSpPr>
        <p:spPr>
          <a:xfrm>
            <a:off x="5858189" y="1203649"/>
            <a:ext cx="6122317" cy="5346441"/>
          </a:xfrm>
        </p:spPr>
        <p:txBody>
          <a:bodyPr/>
          <a:lstStyle/>
          <a:p>
            <a:r>
              <a:rPr lang="en-IN" u="sng" dirty="0">
                <a:latin typeface="Abadi" panose="020F0502020204030204" pitchFamily="34" charset="0"/>
              </a:rPr>
              <a:t>Road traffic density – HIGH</a:t>
            </a:r>
          </a:p>
          <a:p>
            <a:r>
              <a:rPr lang="en-IN" dirty="0">
                <a:latin typeface="Abadi" panose="020F0502020204030204" pitchFamily="34" charset="0"/>
              </a:rPr>
              <a:t>According to the analysis, if the road traffic density is high, the average time for pick up is more than 10 mins.</a:t>
            </a:r>
          </a:p>
          <a:p>
            <a:r>
              <a:rPr lang="en-IN" dirty="0">
                <a:latin typeface="Abadi" panose="020F0502020204030204" pitchFamily="34" charset="0"/>
              </a:rPr>
              <a:t>As we can check in the diagram, its taking 10 mins to pickup the order.</a:t>
            </a:r>
          </a:p>
          <a:p>
            <a:r>
              <a:rPr lang="en-IN" dirty="0">
                <a:latin typeface="Abadi" panose="020F0502020204030204" pitchFamily="34" charset="0"/>
              </a:rPr>
              <a:t>As we can check in the power bi there is no much difference in road traffic density. Timing is approx. 10 mins to pick up the delivery.</a:t>
            </a:r>
          </a:p>
          <a:p>
            <a:r>
              <a:rPr lang="en-IN" dirty="0">
                <a:latin typeface="Abadi" panose="020F0502020204030204" pitchFamily="34" charset="0"/>
              </a:rPr>
              <a:t>Average delivery partner rating is 4.6, which is good.</a:t>
            </a:r>
          </a:p>
          <a:p>
            <a:pPr marL="0" indent="0">
              <a:buNone/>
            </a:pPr>
            <a:r>
              <a:rPr lang="en-IN" dirty="0">
                <a:latin typeface="Abadi" panose="020F0502020204030204" pitchFamily="34" charset="0"/>
              </a:rPr>
              <a:t> </a:t>
            </a:r>
          </a:p>
        </p:txBody>
      </p:sp>
      <p:sp>
        <p:nvSpPr>
          <p:cNvPr id="4" name="Slide Number Placeholder 3">
            <a:extLst>
              <a:ext uri="{FF2B5EF4-FFF2-40B4-BE49-F238E27FC236}">
                <a16:creationId xmlns:a16="http://schemas.microsoft.com/office/drawing/2014/main" id="{CFEAFB63-C4B0-3DA6-4A9F-63CB94D07433}"/>
              </a:ext>
            </a:extLst>
          </p:cNvPr>
          <p:cNvSpPr>
            <a:spLocks noGrp="1"/>
          </p:cNvSpPr>
          <p:nvPr>
            <p:ph type="sldNum" sz="quarter" idx="12"/>
          </p:nvPr>
        </p:nvSpPr>
        <p:spPr/>
        <p:txBody>
          <a:bodyPr/>
          <a:lstStyle/>
          <a:p>
            <a:fld id="{4FAB73BC-B049-4115-A692-8D63A059BFB8}" type="slidenum">
              <a:rPr lang="en-US" smtClean="0"/>
              <a:t>11</a:t>
            </a:fld>
            <a:endParaRPr lang="en-US" dirty="0"/>
          </a:p>
        </p:txBody>
      </p:sp>
      <p:pic>
        <p:nvPicPr>
          <p:cNvPr id="8" name="Picture 7">
            <a:extLst>
              <a:ext uri="{FF2B5EF4-FFF2-40B4-BE49-F238E27FC236}">
                <a16:creationId xmlns:a16="http://schemas.microsoft.com/office/drawing/2014/main" id="{3EE8BF61-5912-67DC-3CA5-1119D35ACCD5}"/>
              </a:ext>
            </a:extLst>
          </p:cNvPr>
          <p:cNvPicPr>
            <a:picLocks noChangeAspect="1"/>
          </p:cNvPicPr>
          <p:nvPr/>
        </p:nvPicPr>
        <p:blipFill>
          <a:blip r:embed="rId3"/>
          <a:stretch>
            <a:fillRect/>
          </a:stretch>
        </p:blipFill>
        <p:spPr>
          <a:xfrm>
            <a:off x="237456" y="820214"/>
            <a:ext cx="2162477" cy="1238423"/>
          </a:xfrm>
          <a:prstGeom prst="rect">
            <a:avLst/>
          </a:prstGeom>
        </p:spPr>
      </p:pic>
      <p:pic>
        <p:nvPicPr>
          <p:cNvPr id="10" name="Picture 9">
            <a:extLst>
              <a:ext uri="{FF2B5EF4-FFF2-40B4-BE49-F238E27FC236}">
                <a16:creationId xmlns:a16="http://schemas.microsoft.com/office/drawing/2014/main" id="{30C05747-BED6-52F7-27BD-133BD7F3F882}"/>
              </a:ext>
            </a:extLst>
          </p:cNvPr>
          <p:cNvPicPr>
            <a:picLocks noChangeAspect="1"/>
          </p:cNvPicPr>
          <p:nvPr/>
        </p:nvPicPr>
        <p:blipFill>
          <a:blip r:embed="rId4"/>
          <a:stretch>
            <a:fillRect/>
          </a:stretch>
        </p:blipFill>
        <p:spPr>
          <a:xfrm>
            <a:off x="211494" y="2130035"/>
            <a:ext cx="3140846" cy="4118365"/>
          </a:xfrm>
          <a:prstGeom prst="rect">
            <a:avLst/>
          </a:prstGeom>
        </p:spPr>
      </p:pic>
      <p:pic>
        <p:nvPicPr>
          <p:cNvPr id="12" name="Picture 11">
            <a:extLst>
              <a:ext uri="{FF2B5EF4-FFF2-40B4-BE49-F238E27FC236}">
                <a16:creationId xmlns:a16="http://schemas.microsoft.com/office/drawing/2014/main" id="{5840873A-2CEC-C76F-31C2-2024A82931DB}"/>
              </a:ext>
            </a:extLst>
          </p:cNvPr>
          <p:cNvPicPr>
            <a:picLocks noChangeAspect="1"/>
          </p:cNvPicPr>
          <p:nvPr/>
        </p:nvPicPr>
        <p:blipFill>
          <a:blip r:embed="rId5"/>
          <a:stretch>
            <a:fillRect/>
          </a:stretch>
        </p:blipFill>
        <p:spPr>
          <a:xfrm>
            <a:off x="2946432" y="925267"/>
            <a:ext cx="2038635" cy="1190791"/>
          </a:xfrm>
          <a:prstGeom prst="rect">
            <a:avLst/>
          </a:prstGeom>
        </p:spPr>
      </p:pic>
    </p:spTree>
    <p:custDataLst>
      <p:tags r:id="rId1"/>
    </p:custDataLst>
    <p:extLst>
      <p:ext uri="{BB962C8B-B14F-4D97-AF65-F5344CB8AC3E}">
        <p14:creationId xmlns:p14="http://schemas.microsoft.com/office/powerpoint/2010/main" val="2463922514"/>
      </p:ext>
    </p:extLst>
  </p:cSld>
  <p:clrMapOvr>
    <a:masterClrMapping/>
  </p:clrMapOvr>
  <mc:AlternateContent xmlns:mc="http://schemas.openxmlformats.org/markup-compatibility/2006">
    <mc:Choice xmlns:p14="http://schemas.microsoft.com/office/powerpoint/2010/main" Requires="p14">
      <p:transition spd="slow" p14:dur="2000" advTm="7737"/>
    </mc:Choice>
    <mc:Fallback>
      <p:transition spd="slow" advTm="77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3C479-558A-01DA-2F01-1B605E809EB4}"/>
              </a:ext>
            </a:extLst>
          </p:cNvPr>
          <p:cNvSpPr>
            <a:spLocks noGrp="1"/>
          </p:cNvSpPr>
          <p:nvPr>
            <p:ph type="title"/>
          </p:nvPr>
        </p:nvSpPr>
        <p:spPr>
          <a:xfrm>
            <a:off x="1141413" y="609600"/>
            <a:ext cx="9905998" cy="646444"/>
          </a:xfrm>
        </p:spPr>
        <p:txBody>
          <a:bodyPr/>
          <a:lstStyle/>
          <a:p>
            <a:r>
              <a:rPr lang="en-IN" dirty="0"/>
              <a:t>Pickup taken by weather and city.</a:t>
            </a:r>
          </a:p>
        </p:txBody>
      </p:sp>
      <p:sp>
        <p:nvSpPr>
          <p:cNvPr id="3" name="Content Placeholder 2">
            <a:extLst>
              <a:ext uri="{FF2B5EF4-FFF2-40B4-BE49-F238E27FC236}">
                <a16:creationId xmlns:a16="http://schemas.microsoft.com/office/drawing/2014/main" id="{1CF0EE44-5A4E-4218-5169-6FB349057F8E}"/>
              </a:ext>
            </a:extLst>
          </p:cNvPr>
          <p:cNvSpPr>
            <a:spLocks noGrp="1"/>
          </p:cNvSpPr>
          <p:nvPr>
            <p:ph idx="1"/>
          </p:nvPr>
        </p:nvSpPr>
        <p:spPr>
          <a:xfrm>
            <a:off x="5315578" y="1866899"/>
            <a:ext cx="5641398" cy="3790323"/>
          </a:xfrm>
        </p:spPr>
        <p:txBody>
          <a:bodyPr/>
          <a:lstStyle/>
          <a:p>
            <a:r>
              <a:rPr lang="en-IN" dirty="0"/>
              <a:t>If we check semi- urban cities there are high pickup time taken during windy and stormy weather. </a:t>
            </a:r>
          </a:p>
          <a:p>
            <a:r>
              <a:rPr lang="en-IN" dirty="0"/>
              <a:t>In urban and metropolitan area there are approx. 10 mins taken to pickup the delivery which is fair.</a:t>
            </a:r>
          </a:p>
        </p:txBody>
      </p:sp>
      <p:sp>
        <p:nvSpPr>
          <p:cNvPr id="4" name="Slide Number Placeholder 3">
            <a:extLst>
              <a:ext uri="{FF2B5EF4-FFF2-40B4-BE49-F238E27FC236}">
                <a16:creationId xmlns:a16="http://schemas.microsoft.com/office/drawing/2014/main" id="{8C1F539C-DF90-EF73-26DB-2B85B29F5FBC}"/>
              </a:ext>
            </a:extLst>
          </p:cNvPr>
          <p:cNvSpPr>
            <a:spLocks noGrp="1"/>
          </p:cNvSpPr>
          <p:nvPr>
            <p:ph type="sldNum" sz="quarter" idx="12"/>
          </p:nvPr>
        </p:nvSpPr>
        <p:spPr/>
        <p:txBody>
          <a:bodyPr/>
          <a:lstStyle/>
          <a:p>
            <a:fld id="{4FAB73BC-B049-4115-A692-8D63A059BFB8}" type="slidenum">
              <a:rPr lang="en-US" smtClean="0"/>
              <a:t>12</a:t>
            </a:fld>
            <a:endParaRPr lang="en-US" dirty="0"/>
          </a:p>
        </p:txBody>
      </p:sp>
      <p:pic>
        <p:nvPicPr>
          <p:cNvPr id="8" name="Picture 7">
            <a:extLst>
              <a:ext uri="{FF2B5EF4-FFF2-40B4-BE49-F238E27FC236}">
                <a16:creationId xmlns:a16="http://schemas.microsoft.com/office/drawing/2014/main" id="{42E57133-33C8-D661-63CA-204BEC944429}"/>
              </a:ext>
            </a:extLst>
          </p:cNvPr>
          <p:cNvPicPr>
            <a:picLocks noChangeAspect="1"/>
          </p:cNvPicPr>
          <p:nvPr/>
        </p:nvPicPr>
        <p:blipFill>
          <a:blip r:embed="rId3"/>
          <a:stretch>
            <a:fillRect/>
          </a:stretch>
        </p:blipFill>
        <p:spPr>
          <a:xfrm>
            <a:off x="340324" y="2133290"/>
            <a:ext cx="4658375" cy="2953162"/>
          </a:xfrm>
          <a:prstGeom prst="rect">
            <a:avLst/>
          </a:prstGeom>
        </p:spPr>
      </p:pic>
    </p:spTree>
    <p:custDataLst>
      <p:tags r:id="rId1"/>
    </p:custDataLst>
    <p:extLst>
      <p:ext uri="{BB962C8B-B14F-4D97-AF65-F5344CB8AC3E}">
        <p14:creationId xmlns:p14="http://schemas.microsoft.com/office/powerpoint/2010/main" val="4118047496"/>
      </p:ext>
    </p:extLst>
  </p:cSld>
  <p:clrMapOvr>
    <a:masterClrMapping/>
  </p:clrMapOvr>
  <mc:AlternateContent xmlns:mc="http://schemas.openxmlformats.org/markup-compatibility/2006">
    <mc:Choice xmlns:p14="http://schemas.microsoft.com/office/powerpoint/2010/main" Requires="p14">
      <p:transition spd="slow" p14:dur="2000" advTm="3914"/>
    </mc:Choice>
    <mc:Fallback>
      <p:transition spd="slow" advTm="391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9FEFE-1A3F-DB0D-1B2E-32DA4697AF0C}"/>
              </a:ext>
            </a:extLst>
          </p:cNvPr>
          <p:cNvSpPr>
            <a:spLocks noGrp="1"/>
          </p:cNvSpPr>
          <p:nvPr>
            <p:ph type="title"/>
          </p:nvPr>
        </p:nvSpPr>
        <p:spPr>
          <a:xfrm>
            <a:off x="1010785" y="358392"/>
            <a:ext cx="10363950" cy="887604"/>
          </a:xfrm>
        </p:spPr>
        <p:txBody>
          <a:bodyPr>
            <a:normAutofit fontScale="90000"/>
          </a:bodyPr>
          <a:lstStyle/>
          <a:p>
            <a:r>
              <a:rPr lang="en-IN" dirty="0"/>
              <a:t>Total orders by weather and vehicle condition &amp;  Total order by festival.</a:t>
            </a:r>
          </a:p>
        </p:txBody>
      </p:sp>
      <p:sp>
        <p:nvSpPr>
          <p:cNvPr id="3" name="Content Placeholder 2">
            <a:extLst>
              <a:ext uri="{FF2B5EF4-FFF2-40B4-BE49-F238E27FC236}">
                <a16:creationId xmlns:a16="http://schemas.microsoft.com/office/drawing/2014/main" id="{ACA27683-6235-DB67-5BB6-C41774C24EE0}"/>
              </a:ext>
            </a:extLst>
          </p:cNvPr>
          <p:cNvSpPr>
            <a:spLocks noGrp="1"/>
          </p:cNvSpPr>
          <p:nvPr>
            <p:ph idx="1"/>
          </p:nvPr>
        </p:nvSpPr>
        <p:spPr>
          <a:xfrm>
            <a:off x="5225143" y="1642871"/>
            <a:ext cx="5701687" cy="4687591"/>
          </a:xfrm>
        </p:spPr>
        <p:txBody>
          <a:bodyPr/>
          <a:lstStyle/>
          <a:p>
            <a:r>
              <a:rPr lang="en-IN" dirty="0"/>
              <a:t>If we see this chart during windy, sunny condition the vehicle condition is good. But during other weather condition the vehicle is not keeping that Great.</a:t>
            </a:r>
          </a:p>
          <a:p>
            <a:r>
              <a:rPr lang="en-IN" dirty="0"/>
              <a:t>In this we can conclude that during sunny and windy we can take more orders and compare to others.</a:t>
            </a:r>
          </a:p>
          <a:p>
            <a:r>
              <a:rPr lang="en-IN" dirty="0"/>
              <a:t>In 0 festival days there is more orders made as compare to festival days. We need to make sure that we take orders at non-festival days.</a:t>
            </a:r>
          </a:p>
        </p:txBody>
      </p:sp>
      <p:sp>
        <p:nvSpPr>
          <p:cNvPr id="4" name="Slide Number Placeholder 3">
            <a:extLst>
              <a:ext uri="{FF2B5EF4-FFF2-40B4-BE49-F238E27FC236}">
                <a16:creationId xmlns:a16="http://schemas.microsoft.com/office/drawing/2014/main" id="{99D2C718-D1BB-9902-3ADC-BD10010685FF}"/>
              </a:ext>
            </a:extLst>
          </p:cNvPr>
          <p:cNvSpPr>
            <a:spLocks noGrp="1"/>
          </p:cNvSpPr>
          <p:nvPr>
            <p:ph type="sldNum" sz="quarter" idx="12"/>
          </p:nvPr>
        </p:nvSpPr>
        <p:spPr/>
        <p:txBody>
          <a:bodyPr/>
          <a:lstStyle/>
          <a:p>
            <a:fld id="{4FAB73BC-B049-4115-A692-8D63A059BFB8}" type="slidenum">
              <a:rPr lang="en-US" smtClean="0"/>
              <a:t>13</a:t>
            </a:fld>
            <a:endParaRPr lang="en-US" dirty="0"/>
          </a:p>
        </p:txBody>
      </p:sp>
      <p:pic>
        <p:nvPicPr>
          <p:cNvPr id="6" name="Picture 5">
            <a:extLst>
              <a:ext uri="{FF2B5EF4-FFF2-40B4-BE49-F238E27FC236}">
                <a16:creationId xmlns:a16="http://schemas.microsoft.com/office/drawing/2014/main" id="{0DEB964C-DF49-F2CC-12D3-EDBFF3735C1D}"/>
              </a:ext>
            </a:extLst>
          </p:cNvPr>
          <p:cNvPicPr>
            <a:picLocks noChangeAspect="1"/>
          </p:cNvPicPr>
          <p:nvPr/>
        </p:nvPicPr>
        <p:blipFill>
          <a:blip r:embed="rId3"/>
          <a:stretch>
            <a:fillRect/>
          </a:stretch>
        </p:blipFill>
        <p:spPr>
          <a:xfrm>
            <a:off x="570131" y="1742707"/>
            <a:ext cx="3640129" cy="2128625"/>
          </a:xfrm>
          <a:prstGeom prst="rect">
            <a:avLst/>
          </a:prstGeom>
        </p:spPr>
      </p:pic>
      <p:pic>
        <p:nvPicPr>
          <p:cNvPr id="8" name="Picture 7">
            <a:extLst>
              <a:ext uri="{FF2B5EF4-FFF2-40B4-BE49-F238E27FC236}">
                <a16:creationId xmlns:a16="http://schemas.microsoft.com/office/drawing/2014/main" id="{0E0A438F-22FE-3A57-D34E-4FD69AF38520}"/>
              </a:ext>
            </a:extLst>
          </p:cNvPr>
          <p:cNvPicPr>
            <a:picLocks noChangeAspect="1"/>
          </p:cNvPicPr>
          <p:nvPr/>
        </p:nvPicPr>
        <p:blipFill>
          <a:blip r:embed="rId4"/>
          <a:stretch>
            <a:fillRect/>
          </a:stretch>
        </p:blipFill>
        <p:spPr>
          <a:xfrm>
            <a:off x="1010785" y="4035802"/>
            <a:ext cx="2623158" cy="2463806"/>
          </a:xfrm>
          <a:prstGeom prst="rect">
            <a:avLst/>
          </a:prstGeom>
        </p:spPr>
      </p:pic>
    </p:spTree>
    <p:custDataLst>
      <p:tags r:id="rId1"/>
    </p:custDataLst>
    <p:extLst>
      <p:ext uri="{BB962C8B-B14F-4D97-AF65-F5344CB8AC3E}">
        <p14:creationId xmlns:p14="http://schemas.microsoft.com/office/powerpoint/2010/main" val="4098615103"/>
      </p:ext>
    </p:extLst>
  </p:cSld>
  <p:clrMapOvr>
    <a:masterClrMapping/>
  </p:clrMapOvr>
  <mc:AlternateContent xmlns:mc="http://schemas.openxmlformats.org/markup-compatibility/2006">
    <mc:Choice xmlns:p14="http://schemas.microsoft.com/office/powerpoint/2010/main" Requires="p14">
      <p:transition spd="slow" p14:dur="2000" advTm="4194"/>
    </mc:Choice>
    <mc:Fallback>
      <p:transition spd="slow" advTm="41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B2E50-317A-1E20-4B7F-12EA1BBC7B46}"/>
              </a:ext>
            </a:extLst>
          </p:cNvPr>
          <p:cNvSpPr>
            <a:spLocks noGrp="1"/>
          </p:cNvSpPr>
          <p:nvPr>
            <p:ph type="title"/>
          </p:nvPr>
        </p:nvSpPr>
        <p:spPr>
          <a:xfrm>
            <a:off x="3218447" y="114300"/>
            <a:ext cx="4154068" cy="1202034"/>
          </a:xfrm>
        </p:spPr>
        <p:txBody>
          <a:bodyPr/>
          <a:lstStyle/>
          <a:p>
            <a:pPr algn="ctr"/>
            <a:r>
              <a:rPr lang="en-IN" dirty="0">
                <a:latin typeface="Algerian" panose="04020705040A02060702" pitchFamily="82" charset="0"/>
              </a:rPr>
              <a:t>8). Conclusion.</a:t>
            </a:r>
          </a:p>
        </p:txBody>
      </p:sp>
      <p:sp>
        <p:nvSpPr>
          <p:cNvPr id="3" name="Content Placeholder 2">
            <a:extLst>
              <a:ext uri="{FF2B5EF4-FFF2-40B4-BE49-F238E27FC236}">
                <a16:creationId xmlns:a16="http://schemas.microsoft.com/office/drawing/2014/main" id="{D22A4187-EE87-EF40-F456-5A1730ACDCDA}"/>
              </a:ext>
            </a:extLst>
          </p:cNvPr>
          <p:cNvSpPr>
            <a:spLocks noGrp="1"/>
          </p:cNvSpPr>
          <p:nvPr>
            <p:ph idx="1"/>
          </p:nvPr>
        </p:nvSpPr>
        <p:spPr>
          <a:xfrm>
            <a:off x="1141413" y="1231641"/>
            <a:ext cx="9905998" cy="5215812"/>
          </a:xfrm>
        </p:spPr>
        <p:txBody>
          <a:bodyPr>
            <a:normAutofit/>
          </a:bodyPr>
          <a:lstStyle/>
          <a:p>
            <a:r>
              <a:rPr lang="en-IN" sz="2400" dirty="0">
                <a:latin typeface="Angsana New" panose="02020603050405020304" pitchFamily="18" charset="-34"/>
                <a:cs typeface="Angsana New" panose="02020603050405020304" pitchFamily="18" charset="-34"/>
              </a:rPr>
              <a:t>1). The analysis indicate a high volume food delivery operation with strong customer rating, concentrated demand in metropolitan areas and motorcycle is a primary vehicle. Since order volumes remain stable across the weather conditions and other categories, the company can focus on optimizing delivery person performance, vehicle allocation, and operation in high-demand cities to improve efficiency further.</a:t>
            </a:r>
          </a:p>
          <a:p>
            <a:r>
              <a:rPr lang="en-IN" sz="2400" dirty="0">
                <a:latin typeface="Angsana New" panose="02020603050405020304" pitchFamily="18" charset="-34"/>
                <a:cs typeface="Angsana New" panose="02020603050405020304" pitchFamily="18" charset="-34"/>
              </a:rPr>
              <a:t>2). The delivery workforce demonstrates strong services quality and consistent performance. However, the average delivery time is 29 minutes and multiple order assignments suggested opportunities to pickup operations, workload distribution and improve delivery routes to further improve efficiency.</a:t>
            </a:r>
          </a:p>
          <a:p>
            <a:r>
              <a:rPr lang="en-IN" sz="2400" dirty="0">
                <a:latin typeface="Angsana New" panose="02020603050405020304" pitchFamily="18" charset="-34"/>
                <a:cs typeface="Angsana New" panose="02020603050405020304" pitchFamily="18" charset="-34"/>
              </a:rPr>
              <a:t>3). Optimizing the pickup operations during adverse weather especially in high demand cities could help to reduce in delays and improve overall delivery efficiency and customer experience.</a:t>
            </a:r>
          </a:p>
          <a:p>
            <a:endParaRPr lang="en-IN" dirty="0"/>
          </a:p>
        </p:txBody>
      </p:sp>
      <p:sp>
        <p:nvSpPr>
          <p:cNvPr id="4" name="Slide Number Placeholder 3">
            <a:extLst>
              <a:ext uri="{FF2B5EF4-FFF2-40B4-BE49-F238E27FC236}">
                <a16:creationId xmlns:a16="http://schemas.microsoft.com/office/drawing/2014/main" id="{11547BD3-CB77-38B1-2C3D-8F463519BADE}"/>
              </a:ext>
            </a:extLst>
          </p:cNvPr>
          <p:cNvSpPr>
            <a:spLocks noGrp="1"/>
          </p:cNvSpPr>
          <p:nvPr>
            <p:ph type="sldNum" sz="quarter" idx="12"/>
          </p:nvPr>
        </p:nvSpPr>
        <p:spPr/>
        <p:txBody>
          <a:bodyPr/>
          <a:lstStyle/>
          <a:p>
            <a:fld id="{4FAB73BC-B049-4115-A692-8D63A059BFB8}" type="slidenum">
              <a:rPr lang="en-US" smtClean="0"/>
              <a:t>14</a:t>
            </a:fld>
            <a:endParaRPr lang="en-US" dirty="0"/>
          </a:p>
        </p:txBody>
      </p:sp>
    </p:spTree>
    <p:custDataLst>
      <p:tags r:id="rId1"/>
    </p:custDataLst>
    <p:extLst>
      <p:ext uri="{BB962C8B-B14F-4D97-AF65-F5344CB8AC3E}">
        <p14:creationId xmlns:p14="http://schemas.microsoft.com/office/powerpoint/2010/main" val="640053207"/>
      </p:ext>
    </p:extLst>
  </p:cSld>
  <p:clrMapOvr>
    <a:masterClrMapping/>
  </p:clrMapOvr>
  <mc:AlternateContent xmlns:mc="http://schemas.openxmlformats.org/markup-compatibility/2006">
    <mc:Choice xmlns:p14="http://schemas.microsoft.com/office/powerpoint/2010/main" Requires="p14">
      <p:transition spd="slow" p14:dur="2000" advTm="4181"/>
    </mc:Choice>
    <mc:Fallback>
      <p:transition spd="slow" advTm="418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1"/>
</p:tagLst>
</file>

<file path=ppt/tags/tag2.xml><?xml version="1.0" encoding="utf-8"?>
<p:tagLst xmlns:a="http://schemas.openxmlformats.org/drawingml/2006/main" xmlns:r="http://schemas.openxmlformats.org/officeDocument/2006/relationships" xmlns:p="http://schemas.openxmlformats.org/presentationml/2006/main">
  <p:tag name="TIMING" val="|1.3|5.9|4.8"/>
</p:tagLst>
</file>

<file path=ppt/tags/tag3.xml><?xml version="1.0" encoding="utf-8"?>
<p:tagLst xmlns:a="http://schemas.openxmlformats.org/drawingml/2006/main" xmlns:r="http://schemas.openxmlformats.org/officeDocument/2006/relationships" xmlns:p="http://schemas.openxmlformats.org/presentationml/2006/main">
  <p:tag name="TIMING" val="|3.1|0.9|1.8"/>
</p:tagLst>
</file>

<file path=ppt/tags/tag4.xml><?xml version="1.0" encoding="utf-8"?>
<p:tagLst xmlns:a="http://schemas.openxmlformats.org/drawingml/2006/main" xmlns:r="http://schemas.openxmlformats.org/officeDocument/2006/relationships" xmlns:p="http://schemas.openxmlformats.org/presentationml/2006/main">
  <p:tag name="TIMING" val="|1.5|2|2.2|2.2|2.1|1"/>
</p:tagLst>
</file>

<file path=ppt/tags/tag5.xml><?xml version="1.0" encoding="utf-8"?>
<p:tagLst xmlns:a="http://schemas.openxmlformats.org/drawingml/2006/main" xmlns:r="http://schemas.openxmlformats.org/officeDocument/2006/relationships" xmlns:p="http://schemas.openxmlformats.org/presentationml/2006/main">
  <p:tag name="TIMING" val="|1.2|0.7|0.8|0.5|0.4|0.3|0.3|0.3|0.3|0.3|0.4"/>
</p:tagLst>
</file>

<file path=ppt/tags/tag6.xml><?xml version="1.0" encoding="utf-8"?>
<p:tagLst xmlns:a="http://schemas.openxmlformats.org/drawingml/2006/main" xmlns:r="http://schemas.openxmlformats.org/officeDocument/2006/relationships" xmlns:p="http://schemas.openxmlformats.org/presentationml/2006/main">
  <p:tag name="TIMING" val="|0.5|0.7|0.7|0.6|0.5|0.5|0.5|0.4|0.4"/>
</p:tagLst>
</file>

<file path=ppt/tags/tag7.xml><?xml version="1.0" encoding="utf-8"?>
<p:tagLst xmlns:a="http://schemas.openxmlformats.org/drawingml/2006/main" xmlns:r="http://schemas.openxmlformats.org/officeDocument/2006/relationships" xmlns:p="http://schemas.openxmlformats.org/presentationml/2006/main">
  <p:tag name="TIMING" val="|0.8|0.7|0.6|0.6|0.6|0.7|0.7|0.6|0.5"/>
</p:tagLst>
</file>

<file path=ppt/tags/tag8.xml><?xml version="1.0" encoding="utf-8"?>
<p:tagLst xmlns:a="http://schemas.openxmlformats.org/drawingml/2006/main" xmlns:r="http://schemas.openxmlformats.org/officeDocument/2006/relationships" xmlns:p="http://schemas.openxmlformats.org/presentationml/2006/main">
  <p:tag name="TIMING" val="|0.6|2.3|2.2|1.8|1.9|1.5|1.7"/>
</p:tagLst>
</file>

<file path=ppt/tags/tag9.xml><?xml version="1.0" encoding="utf-8"?>
<p:tagLst xmlns:a="http://schemas.openxmlformats.org/drawingml/2006/main" xmlns:r="http://schemas.openxmlformats.org/officeDocument/2006/relationships" xmlns:p="http://schemas.openxmlformats.org/presentationml/2006/main">
  <p:tag name="TIMING" val="|0.7|2.5|2.5|2.3|2.2|2.3"/>
</p:tagLst>
</file>

<file path=ppt/tags/tag10.xml><?xml version="1.0" encoding="utf-8"?>
<p:tagLst xmlns:a="http://schemas.openxmlformats.org/drawingml/2006/main" xmlns:r="http://schemas.openxmlformats.org/officeDocument/2006/relationships" xmlns:p="http://schemas.openxmlformats.org/presentationml/2006/main">
  <p:tag name="TIMING" val="|1.3|1|1|1.4|1|0.9"/>
</p:tagLst>
</file>

<file path=ppt/tags/tag11.xml><?xml version="1.0" encoding="utf-8"?>
<p:tagLst xmlns:a="http://schemas.openxmlformats.org/drawingml/2006/main" xmlns:r="http://schemas.openxmlformats.org/officeDocument/2006/relationships" xmlns:p="http://schemas.openxmlformats.org/presentationml/2006/main">
  <p:tag name="TIMING" val="|1.5|1.2"/>
</p:tagLst>
</file>

<file path=ppt/tags/tag12.xml><?xml version="1.0" encoding="utf-8"?>
<p:tagLst xmlns:a="http://schemas.openxmlformats.org/drawingml/2006/main" xmlns:r="http://schemas.openxmlformats.org/officeDocument/2006/relationships" xmlns:p="http://schemas.openxmlformats.org/presentationml/2006/main">
  <p:tag name="TIMING" val="|0.7|1.2|0.9"/>
</p:tagLst>
</file>

<file path=ppt/tags/tag13.xml><?xml version="1.0" encoding="utf-8"?>
<p:tagLst xmlns:a="http://schemas.openxmlformats.org/drawingml/2006/main" xmlns:r="http://schemas.openxmlformats.org/officeDocument/2006/relationships" xmlns:p="http://schemas.openxmlformats.org/presentationml/2006/main">
  <p:tag name="TIMING" val="|1.4|1.2|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E1C908-B3CC-430B-8659-0948FA2BA0C9}">
  <ds:schemaRefs>
    <ds:schemaRef ds:uri="http://schemas.microsoft.com/sharepoint/v3/contenttype/forms"/>
  </ds:schemaRefs>
</ds:datastoreItem>
</file>

<file path=customXml/itemProps2.xml><?xml version="1.0" encoding="utf-8"?>
<ds:datastoreItem xmlns:ds="http://schemas.openxmlformats.org/officeDocument/2006/customXml" ds:itemID="{6D45F22A-22AD-4AB5-B4E5-D6E61E43E45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80957EC-86C0-4415-A208-C533BB28C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TM03457485[[fn=Mesh]]</Template>
  <TotalTime>802</TotalTime>
  <Words>1239</Words>
  <Application>Microsoft Office PowerPoint</Application>
  <PresentationFormat>Widescreen</PresentationFormat>
  <Paragraphs>106</Paragraphs>
  <Slides>14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Abadi</vt:lpstr>
      <vt:lpstr>Algerian</vt:lpstr>
      <vt:lpstr>Amasis MT Pro Medium</vt:lpstr>
      <vt:lpstr>Angsana New</vt:lpstr>
      <vt:lpstr>Aptos</vt:lpstr>
      <vt:lpstr>Arial</vt:lpstr>
      <vt:lpstr>Calibri</vt:lpstr>
      <vt:lpstr>Century Gothic</vt:lpstr>
      <vt:lpstr>Wingdings</vt:lpstr>
      <vt:lpstr>Mesh</vt:lpstr>
      <vt:lpstr>Amazon.</vt:lpstr>
      <vt:lpstr>Table of contents.</vt:lpstr>
      <vt:lpstr>1.) Introduction.</vt:lpstr>
      <vt:lpstr>2). Tools used to perform analysis</vt:lpstr>
      <vt:lpstr>3). Exploratory Data Analysis.</vt:lpstr>
      <vt:lpstr>4). Feature Engineering.</vt:lpstr>
      <vt:lpstr>5).Dashboard Overview</vt:lpstr>
      <vt:lpstr>Dashboard Overview.</vt:lpstr>
      <vt:lpstr>6). Delivery person performance.</vt:lpstr>
      <vt:lpstr>Total orders delivery and their top 5 orders.</vt:lpstr>
      <vt:lpstr>7). Pickup up and delivery analysis.</vt:lpstr>
      <vt:lpstr>Pickup taken by weather and city.</vt:lpstr>
      <vt:lpstr>Total orders by weather and vehicle condition &amp;  Total order by festival.</vt:lpstr>
      <vt:lpstr>8).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Darshana Pawar</dc:creator>
  <cp:lastModifiedBy>Darshana Pawar</cp:lastModifiedBy>
  <cp:revision>3</cp:revision>
  <dcterms:created xsi:type="dcterms:W3CDTF">2026-08-09T05:24:09Z</dcterms:created>
  <dcterms:modified xsi:type="dcterms:W3CDTF">2026-08-09T18:47:35Z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