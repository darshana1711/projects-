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260" r:id="rId6"/>
    <p:sldId id="261" r:id="rId7"/>
    <p:sldId id="264" r:id="rId8"/>
    <p:sldId id="263"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ata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diagrams/_rels/data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6AC97E-F9EC-4D56-8636-C3B9DFD5F52F}"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FDB1FFB-D104-485A-A552-AB3357FE0D17}">
      <dgm:prSet/>
      <dgm:spPr/>
      <dgm:t>
        <a:bodyPr/>
        <a:lstStyle/>
        <a:p>
          <a:r>
            <a:rPr lang="en-IN"/>
            <a:t>Staring with loading the data. We have convert the excel file into csv file in python.</a:t>
          </a:r>
          <a:endParaRPr lang="en-US"/>
        </a:p>
      </dgm:t>
    </dgm:pt>
    <dgm:pt modelId="{6BA6ED84-5CD2-417F-A2AD-BB0088BEBB77}" type="parTrans" cxnId="{4302715F-254E-42A4-9B0C-D5F0491EBCF0}">
      <dgm:prSet/>
      <dgm:spPr/>
      <dgm:t>
        <a:bodyPr/>
        <a:lstStyle/>
        <a:p>
          <a:endParaRPr lang="en-US"/>
        </a:p>
      </dgm:t>
    </dgm:pt>
    <dgm:pt modelId="{00716BC1-988D-4277-96DB-11EF8F7DA594}" type="sibTrans" cxnId="{4302715F-254E-42A4-9B0C-D5F0491EBCF0}">
      <dgm:prSet/>
      <dgm:spPr/>
      <dgm:t>
        <a:bodyPr/>
        <a:lstStyle/>
        <a:p>
          <a:endParaRPr lang="en-US"/>
        </a:p>
      </dgm:t>
    </dgm:pt>
    <dgm:pt modelId="{F88BB7DF-C883-4A26-A4B9-E20CBBE7EC1B}">
      <dgm:prSet/>
      <dgm:spPr/>
      <dgm:t>
        <a:bodyPr/>
        <a:lstStyle/>
        <a:p>
          <a:r>
            <a:rPr lang="en-IN"/>
            <a:t>We have customise our column names, to make it easy to use.</a:t>
          </a:r>
          <a:endParaRPr lang="en-US"/>
        </a:p>
      </dgm:t>
    </dgm:pt>
    <dgm:pt modelId="{C39D815A-10DA-4016-A4A7-F5D96AFB4733}" type="parTrans" cxnId="{5335C9B1-C59A-4421-94F7-B1BB2D8C7D6D}">
      <dgm:prSet/>
      <dgm:spPr/>
      <dgm:t>
        <a:bodyPr/>
        <a:lstStyle/>
        <a:p>
          <a:endParaRPr lang="en-US"/>
        </a:p>
      </dgm:t>
    </dgm:pt>
    <dgm:pt modelId="{715DF0C0-7878-4F37-A98A-FA8B0AEA3DEC}" type="sibTrans" cxnId="{5335C9B1-C59A-4421-94F7-B1BB2D8C7D6D}">
      <dgm:prSet/>
      <dgm:spPr/>
      <dgm:t>
        <a:bodyPr/>
        <a:lstStyle/>
        <a:p>
          <a:endParaRPr lang="en-US"/>
        </a:p>
      </dgm:t>
    </dgm:pt>
    <dgm:pt modelId="{78A3FD4D-47C5-4683-9746-82061883C67C}">
      <dgm:prSet/>
      <dgm:spPr/>
      <dgm:t>
        <a:bodyPr/>
        <a:lstStyle/>
        <a:p>
          <a:r>
            <a:rPr lang="en-IN"/>
            <a:t>We have check the null values, there was null values in discount, accessories, RSA columns. We first replaced the values with NAN and then replace NAN to median as it is less sensitive to outliers.</a:t>
          </a:r>
          <a:endParaRPr lang="en-US"/>
        </a:p>
      </dgm:t>
    </dgm:pt>
    <dgm:pt modelId="{051CE5DB-60C0-4E2E-89AC-7CD514B0CD42}" type="parTrans" cxnId="{3D1E5078-230C-463A-8C45-95F7EC7838B1}">
      <dgm:prSet/>
      <dgm:spPr/>
      <dgm:t>
        <a:bodyPr/>
        <a:lstStyle/>
        <a:p>
          <a:endParaRPr lang="en-US"/>
        </a:p>
      </dgm:t>
    </dgm:pt>
    <dgm:pt modelId="{9031513C-834A-42BB-819B-17F78C7071E5}" type="sibTrans" cxnId="{3D1E5078-230C-463A-8C45-95F7EC7838B1}">
      <dgm:prSet/>
      <dgm:spPr/>
      <dgm:t>
        <a:bodyPr/>
        <a:lstStyle/>
        <a:p>
          <a:endParaRPr lang="en-US"/>
        </a:p>
      </dgm:t>
    </dgm:pt>
    <dgm:pt modelId="{D3F42516-D9FD-4B82-80EB-2E2F278B49E1}">
      <dgm:prSet/>
      <dgm:spPr/>
      <dgm:t>
        <a:bodyPr/>
        <a:lstStyle/>
        <a:p>
          <a:r>
            <a:rPr lang="en-IN"/>
            <a:t>As I changes the datatype for date, it was object earlier, for better analysis the date column is changes to datetime.</a:t>
          </a:r>
          <a:endParaRPr lang="en-US"/>
        </a:p>
      </dgm:t>
    </dgm:pt>
    <dgm:pt modelId="{D45D481A-3B8D-4C87-9E05-722A4AF09C4C}" type="parTrans" cxnId="{CA9EA30E-0116-4525-9084-31CC3ABAA125}">
      <dgm:prSet/>
      <dgm:spPr/>
      <dgm:t>
        <a:bodyPr/>
        <a:lstStyle/>
        <a:p>
          <a:endParaRPr lang="en-US"/>
        </a:p>
      </dgm:t>
    </dgm:pt>
    <dgm:pt modelId="{74A479E2-259A-4FFA-B67D-7AA8DB1A32DE}" type="sibTrans" cxnId="{CA9EA30E-0116-4525-9084-31CC3ABAA125}">
      <dgm:prSet/>
      <dgm:spPr/>
      <dgm:t>
        <a:bodyPr/>
        <a:lstStyle/>
        <a:p>
          <a:endParaRPr lang="en-US"/>
        </a:p>
      </dgm:t>
    </dgm:pt>
    <dgm:pt modelId="{CBAC79DA-FD3A-4A3C-8F6A-C6B967F79548}">
      <dgm:prSet/>
      <dgm:spPr/>
      <dgm:t>
        <a:bodyPr/>
        <a:lstStyle/>
        <a:p>
          <a:r>
            <a:rPr lang="en-IN"/>
            <a:t>I performed Univariate, Bivariate analysis by using different type of plots and further we will see how all the variables is impacting to our profit column.</a:t>
          </a:r>
          <a:endParaRPr lang="en-US"/>
        </a:p>
      </dgm:t>
    </dgm:pt>
    <dgm:pt modelId="{4E2270FB-0509-46D9-AC4F-454F0412292E}" type="parTrans" cxnId="{45157FCB-A861-4B20-BA5A-E6B4DBFE2641}">
      <dgm:prSet/>
      <dgm:spPr/>
      <dgm:t>
        <a:bodyPr/>
        <a:lstStyle/>
        <a:p>
          <a:endParaRPr lang="en-US"/>
        </a:p>
      </dgm:t>
    </dgm:pt>
    <dgm:pt modelId="{C0356FDC-AAD2-4E94-B5A3-8221B7482CC6}" type="sibTrans" cxnId="{45157FCB-A861-4B20-BA5A-E6B4DBFE2641}">
      <dgm:prSet/>
      <dgm:spPr/>
      <dgm:t>
        <a:bodyPr/>
        <a:lstStyle/>
        <a:p>
          <a:endParaRPr lang="en-US"/>
        </a:p>
      </dgm:t>
    </dgm:pt>
    <dgm:pt modelId="{E0894398-B646-48EA-89CD-6DDE4C07A084}" type="pres">
      <dgm:prSet presAssocID="{EC6AC97E-F9EC-4D56-8636-C3B9DFD5F52F}" presName="root" presStyleCnt="0">
        <dgm:presLayoutVars>
          <dgm:dir/>
          <dgm:resizeHandles val="exact"/>
        </dgm:presLayoutVars>
      </dgm:prSet>
      <dgm:spPr/>
    </dgm:pt>
    <dgm:pt modelId="{B13F8982-F125-474F-9B6C-BB92A2E166B0}" type="pres">
      <dgm:prSet presAssocID="{EC6AC97E-F9EC-4D56-8636-C3B9DFD5F52F}" presName="container" presStyleCnt="0">
        <dgm:presLayoutVars>
          <dgm:dir/>
          <dgm:resizeHandles val="exact"/>
        </dgm:presLayoutVars>
      </dgm:prSet>
      <dgm:spPr/>
    </dgm:pt>
    <dgm:pt modelId="{14B2FC99-2CD2-46FC-8ED6-DD27545BC1AB}" type="pres">
      <dgm:prSet presAssocID="{FFDB1FFB-D104-485A-A552-AB3357FE0D17}" presName="compNode" presStyleCnt="0"/>
      <dgm:spPr/>
    </dgm:pt>
    <dgm:pt modelId="{A0D66685-04FD-4567-A347-DCDBF14F9137}" type="pres">
      <dgm:prSet presAssocID="{FFDB1FFB-D104-485A-A552-AB3357FE0D17}" presName="iconBgRect" presStyleLbl="bgShp" presStyleIdx="0" presStyleCnt="5"/>
      <dgm:spPr/>
    </dgm:pt>
    <dgm:pt modelId="{4D28A996-4A61-45AA-8343-9AC2286C2172}" type="pres">
      <dgm:prSet presAssocID="{FFDB1FFB-D104-485A-A552-AB3357FE0D1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CEC4A212-A5F1-476E-8A3C-7617D814D325}" type="pres">
      <dgm:prSet presAssocID="{FFDB1FFB-D104-485A-A552-AB3357FE0D17}" presName="spaceRect" presStyleCnt="0"/>
      <dgm:spPr/>
    </dgm:pt>
    <dgm:pt modelId="{36C3FBDC-DDEF-4F94-90F3-23FC9756DB9C}" type="pres">
      <dgm:prSet presAssocID="{FFDB1FFB-D104-485A-A552-AB3357FE0D17}" presName="textRect" presStyleLbl="revTx" presStyleIdx="0" presStyleCnt="5">
        <dgm:presLayoutVars>
          <dgm:chMax val="1"/>
          <dgm:chPref val="1"/>
        </dgm:presLayoutVars>
      </dgm:prSet>
      <dgm:spPr/>
    </dgm:pt>
    <dgm:pt modelId="{BCE194DF-0887-4290-83E8-DB5852284BC1}" type="pres">
      <dgm:prSet presAssocID="{00716BC1-988D-4277-96DB-11EF8F7DA594}" presName="sibTrans" presStyleLbl="sibTrans2D1" presStyleIdx="0" presStyleCnt="0"/>
      <dgm:spPr/>
    </dgm:pt>
    <dgm:pt modelId="{B0992A4B-5D3E-49A8-861B-DB4041062F3C}" type="pres">
      <dgm:prSet presAssocID="{F88BB7DF-C883-4A26-A4B9-E20CBBE7EC1B}" presName="compNode" presStyleCnt="0"/>
      <dgm:spPr/>
    </dgm:pt>
    <dgm:pt modelId="{D44580E7-49FB-42D7-9E7C-25156CAD87B1}" type="pres">
      <dgm:prSet presAssocID="{F88BB7DF-C883-4A26-A4B9-E20CBBE7EC1B}" presName="iconBgRect" presStyleLbl="bgShp" presStyleIdx="1" presStyleCnt="5"/>
      <dgm:spPr/>
    </dgm:pt>
    <dgm:pt modelId="{3A243190-6C6D-4FF1-B970-DF21A00A09E6}" type="pres">
      <dgm:prSet presAssocID="{F88BB7DF-C883-4A26-A4B9-E20CBBE7EC1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59C805B8-0EE0-4CC2-9630-93795DA48757}" type="pres">
      <dgm:prSet presAssocID="{F88BB7DF-C883-4A26-A4B9-E20CBBE7EC1B}" presName="spaceRect" presStyleCnt="0"/>
      <dgm:spPr/>
    </dgm:pt>
    <dgm:pt modelId="{32B2F6AD-0D05-4D2E-B021-F704BC5925BA}" type="pres">
      <dgm:prSet presAssocID="{F88BB7DF-C883-4A26-A4B9-E20CBBE7EC1B}" presName="textRect" presStyleLbl="revTx" presStyleIdx="1" presStyleCnt="5">
        <dgm:presLayoutVars>
          <dgm:chMax val="1"/>
          <dgm:chPref val="1"/>
        </dgm:presLayoutVars>
      </dgm:prSet>
      <dgm:spPr/>
    </dgm:pt>
    <dgm:pt modelId="{FCDE674E-E35B-4D74-A48C-9BF428214B6A}" type="pres">
      <dgm:prSet presAssocID="{715DF0C0-7878-4F37-A98A-FA8B0AEA3DEC}" presName="sibTrans" presStyleLbl="sibTrans2D1" presStyleIdx="0" presStyleCnt="0"/>
      <dgm:spPr/>
    </dgm:pt>
    <dgm:pt modelId="{A8E6836B-330C-46F9-8D5C-19D9CEC7111B}" type="pres">
      <dgm:prSet presAssocID="{78A3FD4D-47C5-4683-9746-82061883C67C}" presName="compNode" presStyleCnt="0"/>
      <dgm:spPr/>
    </dgm:pt>
    <dgm:pt modelId="{078D0328-655A-432E-94BD-3FB2DD6EA378}" type="pres">
      <dgm:prSet presAssocID="{78A3FD4D-47C5-4683-9746-82061883C67C}" presName="iconBgRect" presStyleLbl="bgShp" presStyleIdx="2" presStyleCnt="5"/>
      <dgm:spPr/>
    </dgm:pt>
    <dgm:pt modelId="{0EBD5C15-7844-45D4-A195-DA6D9FC84376}" type="pres">
      <dgm:prSet presAssocID="{78A3FD4D-47C5-4683-9746-82061883C67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w"/>
        </a:ext>
      </dgm:extLst>
    </dgm:pt>
    <dgm:pt modelId="{69F92010-B907-495F-859F-3A91756A9699}" type="pres">
      <dgm:prSet presAssocID="{78A3FD4D-47C5-4683-9746-82061883C67C}" presName="spaceRect" presStyleCnt="0"/>
      <dgm:spPr/>
    </dgm:pt>
    <dgm:pt modelId="{3DD19189-6AD6-4901-BBC0-59B1AC359799}" type="pres">
      <dgm:prSet presAssocID="{78A3FD4D-47C5-4683-9746-82061883C67C}" presName="textRect" presStyleLbl="revTx" presStyleIdx="2" presStyleCnt="5">
        <dgm:presLayoutVars>
          <dgm:chMax val="1"/>
          <dgm:chPref val="1"/>
        </dgm:presLayoutVars>
      </dgm:prSet>
      <dgm:spPr/>
    </dgm:pt>
    <dgm:pt modelId="{699FABE9-C8CC-485E-A8E3-6A8E17A363E3}" type="pres">
      <dgm:prSet presAssocID="{9031513C-834A-42BB-819B-17F78C7071E5}" presName="sibTrans" presStyleLbl="sibTrans2D1" presStyleIdx="0" presStyleCnt="0"/>
      <dgm:spPr/>
    </dgm:pt>
    <dgm:pt modelId="{E189230A-AF2B-4043-A215-99CB35B21DCF}" type="pres">
      <dgm:prSet presAssocID="{D3F42516-D9FD-4B82-80EB-2E2F278B49E1}" presName="compNode" presStyleCnt="0"/>
      <dgm:spPr/>
    </dgm:pt>
    <dgm:pt modelId="{0136A45F-D182-4635-A9FB-6AFB645A3EFF}" type="pres">
      <dgm:prSet presAssocID="{D3F42516-D9FD-4B82-80EB-2E2F278B49E1}" presName="iconBgRect" presStyleLbl="bgShp" presStyleIdx="3" presStyleCnt="5"/>
      <dgm:spPr/>
    </dgm:pt>
    <dgm:pt modelId="{F3D91627-04D2-435F-9C53-C1E0C0C090C5}" type="pres">
      <dgm:prSet presAssocID="{D3F42516-D9FD-4B82-80EB-2E2F278B49E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ily Calendar"/>
        </a:ext>
      </dgm:extLst>
    </dgm:pt>
    <dgm:pt modelId="{ECCF3E0E-6276-4E49-92F0-370A64EC4BDD}" type="pres">
      <dgm:prSet presAssocID="{D3F42516-D9FD-4B82-80EB-2E2F278B49E1}" presName="spaceRect" presStyleCnt="0"/>
      <dgm:spPr/>
    </dgm:pt>
    <dgm:pt modelId="{B9985B84-EAE3-45DA-84CD-161A4857B49C}" type="pres">
      <dgm:prSet presAssocID="{D3F42516-D9FD-4B82-80EB-2E2F278B49E1}" presName="textRect" presStyleLbl="revTx" presStyleIdx="3" presStyleCnt="5">
        <dgm:presLayoutVars>
          <dgm:chMax val="1"/>
          <dgm:chPref val="1"/>
        </dgm:presLayoutVars>
      </dgm:prSet>
      <dgm:spPr/>
    </dgm:pt>
    <dgm:pt modelId="{FB7F8228-ACD8-4304-859E-64ADB9E8411C}" type="pres">
      <dgm:prSet presAssocID="{74A479E2-259A-4FFA-B67D-7AA8DB1A32DE}" presName="sibTrans" presStyleLbl="sibTrans2D1" presStyleIdx="0" presStyleCnt="0"/>
      <dgm:spPr/>
    </dgm:pt>
    <dgm:pt modelId="{F6C98A80-211D-4EA4-96F4-09D3A35844C2}" type="pres">
      <dgm:prSet presAssocID="{CBAC79DA-FD3A-4A3C-8F6A-C6B967F79548}" presName="compNode" presStyleCnt="0"/>
      <dgm:spPr/>
    </dgm:pt>
    <dgm:pt modelId="{F3CCB6BD-D026-4C31-AAFB-31AA3CD0C9D2}" type="pres">
      <dgm:prSet presAssocID="{CBAC79DA-FD3A-4A3C-8F6A-C6B967F79548}" presName="iconBgRect" presStyleLbl="bgShp" presStyleIdx="4" presStyleCnt="5"/>
      <dgm:spPr/>
    </dgm:pt>
    <dgm:pt modelId="{260E1601-16D8-4495-85E4-4B2551090380}" type="pres">
      <dgm:prSet presAssocID="{CBAC79DA-FD3A-4A3C-8F6A-C6B967F7954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92796532-2743-4CB9-B680-B003024A727A}" type="pres">
      <dgm:prSet presAssocID="{CBAC79DA-FD3A-4A3C-8F6A-C6B967F79548}" presName="spaceRect" presStyleCnt="0"/>
      <dgm:spPr/>
    </dgm:pt>
    <dgm:pt modelId="{C1EC674C-E4B1-41C3-BEE2-D18EE2D49EAA}" type="pres">
      <dgm:prSet presAssocID="{CBAC79DA-FD3A-4A3C-8F6A-C6B967F79548}" presName="textRect" presStyleLbl="revTx" presStyleIdx="4" presStyleCnt="5">
        <dgm:presLayoutVars>
          <dgm:chMax val="1"/>
          <dgm:chPref val="1"/>
        </dgm:presLayoutVars>
      </dgm:prSet>
      <dgm:spPr/>
    </dgm:pt>
  </dgm:ptLst>
  <dgm:cxnLst>
    <dgm:cxn modelId="{CA9EA30E-0116-4525-9084-31CC3ABAA125}" srcId="{EC6AC97E-F9EC-4D56-8636-C3B9DFD5F52F}" destId="{D3F42516-D9FD-4B82-80EB-2E2F278B49E1}" srcOrd="3" destOrd="0" parTransId="{D45D481A-3B8D-4C87-9E05-722A4AF09C4C}" sibTransId="{74A479E2-259A-4FFA-B67D-7AA8DB1A32DE}"/>
    <dgm:cxn modelId="{14C68B11-05D4-49AC-AA99-D6B13B09595D}" type="presOf" srcId="{EC6AC97E-F9EC-4D56-8636-C3B9DFD5F52F}" destId="{E0894398-B646-48EA-89CD-6DDE4C07A084}" srcOrd="0" destOrd="0" presId="urn:microsoft.com/office/officeart/2018/2/layout/IconCircleList"/>
    <dgm:cxn modelId="{96C69F15-2C59-427D-9076-91077028A024}" type="presOf" srcId="{9031513C-834A-42BB-819B-17F78C7071E5}" destId="{699FABE9-C8CC-485E-A8E3-6A8E17A363E3}" srcOrd="0" destOrd="0" presId="urn:microsoft.com/office/officeart/2018/2/layout/IconCircleList"/>
    <dgm:cxn modelId="{D871775D-9168-4D2A-AB0F-C8507E900BB0}" type="presOf" srcId="{D3F42516-D9FD-4B82-80EB-2E2F278B49E1}" destId="{B9985B84-EAE3-45DA-84CD-161A4857B49C}" srcOrd="0" destOrd="0" presId="urn:microsoft.com/office/officeart/2018/2/layout/IconCircleList"/>
    <dgm:cxn modelId="{4302715F-254E-42A4-9B0C-D5F0491EBCF0}" srcId="{EC6AC97E-F9EC-4D56-8636-C3B9DFD5F52F}" destId="{FFDB1FFB-D104-485A-A552-AB3357FE0D17}" srcOrd="0" destOrd="0" parTransId="{6BA6ED84-5CD2-417F-A2AD-BB0088BEBB77}" sibTransId="{00716BC1-988D-4277-96DB-11EF8F7DA594}"/>
    <dgm:cxn modelId="{606ECE6C-3FEE-4F4D-8F10-51418D178EAC}" type="presOf" srcId="{78A3FD4D-47C5-4683-9746-82061883C67C}" destId="{3DD19189-6AD6-4901-BBC0-59B1AC359799}" srcOrd="0" destOrd="0" presId="urn:microsoft.com/office/officeart/2018/2/layout/IconCircleList"/>
    <dgm:cxn modelId="{6266AA4E-27DA-402A-B392-25F376FD1C98}" type="presOf" srcId="{74A479E2-259A-4FFA-B67D-7AA8DB1A32DE}" destId="{FB7F8228-ACD8-4304-859E-64ADB9E8411C}" srcOrd="0" destOrd="0" presId="urn:microsoft.com/office/officeart/2018/2/layout/IconCircleList"/>
    <dgm:cxn modelId="{3D1E5078-230C-463A-8C45-95F7EC7838B1}" srcId="{EC6AC97E-F9EC-4D56-8636-C3B9DFD5F52F}" destId="{78A3FD4D-47C5-4683-9746-82061883C67C}" srcOrd="2" destOrd="0" parTransId="{051CE5DB-60C0-4E2E-89AC-7CD514B0CD42}" sibTransId="{9031513C-834A-42BB-819B-17F78C7071E5}"/>
    <dgm:cxn modelId="{349EF958-F28E-4733-8976-58410DD3DE46}" type="presOf" srcId="{CBAC79DA-FD3A-4A3C-8F6A-C6B967F79548}" destId="{C1EC674C-E4B1-41C3-BEE2-D18EE2D49EAA}" srcOrd="0" destOrd="0" presId="urn:microsoft.com/office/officeart/2018/2/layout/IconCircleList"/>
    <dgm:cxn modelId="{5C3DF98A-EF63-4A57-AFB2-D7FBDC4107A0}" type="presOf" srcId="{00716BC1-988D-4277-96DB-11EF8F7DA594}" destId="{BCE194DF-0887-4290-83E8-DB5852284BC1}" srcOrd="0" destOrd="0" presId="urn:microsoft.com/office/officeart/2018/2/layout/IconCircleList"/>
    <dgm:cxn modelId="{87E3249D-3695-48D4-90E6-27A6D178AE83}" type="presOf" srcId="{715DF0C0-7878-4F37-A98A-FA8B0AEA3DEC}" destId="{FCDE674E-E35B-4D74-A48C-9BF428214B6A}" srcOrd="0" destOrd="0" presId="urn:microsoft.com/office/officeart/2018/2/layout/IconCircleList"/>
    <dgm:cxn modelId="{818993B1-32C0-48A6-8A03-D3502E8CA0DB}" type="presOf" srcId="{F88BB7DF-C883-4A26-A4B9-E20CBBE7EC1B}" destId="{32B2F6AD-0D05-4D2E-B021-F704BC5925BA}" srcOrd="0" destOrd="0" presId="urn:microsoft.com/office/officeart/2018/2/layout/IconCircleList"/>
    <dgm:cxn modelId="{5335C9B1-C59A-4421-94F7-B1BB2D8C7D6D}" srcId="{EC6AC97E-F9EC-4D56-8636-C3B9DFD5F52F}" destId="{F88BB7DF-C883-4A26-A4B9-E20CBBE7EC1B}" srcOrd="1" destOrd="0" parTransId="{C39D815A-10DA-4016-A4A7-F5D96AFB4733}" sibTransId="{715DF0C0-7878-4F37-A98A-FA8B0AEA3DEC}"/>
    <dgm:cxn modelId="{62B837CA-0127-4678-B156-E5A6758880B0}" type="presOf" srcId="{FFDB1FFB-D104-485A-A552-AB3357FE0D17}" destId="{36C3FBDC-DDEF-4F94-90F3-23FC9756DB9C}" srcOrd="0" destOrd="0" presId="urn:microsoft.com/office/officeart/2018/2/layout/IconCircleList"/>
    <dgm:cxn modelId="{45157FCB-A861-4B20-BA5A-E6B4DBFE2641}" srcId="{EC6AC97E-F9EC-4D56-8636-C3B9DFD5F52F}" destId="{CBAC79DA-FD3A-4A3C-8F6A-C6B967F79548}" srcOrd="4" destOrd="0" parTransId="{4E2270FB-0509-46D9-AC4F-454F0412292E}" sibTransId="{C0356FDC-AAD2-4E94-B5A3-8221B7482CC6}"/>
    <dgm:cxn modelId="{34D546D4-D6A3-4D10-A69F-B5790B955825}" type="presParOf" srcId="{E0894398-B646-48EA-89CD-6DDE4C07A084}" destId="{B13F8982-F125-474F-9B6C-BB92A2E166B0}" srcOrd="0" destOrd="0" presId="urn:microsoft.com/office/officeart/2018/2/layout/IconCircleList"/>
    <dgm:cxn modelId="{CD8EBE46-EF38-427E-8F1F-FE58A02F2D59}" type="presParOf" srcId="{B13F8982-F125-474F-9B6C-BB92A2E166B0}" destId="{14B2FC99-2CD2-46FC-8ED6-DD27545BC1AB}" srcOrd="0" destOrd="0" presId="urn:microsoft.com/office/officeart/2018/2/layout/IconCircleList"/>
    <dgm:cxn modelId="{DEDA461A-5F18-4743-850C-C029E3860C8A}" type="presParOf" srcId="{14B2FC99-2CD2-46FC-8ED6-DD27545BC1AB}" destId="{A0D66685-04FD-4567-A347-DCDBF14F9137}" srcOrd="0" destOrd="0" presId="urn:microsoft.com/office/officeart/2018/2/layout/IconCircleList"/>
    <dgm:cxn modelId="{B6B3F8E0-0E8C-43BC-A4D2-1C9781598119}" type="presParOf" srcId="{14B2FC99-2CD2-46FC-8ED6-DD27545BC1AB}" destId="{4D28A996-4A61-45AA-8343-9AC2286C2172}" srcOrd="1" destOrd="0" presId="urn:microsoft.com/office/officeart/2018/2/layout/IconCircleList"/>
    <dgm:cxn modelId="{3BB8D1AA-7B74-4198-839E-FFCC39E577D9}" type="presParOf" srcId="{14B2FC99-2CD2-46FC-8ED6-DD27545BC1AB}" destId="{CEC4A212-A5F1-476E-8A3C-7617D814D325}" srcOrd="2" destOrd="0" presId="urn:microsoft.com/office/officeart/2018/2/layout/IconCircleList"/>
    <dgm:cxn modelId="{2358CA0E-F3A1-44F7-B151-C9E7E3A387EC}" type="presParOf" srcId="{14B2FC99-2CD2-46FC-8ED6-DD27545BC1AB}" destId="{36C3FBDC-DDEF-4F94-90F3-23FC9756DB9C}" srcOrd="3" destOrd="0" presId="urn:microsoft.com/office/officeart/2018/2/layout/IconCircleList"/>
    <dgm:cxn modelId="{B39BEBBC-8180-4988-BB37-5984B0AB1FC4}" type="presParOf" srcId="{B13F8982-F125-474F-9B6C-BB92A2E166B0}" destId="{BCE194DF-0887-4290-83E8-DB5852284BC1}" srcOrd="1" destOrd="0" presId="urn:microsoft.com/office/officeart/2018/2/layout/IconCircleList"/>
    <dgm:cxn modelId="{2BAAD2A3-BF66-43C2-A80B-51B245F0F890}" type="presParOf" srcId="{B13F8982-F125-474F-9B6C-BB92A2E166B0}" destId="{B0992A4B-5D3E-49A8-861B-DB4041062F3C}" srcOrd="2" destOrd="0" presId="urn:microsoft.com/office/officeart/2018/2/layout/IconCircleList"/>
    <dgm:cxn modelId="{3F340CDE-DD74-4B64-90E5-744625AF6FCC}" type="presParOf" srcId="{B0992A4B-5D3E-49A8-861B-DB4041062F3C}" destId="{D44580E7-49FB-42D7-9E7C-25156CAD87B1}" srcOrd="0" destOrd="0" presId="urn:microsoft.com/office/officeart/2018/2/layout/IconCircleList"/>
    <dgm:cxn modelId="{83B24238-BCE4-4F61-B222-8915A2437AD6}" type="presParOf" srcId="{B0992A4B-5D3E-49A8-861B-DB4041062F3C}" destId="{3A243190-6C6D-4FF1-B970-DF21A00A09E6}" srcOrd="1" destOrd="0" presId="urn:microsoft.com/office/officeart/2018/2/layout/IconCircleList"/>
    <dgm:cxn modelId="{9ADEEC23-A87C-4E16-937D-380C30CD47B1}" type="presParOf" srcId="{B0992A4B-5D3E-49A8-861B-DB4041062F3C}" destId="{59C805B8-0EE0-4CC2-9630-93795DA48757}" srcOrd="2" destOrd="0" presId="urn:microsoft.com/office/officeart/2018/2/layout/IconCircleList"/>
    <dgm:cxn modelId="{54BF70D1-DF61-43BA-9FAB-A5DC788B68D9}" type="presParOf" srcId="{B0992A4B-5D3E-49A8-861B-DB4041062F3C}" destId="{32B2F6AD-0D05-4D2E-B021-F704BC5925BA}" srcOrd="3" destOrd="0" presId="urn:microsoft.com/office/officeart/2018/2/layout/IconCircleList"/>
    <dgm:cxn modelId="{9154ABC6-197E-47C9-9F0B-0A0FD1411F33}" type="presParOf" srcId="{B13F8982-F125-474F-9B6C-BB92A2E166B0}" destId="{FCDE674E-E35B-4D74-A48C-9BF428214B6A}" srcOrd="3" destOrd="0" presId="urn:microsoft.com/office/officeart/2018/2/layout/IconCircleList"/>
    <dgm:cxn modelId="{82BC338B-DFAF-4BF0-90C2-DA43EE1B5A37}" type="presParOf" srcId="{B13F8982-F125-474F-9B6C-BB92A2E166B0}" destId="{A8E6836B-330C-46F9-8D5C-19D9CEC7111B}" srcOrd="4" destOrd="0" presId="urn:microsoft.com/office/officeart/2018/2/layout/IconCircleList"/>
    <dgm:cxn modelId="{25F1B88E-584B-4590-99DF-B0F2C4BE2399}" type="presParOf" srcId="{A8E6836B-330C-46F9-8D5C-19D9CEC7111B}" destId="{078D0328-655A-432E-94BD-3FB2DD6EA378}" srcOrd="0" destOrd="0" presId="urn:microsoft.com/office/officeart/2018/2/layout/IconCircleList"/>
    <dgm:cxn modelId="{39B88422-17B1-453F-ADC5-7437EE74A1C4}" type="presParOf" srcId="{A8E6836B-330C-46F9-8D5C-19D9CEC7111B}" destId="{0EBD5C15-7844-45D4-A195-DA6D9FC84376}" srcOrd="1" destOrd="0" presId="urn:microsoft.com/office/officeart/2018/2/layout/IconCircleList"/>
    <dgm:cxn modelId="{1B8C94B6-6A9D-4036-8ACB-FF9081417CBD}" type="presParOf" srcId="{A8E6836B-330C-46F9-8D5C-19D9CEC7111B}" destId="{69F92010-B907-495F-859F-3A91756A9699}" srcOrd="2" destOrd="0" presId="urn:microsoft.com/office/officeart/2018/2/layout/IconCircleList"/>
    <dgm:cxn modelId="{864FE308-EDA0-41AB-B0D2-8295088574E7}" type="presParOf" srcId="{A8E6836B-330C-46F9-8D5C-19D9CEC7111B}" destId="{3DD19189-6AD6-4901-BBC0-59B1AC359799}" srcOrd="3" destOrd="0" presId="urn:microsoft.com/office/officeart/2018/2/layout/IconCircleList"/>
    <dgm:cxn modelId="{16B8C52D-6FE1-4992-8672-44CF9D88F828}" type="presParOf" srcId="{B13F8982-F125-474F-9B6C-BB92A2E166B0}" destId="{699FABE9-C8CC-485E-A8E3-6A8E17A363E3}" srcOrd="5" destOrd="0" presId="urn:microsoft.com/office/officeart/2018/2/layout/IconCircleList"/>
    <dgm:cxn modelId="{0A8C6633-0B06-4F82-8189-EF18FEA2699E}" type="presParOf" srcId="{B13F8982-F125-474F-9B6C-BB92A2E166B0}" destId="{E189230A-AF2B-4043-A215-99CB35B21DCF}" srcOrd="6" destOrd="0" presId="urn:microsoft.com/office/officeart/2018/2/layout/IconCircleList"/>
    <dgm:cxn modelId="{FB1F5F76-CDD3-4A71-9E72-DDF0DE60701B}" type="presParOf" srcId="{E189230A-AF2B-4043-A215-99CB35B21DCF}" destId="{0136A45F-D182-4635-A9FB-6AFB645A3EFF}" srcOrd="0" destOrd="0" presId="urn:microsoft.com/office/officeart/2018/2/layout/IconCircleList"/>
    <dgm:cxn modelId="{8917472A-2057-45F6-BB06-D4557E8A1BD0}" type="presParOf" srcId="{E189230A-AF2B-4043-A215-99CB35B21DCF}" destId="{F3D91627-04D2-435F-9C53-C1E0C0C090C5}" srcOrd="1" destOrd="0" presId="urn:microsoft.com/office/officeart/2018/2/layout/IconCircleList"/>
    <dgm:cxn modelId="{7F74347A-D54E-4376-88F1-6382016C575F}" type="presParOf" srcId="{E189230A-AF2B-4043-A215-99CB35B21DCF}" destId="{ECCF3E0E-6276-4E49-92F0-370A64EC4BDD}" srcOrd="2" destOrd="0" presId="urn:microsoft.com/office/officeart/2018/2/layout/IconCircleList"/>
    <dgm:cxn modelId="{204D206C-EA09-471A-AD3C-1B75E50E30B3}" type="presParOf" srcId="{E189230A-AF2B-4043-A215-99CB35B21DCF}" destId="{B9985B84-EAE3-45DA-84CD-161A4857B49C}" srcOrd="3" destOrd="0" presId="urn:microsoft.com/office/officeart/2018/2/layout/IconCircleList"/>
    <dgm:cxn modelId="{18BBAC79-18A1-444E-B18E-D359AEF97F39}" type="presParOf" srcId="{B13F8982-F125-474F-9B6C-BB92A2E166B0}" destId="{FB7F8228-ACD8-4304-859E-64ADB9E8411C}" srcOrd="7" destOrd="0" presId="urn:microsoft.com/office/officeart/2018/2/layout/IconCircleList"/>
    <dgm:cxn modelId="{3AFF1E4D-23A6-49CA-89D0-F50D5C236756}" type="presParOf" srcId="{B13F8982-F125-474F-9B6C-BB92A2E166B0}" destId="{F6C98A80-211D-4EA4-96F4-09D3A35844C2}" srcOrd="8" destOrd="0" presId="urn:microsoft.com/office/officeart/2018/2/layout/IconCircleList"/>
    <dgm:cxn modelId="{389BBDD3-CF6E-4C64-8FCB-E713DEC64B5B}" type="presParOf" srcId="{F6C98A80-211D-4EA4-96F4-09D3A35844C2}" destId="{F3CCB6BD-D026-4C31-AAFB-31AA3CD0C9D2}" srcOrd="0" destOrd="0" presId="urn:microsoft.com/office/officeart/2018/2/layout/IconCircleList"/>
    <dgm:cxn modelId="{8B4599FF-03FB-4C98-9C5C-5951967D9B7A}" type="presParOf" srcId="{F6C98A80-211D-4EA4-96F4-09D3A35844C2}" destId="{260E1601-16D8-4495-85E4-4B2551090380}" srcOrd="1" destOrd="0" presId="urn:microsoft.com/office/officeart/2018/2/layout/IconCircleList"/>
    <dgm:cxn modelId="{6D14F2AF-DF09-44B1-B2EA-58202EE4064B}" type="presParOf" srcId="{F6C98A80-211D-4EA4-96F4-09D3A35844C2}" destId="{92796532-2743-4CB9-B680-B003024A727A}" srcOrd="2" destOrd="0" presId="urn:microsoft.com/office/officeart/2018/2/layout/IconCircleList"/>
    <dgm:cxn modelId="{F4428254-29A0-463E-B923-131D25C482ED}" type="presParOf" srcId="{F6C98A80-211D-4EA4-96F4-09D3A35844C2}" destId="{C1EC674C-E4B1-41C3-BEE2-D18EE2D49EA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7056AA-56C2-4478-AC0E-906DE846FD8F}" type="doc">
      <dgm:prSet loTypeId="urn:microsoft.com/office/officeart/2018/2/layout/IconCircle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CD1AB025-CDC3-4D5E-B362-74C841058F21}">
      <dgm:prSet/>
      <dgm:spPr/>
      <dgm:t>
        <a:bodyPr/>
        <a:lstStyle/>
        <a:p>
          <a:pPr>
            <a:lnSpc>
              <a:spcPct val="100000"/>
            </a:lnSpc>
          </a:pPr>
          <a:r>
            <a:rPr lang="en-IN" b="0" i="0"/>
            <a:t>Premium: KTM, Royal Enfield</a:t>
          </a:r>
          <a:endParaRPr lang="en-US"/>
        </a:p>
      </dgm:t>
    </dgm:pt>
    <dgm:pt modelId="{5D9E81CC-013A-48E2-B1A9-99FAEDF0F2F1}" type="parTrans" cxnId="{B404F288-CA23-457A-BB58-5F20D095E11A}">
      <dgm:prSet/>
      <dgm:spPr/>
      <dgm:t>
        <a:bodyPr/>
        <a:lstStyle/>
        <a:p>
          <a:endParaRPr lang="en-US"/>
        </a:p>
      </dgm:t>
    </dgm:pt>
    <dgm:pt modelId="{C117E029-533A-4183-A586-1D1BB060D5B3}" type="sibTrans" cxnId="{B404F288-CA23-457A-BB58-5F20D095E11A}">
      <dgm:prSet/>
      <dgm:spPr/>
      <dgm:t>
        <a:bodyPr/>
        <a:lstStyle/>
        <a:p>
          <a:pPr>
            <a:lnSpc>
              <a:spcPct val="100000"/>
            </a:lnSpc>
          </a:pPr>
          <a:endParaRPr lang="en-US"/>
        </a:p>
      </dgm:t>
    </dgm:pt>
    <dgm:pt modelId="{8DE7E289-BAFB-4E81-9FD7-B8D8F18DADAB}">
      <dgm:prSet/>
      <dgm:spPr/>
      <dgm:t>
        <a:bodyPr/>
        <a:lstStyle/>
        <a:p>
          <a:pPr>
            <a:lnSpc>
              <a:spcPct val="100000"/>
            </a:lnSpc>
          </a:pPr>
          <a:r>
            <a:rPr lang="en-IN" b="0" i="0"/>
            <a:t>Mild- range: Honda, TVS</a:t>
          </a:r>
          <a:endParaRPr lang="en-US"/>
        </a:p>
      </dgm:t>
    </dgm:pt>
    <dgm:pt modelId="{447D9B60-11C9-4DA2-89DB-8EF9B0D38338}" type="parTrans" cxnId="{1D57DF2C-5A45-44E1-9C9E-E2FAC98D2784}">
      <dgm:prSet/>
      <dgm:spPr/>
      <dgm:t>
        <a:bodyPr/>
        <a:lstStyle/>
        <a:p>
          <a:endParaRPr lang="en-US"/>
        </a:p>
      </dgm:t>
    </dgm:pt>
    <dgm:pt modelId="{52175147-1E7D-4B8F-88EE-BAA7F133E5DF}" type="sibTrans" cxnId="{1D57DF2C-5A45-44E1-9C9E-E2FAC98D2784}">
      <dgm:prSet/>
      <dgm:spPr/>
      <dgm:t>
        <a:bodyPr/>
        <a:lstStyle/>
        <a:p>
          <a:pPr>
            <a:lnSpc>
              <a:spcPct val="100000"/>
            </a:lnSpc>
          </a:pPr>
          <a:endParaRPr lang="en-US"/>
        </a:p>
      </dgm:t>
    </dgm:pt>
    <dgm:pt modelId="{A66F73C4-ADE6-4619-AAF3-5AAC2A764FF7}">
      <dgm:prSet/>
      <dgm:spPr/>
      <dgm:t>
        <a:bodyPr/>
        <a:lstStyle/>
        <a:p>
          <a:pPr>
            <a:lnSpc>
              <a:spcPct val="100000"/>
            </a:lnSpc>
          </a:pPr>
          <a:r>
            <a:rPr lang="en-IN" b="0" i="0"/>
            <a:t>Affordable: Jawa</a:t>
          </a:r>
          <a:endParaRPr lang="en-US"/>
        </a:p>
      </dgm:t>
    </dgm:pt>
    <dgm:pt modelId="{A2D09E42-88DE-4101-AAC2-A7E24D71DFD6}" type="parTrans" cxnId="{35696845-87EC-41DC-99D8-54C9AE116FB6}">
      <dgm:prSet/>
      <dgm:spPr/>
      <dgm:t>
        <a:bodyPr/>
        <a:lstStyle/>
        <a:p>
          <a:endParaRPr lang="en-US"/>
        </a:p>
      </dgm:t>
    </dgm:pt>
    <dgm:pt modelId="{A70D0266-FEEA-40D2-82CE-65E49B98DB38}" type="sibTrans" cxnId="{35696845-87EC-41DC-99D8-54C9AE116FB6}">
      <dgm:prSet/>
      <dgm:spPr/>
      <dgm:t>
        <a:bodyPr/>
        <a:lstStyle/>
        <a:p>
          <a:pPr>
            <a:lnSpc>
              <a:spcPct val="100000"/>
            </a:lnSpc>
          </a:pPr>
          <a:endParaRPr lang="en-US"/>
        </a:p>
      </dgm:t>
    </dgm:pt>
    <dgm:pt modelId="{6B904E66-7C10-4479-9BBC-E212814A4CDE}">
      <dgm:prSet/>
      <dgm:spPr/>
      <dgm:t>
        <a:bodyPr/>
        <a:lstStyle/>
        <a:p>
          <a:pPr>
            <a:lnSpc>
              <a:spcPct val="100000"/>
            </a:lnSpc>
          </a:pPr>
          <a:r>
            <a:rPr lang="en-IN" b="0" i="0" dirty="0"/>
            <a:t>As we can see here that brand like Jawa, Honda and TVS has less selling price as compare to others.</a:t>
          </a:r>
          <a:endParaRPr lang="en-US" dirty="0"/>
        </a:p>
      </dgm:t>
    </dgm:pt>
    <dgm:pt modelId="{58A0CB9F-1FDE-4DF4-909D-C2ABA5C49403}" type="parTrans" cxnId="{3B66F716-CF63-4564-9FB5-B3CBADA4849D}">
      <dgm:prSet/>
      <dgm:spPr/>
      <dgm:t>
        <a:bodyPr/>
        <a:lstStyle/>
        <a:p>
          <a:endParaRPr lang="en-US"/>
        </a:p>
      </dgm:t>
    </dgm:pt>
    <dgm:pt modelId="{E78113CA-EE08-4838-A3C1-12871CC99440}" type="sibTrans" cxnId="{3B66F716-CF63-4564-9FB5-B3CBADA4849D}">
      <dgm:prSet/>
      <dgm:spPr/>
      <dgm:t>
        <a:bodyPr/>
        <a:lstStyle/>
        <a:p>
          <a:pPr>
            <a:lnSpc>
              <a:spcPct val="100000"/>
            </a:lnSpc>
          </a:pPr>
          <a:endParaRPr lang="en-US"/>
        </a:p>
      </dgm:t>
    </dgm:pt>
    <dgm:pt modelId="{29E07CBE-0038-4F0C-B851-6061B67ECBBC}">
      <dgm:prSet/>
      <dgm:spPr/>
      <dgm:t>
        <a:bodyPr/>
        <a:lstStyle/>
        <a:p>
          <a:pPr>
            <a:lnSpc>
              <a:spcPct val="100000"/>
            </a:lnSpc>
          </a:pPr>
          <a:r>
            <a:rPr lang="en-IN" b="0" i="0" dirty="0"/>
            <a:t>Well looking at KTM it is sports oriented bike and not comfortable for daily practice.</a:t>
          </a:r>
          <a:endParaRPr lang="en-US" dirty="0"/>
        </a:p>
      </dgm:t>
    </dgm:pt>
    <dgm:pt modelId="{31E9E7A2-5A21-4EB6-AB09-BCC3EAA80682}" type="parTrans" cxnId="{DDF2C964-CE1F-445D-886A-DD98749C17BB}">
      <dgm:prSet/>
      <dgm:spPr/>
      <dgm:t>
        <a:bodyPr/>
        <a:lstStyle/>
        <a:p>
          <a:endParaRPr lang="en-US"/>
        </a:p>
      </dgm:t>
    </dgm:pt>
    <dgm:pt modelId="{B3F9B283-634E-4ACA-8999-C122C00D4777}" type="sibTrans" cxnId="{DDF2C964-CE1F-445D-886A-DD98749C17BB}">
      <dgm:prSet/>
      <dgm:spPr/>
      <dgm:t>
        <a:bodyPr/>
        <a:lstStyle/>
        <a:p>
          <a:endParaRPr lang="en-US"/>
        </a:p>
      </dgm:t>
    </dgm:pt>
    <dgm:pt modelId="{A4B96ED0-1EAE-48FD-9C1F-CB5EA7A89179}" type="pres">
      <dgm:prSet presAssocID="{4D7056AA-56C2-4478-AC0E-906DE846FD8F}" presName="root" presStyleCnt="0">
        <dgm:presLayoutVars>
          <dgm:dir/>
          <dgm:resizeHandles val="exact"/>
        </dgm:presLayoutVars>
      </dgm:prSet>
      <dgm:spPr/>
    </dgm:pt>
    <dgm:pt modelId="{779C7DC3-C10B-49AA-B6D8-EBA34E01C716}" type="pres">
      <dgm:prSet presAssocID="{4D7056AA-56C2-4478-AC0E-906DE846FD8F}" presName="container" presStyleCnt="0">
        <dgm:presLayoutVars>
          <dgm:dir/>
          <dgm:resizeHandles val="exact"/>
        </dgm:presLayoutVars>
      </dgm:prSet>
      <dgm:spPr/>
    </dgm:pt>
    <dgm:pt modelId="{D1FBC9C2-5F90-43E2-A4BB-C9451F4CEB05}" type="pres">
      <dgm:prSet presAssocID="{CD1AB025-CDC3-4D5E-B362-74C841058F21}" presName="compNode" presStyleCnt="0"/>
      <dgm:spPr/>
    </dgm:pt>
    <dgm:pt modelId="{B6813BC0-1923-4FED-92A8-306C8565A695}" type="pres">
      <dgm:prSet presAssocID="{CD1AB025-CDC3-4D5E-B362-74C841058F21}" presName="iconBgRect" presStyleLbl="bgShp" presStyleIdx="0" presStyleCnt="5"/>
      <dgm:spPr/>
    </dgm:pt>
    <dgm:pt modelId="{81A7D771-7895-4A8E-A862-679CF769844D}" type="pres">
      <dgm:prSet presAssocID="{CD1AB025-CDC3-4D5E-B362-74C841058F2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lder"/>
        </a:ext>
      </dgm:extLst>
    </dgm:pt>
    <dgm:pt modelId="{1D6D2DD6-CFF9-4F94-AB3B-BAC5AA97E338}" type="pres">
      <dgm:prSet presAssocID="{CD1AB025-CDC3-4D5E-B362-74C841058F21}" presName="spaceRect" presStyleCnt="0"/>
      <dgm:spPr/>
    </dgm:pt>
    <dgm:pt modelId="{1ECF9D20-9D43-44D9-B4D2-87FF2AB79346}" type="pres">
      <dgm:prSet presAssocID="{CD1AB025-CDC3-4D5E-B362-74C841058F21}" presName="textRect" presStyleLbl="revTx" presStyleIdx="0" presStyleCnt="5">
        <dgm:presLayoutVars>
          <dgm:chMax val="1"/>
          <dgm:chPref val="1"/>
        </dgm:presLayoutVars>
      </dgm:prSet>
      <dgm:spPr/>
    </dgm:pt>
    <dgm:pt modelId="{6FECD9A0-6797-4CF2-89E8-3137E303D5D9}" type="pres">
      <dgm:prSet presAssocID="{C117E029-533A-4183-A586-1D1BB060D5B3}" presName="sibTrans" presStyleLbl="sibTrans2D1" presStyleIdx="0" presStyleCnt="0"/>
      <dgm:spPr/>
    </dgm:pt>
    <dgm:pt modelId="{92090565-C291-43B8-9206-1A9B8E7C7B27}" type="pres">
      <dgm:prSet presAssocID="{8DE7E289-BAFB-4E81-9FD7-B8D8F18DADAB}" presName="compNode" presStyleCnt="0"/>
      <dgm:spPr/>
    </dgm:pt>
    <dgm:pt modelId="{B5AFED35-2279-4F71-91E3-C9A20936503F}" type="pres">
      <dgm:prSet presAssocID="{8DE7E289-BAFB-4E81-9FD7-B8D8F18DADAB}" presName="iconBgRect" presStyleLbl="bgShp" presStyleIdx="1" presStyleCnt="5"/>
      <dgm:spPr/>
    </dgm:pt>
    <dgm:pt modelId="{D9FBEF23-71EE-4719-93E9-C79843FC0656}" type="pres">
      <dgm:prSet presAssocID="{8DE7E289-BAFB-4E81-9FD7-B8D8F18DADA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ooter"/>
        </a:ext>
      </dgm:extLst>
    </dgm:pt>
    <dgm:pt modelId="{B060D2ED-ED21-46E5-B231-B659E4A80869}" type="pres">
      <dgm:prSet presAssocID="{8DE7E289-BAFB-4E81-9FD7-B8D8F18DADAB}" presName="spaceRect" presStyleCnt="0"/>
      <dgm:spPr/>
    </dgm:pt>
    <dgm:pt modelId="{A6D6FA64-2B24-4944-9A50-4E65B15B1FC0}" type="pres">
      <dgm:prSet presAssocID="{8DE7E289-BAFB-4E81-9FD7-B8D8F18DADAB}" presName="textRect" presStyleLbl="revTx" presStyleIdx="1" presStyleCnt="5">
        <dgm:presLayoutVars>
          <dgm:chMax val="1"/>
          <dgm:chPref val="1"/>
        </dgm:presLayoutVars>
      </dgm:prSet>
      <dgm:spPr/>
    </dgm:pt>
    <dgm:pt modelId="{0CCD6ED1-9209-489E-AB9D-E8F5C4301E33}" type="pres">
      <dgm:prSet presAssocID="{52175147-1E7D-4B8F-88EE-BAA7F133E5DF}" presName="sibTrans" presStyleLbl="sibTrans2D1" presStyleIdx="0" presStyleCnt="0"/>
      <dgm:spPr/>
    </dgm:pt>
    <dgm:pt modelId="{27BD640C-360F-48DC-A373-A9C7F9D78AB2}" type="pres">
      <dgm:prSet presAssocID="{A66F73C4-ADE6-4619-AAF3-5AAC2A764FF7}" presName="compNode" presStyleCnt="0"/>
      <dgm:spPr/>
    </dgm:pt>
    <dgm:pt modelId="{0E0DFF26-0A7C-4853-846A-6D6FBAE0A639}" type="pres">
      <dgm:prSet presAssocID="{A66F73C4-ADE6-4619-AAF3-5AAC2A764FF7}" presName="iconBgRect" presStyleLbl="bgShp" presStyleIdx="2" presStyleCnt="5"/>
      <dgm:spPr/>
    </dgm:pt>
    <dgm:pt modelId="{7BBB38FD-C710-4473-A14D-8957995C6805}" type="pres">
      <dgm:prSet presAssocID="{A66F73C4-ADE6-4619-AAF3-5AAC2A764FF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CFB0F9E2-9CA1-4B43-A600-4B200B95568C}" type="pres">
      <dgm:prSet presAssocID="{A66F73C4-ADE6-4619-AAF3-5AAC2A764FF7}" presName="spaceRect" presStyleCnt="0"/>
      <dgm:spPr/>
    </dgm:pt>
    <dgm:pt modelId="{C06D2E27-242E-40BA-B56F-4AC7A33332D2}" type="pres">
      <dgm:prSet presAssocID="{A66F73C4-ADE6-4619-AAF3-5AAC2A764FF7}" presName="textRect" presStyleLbl="revTx" presStyleIdx="2" presStyleCnt="5">
        <dgm:presLayoutVars>
          <dgm:chMax val="1"/>
          <dgm:chPref val="1"/>
        </dgm:presLayoutVars>
      </dgm:prSet>
      <dgm:spPr/>
    </dgm:pt>
    <dgm:pt modelId="{EE8EC432-5D7F-439A-8EEF-B5F1392B7458}" type="pres">
      <dgm:prSet presAssocID="{A70D0266-FEEA-40D2-82CE-65E49B98DB38}" presName="sibTrans" presStyleLbl="sibTrans2D1" presStyleIdx="0" presStyleCnt="0"/>
      <dgm:spPr/>
    </dgm:pt>
    <dgm:pt modelId="{07BB24A5-0509-4EB9-B4A9-E3760A38B51C}" type="pres">
      <dgm:prSet presAssocID="{6B904E66-7C10-4479-9BBC-E212814A4CDE}" presName="compNode" presStyleCnt="0"/>
      <dgm:spPr/>
    </dgm:pt>
    <dgm:pt modelId="{64C691D2-83EE-4C9F-A197-E41E91F45663}" type="pres">
      <dgm:prSet presAssocID="{6B904E66-7C10-4479-9BBC-E212814A4CDE}" presName="iconBgRect" presStyleLbl="bgShp" presStyleIdx="3" presStyleCnt="5"/>
      <dgm:spPr/>
    </dgm:pt>
    <dgm:pt modelId="{14D27D91-69B2-4218-B583-33DFBE1162A9}" type="pres">
      <dgm:prSet presAssocID="{6B904E66-7C10-4479-9BBC-E212814A4CD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iosk"/>
        </a:ext>
      </dgm:extLst>
    </dgm:pt>
    <dgm:pt modelId="{EE38D6CC-2541-4784-A898-600B2D84B66F}" type="pres">
      <dgm:prSet presAssocID="{6B904E66-7C10-4479-9BBC-E212814A4CDE}" presName="spaceRect" presStyleCnt="0"/>
      <dgm:spPr/>
    </dgm:pt>
    <dgm:pt modelId="{2AAF8D5B-6200-4ABC-8EFF-7EBD79DFAFE5}" type="pres">
      <dgm:prSet presAssocID="{6B904E66-7C10-4479-9BBC-E212814A4CDE}" presName="textRect" presStyleLbl="revTx" presStyleIdx="3" presStyleCnt="5">
        <dgm:presLayoutVars>
          <dgm:chMax val="1"/>
          <dgm:chPref val="1"/>
        </dgm:presLayoutVars>
      </dgm:prSet>
      <dgm:spPr/>
    </dgm:pt>
    <dgm:pt modelId="{EC7663C0-C7EE-4A5D-9F59-59CD3FDA490D}" type="pres">
      <dgm:prSet presAssocID="{E78113CA-EE08-4838-A3C1-12871CC99440}" presName="sibTrans" presStyleLbl="sibTrans2D1" presStyleIdx="0" presStyleCnt="0"/>
      <dgm:spPr/>
    </dgm:pt>
    <dgm:pt modelId="{E8DFFCEF-7201-4F63-8EFA-4A9D7DCA5D5B}" type="pres">
      <dgm:prSet presAssocID="{29E07CBE-0038-4F0C-B851-6061B67ECBBC}" presName="compNode" presStyleCnt="0"/>
      <dgm:spPr/>
    </dgm:pt>
    <dgm:pt modelId="{F806FA3D-CF4B-4FDA-B37D-E9DB1C629CBE}" type="pres">
      <dgm:prSet presAssocID="{29E07CBE-0038-4F0C-B851-6061B67ECBBC}" presName="iconBgRect" presStyleLbl="bgShp" presStyleIdx="4" presStyleCnt="5"/>
      <dgm:spPr/>
    </dgm:pt>
    <dgm:pt modelId="{CBBCA639-9612-4ED5-893F-AAC68E46FAA5}" type="pres">
      <dgm:prSet presAssocID="{29E07CBE-0038-4F0C-B851-6061B67ECBB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ike"/>
        </a:ext>
      </dgm:extLst>
    </dgm:pt>
    <dgm:pt modelId="{958EDE55-CB2B-4EF6-9F4E-C18FB39B15CD}" type="pres">
      <dgm:prSet presAssocID="{29E07CBE-0038-4F0C-B851-6061B67ECBBC}" presName="spaceRect" presStyleCnt="0"/>
      <dgm:spPr/>
    </dgm:pt>
    <dgm:pt modelId="{71206BEA-ECA1-4426-BC89-10CFD3E73F59}" type="pres">
      <dgm:prSet presAssocID="{29E07CBE-0038-4F0C-B851-6061B67ECBBC}" presName="textRect" presStyleLbl="revTx" presStyleIdx="4" presStyleCnt="5">
        <dgm:presLayoutVars>
          <dgm:chMax val="1"/>
          <dgm:chPref val="1"/>
        </dgm:presLayoutVars>
      </dgm:prSet>
      <dgm:spPr/>
    </dgm:pt>
  </dgm:ptLst>
  <dgm:cxnLst>
    <dgm:cxn modelId="{3B66F716-CF63-4564-9FB5-B3CBADA4849D}" srcId="{4D7056AA-56C2-4478-AC0E-906DE846FD8F}" destId="{6B904E66-7C10-4479-9BBC-E212814A4CDE}" srcOrd="3" destOrd="0" parTransId="{58A0CB9F-1FDE-4DF4-909D-C2ABA5C49403}" sibTransId="{E78113CA-EE08-4838-A3C1-12871CC99440}"/>
    <dgm:cxn modelId="{C26A7D1B-D62B-46F6-870B-8172A9F9F465}" type="presOf" srcId="{6B904E66-7C10-4479-9BBC-E212814A4CDE}" destId="{2AAF8D5B-6200-4ABC-8EFF-7EBD79DFAFE5}" srcOrd="0" destOrd="0" presId="urn:microsoft.com/office/officeart/2018/2/layout/IconCircleList"/>
    <dgm:cxn modelId="{9C88F422-8B06-4AA6-A36E-8EEE4924ED2E}" type="presOf" srcId="{4D7056AA-56C2-4478-AC0E-906DE846FD8F}" destId="{A4B96ED0-1EAE-48FD-9C1F-CB5EA7A89179}" srcOrd="0" destOrd="0" presId="urn:microsoft.com/office/officeart/2018/2/layout/IconCircleList"/>
    <dgm:cxn modelId="{1D57DF2C-5A45-44E1-9C9E-E2FAC98D2784}" srcId="{4D7056AA-56C2-4478-AC0E-906DE846FD8F}" destId="{8DE7E289-BAFB-4E81-9FD7-B8D8F18DADAB}" srcOrd="1" destOrd="0" parTransId="{447D9B60-11C9-4DA2-89DB-8EF9B0D38338}" sibTransId="{52175147-1E7D-4B8F-88EE-BAA7F133E5DF}"/>
    <dgm:cxn modelId="{DD49543C-51EB-432F-BEA6-0E254CFCC314}" type="presOf" srcId="{A66F73C4-ADE6-4619-AAF3-5AAC2A764FF7}" destId="{C06D2E27-242E-40BA-B56F-4AC7A33332D2}" srcOrd="0" destOrd="0" presId="urn:microsoft.com/office/officeart/2018/2/layout/IconCircleList"/>
    <dgm:cxn modelId="{DDF2C964-CE1F-445D-886A-DD98749C17BB}" srcId="{4D7056AA-56C2-4478-AC0E-906DE846FD8F}" destId="{29E07CBE-0038-4F0C-B851-6061B67ECBBC}" srcOrd="4" destOrd="0" parTransId="{31E9E7A2-5A21-4EB6-AB09-BCC3EAA80682}" sibTransId="{B3F9B283-634E-4ACA-8999-C122C00D4777}"/>
    <dgm:cxn modelId="{35696845-87EC-41DC-99D8-54C9AE116FB6}" srcId="{4D7056AA-56C2-4478-AC0E-906DE846FD8F}" destId="{A66F73C4-ADE6-4619-AAF3-5AAC2A764FF7}" srcOrd="2" destOrd="0" parTransId="{A2D09E42-88DE-4101-AAC2-A7E24D71DFD6}" sibTransId="{A70D0266-FEEA-40D2-82CE-65E49B98DB38}"/>
    <dgm:cxn modelId="{76D39D4F-F01C-4FC1-902A-BDDE689148E8}" type="presOf" srcId="{CD1AB025-CDC3-4D5E-B362-74C841058F21}" destId="{1ECF9D20-9D43-44D9-B4D2-87FF2AB79346}" srcOrd="0" destOrd="0" presId="urn:microsoft.com/office/officeart/2018/2/layout/IconCircleList"/>
    <dgm:cxn modelId="{FF8A5E77-694C-49B9-981F-46527DF638B0}" type="presOf" srcId="{8DE7E289-BAFB-4E81-9FD7-B8D8F18DADAB}" destId="{A6D6FA64-2B24-4944-9A50-4E65B15B1FC0}" srcOrd="0" destOrd="0" presId="urn:microsoft.com/office/officeart/2018/2/layout/IconCircleList"/>
    <dgm:cxn modelId="{E8C75E7F-2855-4686-A340-74F472629205}" type="presOf" srcId="{E78113CA-EE08-4838-A3C1-12871CC99440}" destId="{EC7663C0-C7EE-4A5D-9F59-59CD3FDA490D}" srcOrd="0" destOrd="0" presId="urn:microsoft.com/office/officeart/2018/2/layout/IconCircleList"/>
    <dgm:cxn modelId="{FE03D286-9C00-4BF5-8C78-52FE85D0B5DA}" type="presOf" srcId="{A70D0266-FEEA-40D2-82CE-65E49B98DB38}" destId="{EE8EC432-5D7F-439A-8EEF-B5F1392B7458}" srcOrd="0" destOrd="0" presId="urn:microsoft.com/office/officeart/2018/2/layout/IconCircleList"/>
    <dgm:cxn modelId="{B404F288-CA23-457A-BB58-5F20D095E11A}" srcId="{4D7056AA-56C2-4478-AC0E-906DE846FD8F}" destId="{CD1AB025-CDC3-4D5E-B362-74C841058F21}" srcOrd="0" destOrd="0" parTransId="{5D9E81CC-013A-48E2-B1A9-99FAEDF0F2F1}" sibTransId="{C117E029-533A-4183-A586-1D1BB060D5B3}"/>
    <dgm:cxn modelId="{04B44F8B-50D3-48E7-9BBB-421712E5710E}" type="presOf" srcId="{29E07CBE-0038-4F0C-B851-6061B67ECBBC}" destId="{71206BEA-ECA1-4426-BC89-10CFD3E73F59}" srcOrd="0" destOrd="0" presId="urn:microsoft.com/office/officeart/2018/2/layout/IconCircleList"/>
    <dgm:cxn modelId="{0984CCBA-58BA-45E8-A0B0-4B7BECA274EF}" type="presOf" srcId="{52175147-1E7D-4B8F-88EE-BAA7F133E5DF}" destId="{0CCD6ED1-9209-489E-AB9D-E8F5C4301E33}" srcOrd="0" destOrd="0" presId="urn:microsoft.com/office/officeart/2018/2/layout/IconCircleList"/>
    <dgm:cxn modelId="{47129AE7-5542-4464-8CDD-AD2352344D76}" type="presOf" srcId="{C117E029-533A-4183-A586-1D1BB060D5B3}" destId="{6FECD9A0-6797-4CF2-89E8-3137E303D5D9}" srcOrd="0" destOrd="0" presId="urn:microsoft.com/office/officeart/2018/2/layout/IconCircleList"/>
    <dgm:cxn modelId="{CDE58E40-08EC-428D-B3A6-A258C02E4024}" type="presParOf" srcId="{A4B96ED0-1EAE-48FD-9C1F-CB5EA7A89179}" destId="{779C7DC3-C10B-49AA-B6D8-EBA34E01C716}" srcOrd="0" destOrd="0" presId="urn:microsoft.com/office/officeart/2018/2/layout/IconCircleList"/>
    <dgm:cxn modelId="{54429EC1-7D42-4624-88F6-783767D6495F}" type="presParOf" srcId="{779C7DC3-C10B-49AA-B6D8-EBA34E01C716}" destId="{D1FBC9C2-5F90-43E2-A4BB-C9451F4CEB05}" srcOrd="0" destOrd="0" presId="urn:microsoft.com/office/officeart/2018/2/layout/IconCircleList"/>
    <dgm:cxn modelId="{3BA80038-4E2F-4FCC-9B33-E15CE44F6191}" type="presParOf" srcId="{D1FBC9C2-5F90-43E2-A4BB-C9451F4CEB05}" destId="{B6813BC0-1923-4FED-92A8-306C8565A695}" srcOrd="0" destOrd="0" presId="urn:microsoft.com/office/officeart/2018/2/layout/IconCircleList"/>
    <dgm:cxn modelId="{5023099E-8525-460F-8872-2FC50B5112C9}" type="presParOf" srcId="{D1FBC9C2-5F90-43E2-A4BB-C9451F4CEB05}" destId="{81A7D771-7895-4A8E-A862-679CF769844D}" srcOrd="1" destOrd="0" presId="urn:microsoft.com/office/officeart/2018/2/layout/IconCircleList"/>
    <dgm:cxn modelId="{77561C0D-2D4E-4FF3-96A5-4AF2BE0A7F6D}" type="presParOf" srcId="{D1FBC9C2-5F90-43E2-A4BB-C9451F4CEB05}" destId="{1D6D2DD6-CFF9-4F94-AB3B-BAC5AA97E338}" srcOrd="2" destOrd="0" presId="urn:microsoft.com/office/officeart/2018/2/layout/IconCircleList"/>
    <dgm:cxn modelId="{663BE156-DF3F-434F-8B58-801024FC425D}" type="presParOf" srcId="{D1FBC9C2-5F90-43E2-A4BB-C9451F4CEB05}" destId="{1ECF9D20-9D43-44D9-B4D2-87FF2AB79346}" srcOrd="3" destOrd="0" presId="urn:microsoft.com/office/officeart/2018/2/layout/IconCircleList"/>
    <dgm:cxn modelId="{DF7D46F5-8E23-4554-863E-1B06C8997028}" type="presParOf" srcId="{779C7DC3-C10B-49AA-B6D8-EBA34E01C716}" destId="{6FECD9A0-6797-4CF2-89E8-3137E303D5D9}" srcOrd="1" destOrd="0" presId="urn:microsoft.com/office/officeart/2018/2/layout/IconCircleList"/>
    <dgm:cxn modelId="{B0DD6477-FECD-4A6F-97EB-A450928B4B2A}" type="presParOf" srcId="{779C7DC3-C10B-49AA-B6D8-EBA34E01C716}" destId="{92090565-C291-43B8-9206-1A9B8E7C7B27}" srcOrd="2" destOrd="0" presId="urn:microsoft.com/office/officeart/2018/2/layout/IconCircleList"/>
    <dgm:cxn modelId="{001F3784-7404-4D86-A85D-C631293C7E4C}" type="presParOf" srcId="{92090565-C291-43B8-9206-1A9B8E7C7B27}" destId="{B5AFED35-2279-4F71-91E3-C9A20936503F}" srcOrd="0" destOrd="0" presId="urn:microsoft.com/office/officeart/2018/2/layout/IconCircleList"/>
    <dgm:cxn modelId="{3B0523A7-304F-4C59-98C4-BF5387B59097}" type="presParOf" srcId="{92090565-C291-43B8-9206-1A9B8E7C7B27}" destId="{D9FBEF23-71EE-4719-93E9-C79843FC0656}" srcOrd="1" destOrd="0" presId="urn:microsoft.com/office/officeart/2018/2/layout/IconCircleList"/>
    <dgm:cxn modelId="{B6AE1085-95DA-4705-94CD-81AD125AE3EB}" type="presParOf" srcId="{92090565-C291-43B8-9206-1A9B8E7C7B27}" destId="{B060D2ED-ED21-46E5-B231-B659E4A80869}" srcOrd="2" destOrd="0" presId="urn:microsoft.com/office/officeart/2018/2/layout/IconCircleList"/>
    <dgm:cxn modelId="{37243280-7025-40D0-A61E-1ECC4367560C}" type="presParOf" srcId="{92090565-C291-43B8-9206-1A9B8E7C7B27}" destId="{A6D6FA64-2B24-4944-9A50-4E65B15B1FC0}" srcOrd="3" destOrd="0" presId="urn:microsoft.com/office/officeart/2018/2/layout/IconCircleList"/>
    <dgm:cxn modelId="{C8B85918-0694-48DC-859D-308CEDA2D960}" type="presParOf" srcId="{779C7DC3-C10B-49AA-B6D8-EBA34E01C716}" destId="{0CCD6ED1-9209-489E-AB9D-E8F5C4301E33}" srcOrd="3" destOrd="0" presId="urn:microsoft.com/office/officeart/2018/2/layout/IconCircleList"/>
    <dgm:cxn modelId="{234E9370-6086-4944-A4E7-04DBF417B497}" type="presParOf" srcId="{779C7DC3-C10B-49AA-B6D8-EBA34E01C716}" destId="{27BD640C-360F-48DC-A373-A9C7F9D78AB2}" srcOrd="4" destOrd="0" presId="urn:microsoft.com/office/officeart/2018/2/layout/IconCircleList"/>
    <dgm:cxn modelId="{6E3685C2-B79F-4D4D-BF38-1ECD4D797B00}" type="presParOf" srcId="{27BD640C-360F-48DC-A373-A9C7F9D78AB2}" destId="{0E0DFF26-0A7C-4853-846A-6D6FBAE0A639}" srcOrd="0" destOrd="0" presId="urn:microsoft.com/office/officeart/2018/2/layout/IconCircleList"/>
    <dgm:cxn modelId="{FF562995-5723-4061-8292-E3F3A3B2EA0F}" type="presParOf" srcId="{27BD640C-360F-48DC-A373-A9C7F9D78AB2}" destId="{7BBB38FD-C710-4473-A14D-8957995C6805}" srcOrd="1" destOrd="0" presId="urn:microsoft.com/office/officeart/2018/2/layout/IconCircleList"/>
    <dgm:cxn modelId="{545027ED-9A96-43B4-8E29-BB3D7D30C9CC}" type="presParOf" srcId="{27BD640C-360F-48DC-A373-A9C7F9D78AB2}" destId="{CFB0F9E2-9CA1-4B43-A600-4B200B95568C}" srcOrd="2" destOrd="0" presId="urn:microsoft.com/office/officeart/2018/2/layout/IconCircleList"/>
    <dgm:cxn modelId="{3675585A-561B-4E33-8B62-E8358E3E683D}" type="presParOf" srcId="{27BD640C-360F-48DC-A373-A9C7F9D78AB2}" destId="{C06D2E27-242E-40BA-B56F-4AC7A33332D2}" srcOrd="3" destOrd="0" presId="urn:microsoft.com/office/officeart/2018/2/layout/IconCircleList"/>
    <dgm:cxn modelId="{8A60CF32-4A2B-456D-90FC-AD3E6011C654}" type="presParOf" srcId="{779C7DC3-C10B-49AA-B6D8-EBA34E01C716}" destId="{EE8EC432-5D7F-439A-8EEF-B5F1392B7458}" srcOrd="5" destOrd="0" presId="urn:microsoft.com/office/officeart/2018/2/layout/IconCircleList"/>
    <dgm:cxn modelId="{4A87BEAB-0FCF-4493-AD02-006659A23717}" type="presParOf" srcId="{779C7DC3-C10B-49AA-B6D8-EBA34E01C716}" destId="{07BB24A5-0509-4EB9-B4A9-E3760A38B51C}" srcOrd="6" destOrd="0" presId="urn:microsoft.com/office/officeart/2018/2/layout/IconCircleList"/>
    <dgm:cxn modelId="{BDDA7D64-851D-471B-BEC1-A5BDFBEF929E}" type="presParOf" srcId="{07BB24A5-0509-4EB9-B4A9-E3760A38B51C}" destId="{64C691D2-83EE-4C9F-A197-E41E91F45663}" srcOrd="0" destOrd="0" presId="urn:microsoft.com/office/officeart/2018/2/layout/IconCircleList"/>
    <dgm:cxn modelId="{8073A22C-EFF7-4AB3-984C-5CBE3580BE44}" type="presParOf" srcId="{07BB24A5-0509-4EB9-B4A9-E3760A38B51C}" destId="{14D27D91-69B2-4218-B583-33DFBE1162A9}" srcOrd="1" destOrd="0" presId="urn:microsoft.com/office/officeart/2018/2/layout/IconCircleList"/>
    <dgm:cxn modelId="{2F8D9451-08D5-471E-B76F-BD7B1A03450C}" type="presParOf" srcId="{07BB24A5-0509-4EB9-B4A9-E3760A38B51C}" destId="{EE38D6CC-2541-4784-A898-600B2D84B66F}" srcOrd="2" destOrd="0" presId="urn:microsoft.com/office/officeart/2018/2/layout/IconCircleList"/>
    <dgm:cxn modelId="{C4C16577-58B3-4E99-AF27-D3C29DD434B4}" type="presParOf" srcId="{07BB24A5-0509-4EB9-B4A9-E3760A38B51C}" destId="{2AAF8D5B-6200-4ABC-8EFF-7EBD79DFAFE5}" srcOrd="3" destOrd="0" presId="urn:microsoft.com/office/officeart/2018/2/layout/IconCircleList"/>
    <dgm:cxn modelId="{972AA1EB-DAA4-41FD-AA03-F8C34249CB3A}" type="presParOf" srcId="{779C7DC3-C10B-49AA-B6D8-EBA34E01C716}" destId="{EC7663C0-C7EE-4A5D-9F59-59CD3FDA490D}" srcOrd="7" destOrd="0" presId="urn:microsoft.com/office/officeart/2018/2/layout/IconCircleList"/>
    <dgm:cxn modelId="{C72D6FEC-8DFE-4ABE-95B7-AD27CEADDECE}" type="presParOf" srcId="{779C7DC3-C10B-49AA-B6D8-EBA34E01C716}" destId="{E8DFFCEF-7201-4F63-8EFA-4A9D7DCA5D5B}" srcOrd="8" destOrd="0" presId="urn:microsoft.com/office/officeart/2018/2/layout/IconCircleList"/>
    <dgm:cxn modelId="{DD1E215F-8993-4097-A104-183BE9ECB83D}" type="presParOf" srcId="{E8DFFCEF-7201-4F63-8EFA-4A9D7DCA5D5B}" destId="{F806FA3D-CF4B-4FDA-B37D-E9DB1C629CBE}" srcOrd="0" destOrd="0" presId="urn:microsoft.com/office/officeart/2018/2/layout/IconCircleList"/>
    <dgm:cxn modelId="{4C56C64C-50D5-42F2-B6B4-54DF399D1E82}" type="presParOf" srcId="{E8DFFCEF-7201-4F63-8EFA-4A9D7DCA5D5B}" destId="{CBBCA639-9612-4ED5-893F-AAC68E46FAA5}" srcOrd="1" destOrd="0" presId="urn:microsoft.com/office/officeart/2018/2/layout/IconCircleList"/>
    <dgm:cxn modelId="{48362BA8-F478-46D4-AF55-DB338457D7BA}" type="presParOf" srcId="{E8DFFCEF-7201-4F63-8EFA-4A9D7DCA5D5B}" destId="{958EDE55-CB2B-4EF6-9F4E-C18FB39B15CD}" srcOrd="2" destOrd="0" presId="urn:microsoft.com/office/officeart/2018/2/layout/IconCircleList"/>
    <dgm:cxn modelId="{D26D0209-8E51-4912-B808-1BFC266886BA}" type="presParOf" srcId="{E8DFFCEF-7201-4F63-8EFA-4A9D7DCA5D5B}" destId="{71206BEA-ECA1-4426-BC89-10CFD3E73F59}" srcOrd="3" destOrd="0" presId="urn:microsoft.com/office/officeart/2018/2/layout/IconCircle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EA97E9-383A-4304-BF38-08728ADC5ED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ADE4A80-C03C-45CE-84AF-844175D79DA6}">
      <dgm:prSet/>
      <dgm:spPr/>
      <dgm:t>
        <a:bodyPr/>
        <a:lstStyle/>
        <a:p>
          <a:pPr>
            <a:lnSpc>
              <a:spcPct val="100000"/>
            </a:lnSpc>
          </a:pPr>
          <a:r>
            <a:rPr lang="en-IN" b="0" i="0"/>
            <a:t>Most profit making city is Kolkata. Kolkata is high performing profit centre here.</a:t>
          </a:r>
          <a:endParaRPr lang="en-US"/>
        </a:p>
      </dgm:t>
    </dgm:pt>
    <dgm:pt modelId="{E9DADBA4-F3FB-4945-B15F-66007CBFEB7B}" type="parTrans" cxnId="{E4E7C54C-F4A8-4EBB-8992-25D88E361318}">
      <dgm:prSet/>
      <dgm:spPr/>
      <dgm:t>
        <a:bodyPr/>
        <a:lstStyle/>
        <a:p>
          <a:endParaRPr lang="en-US"/>
        </a:p>
      </dgm:t>
    </dgm:pt>
    <dgm:pt modelId="{2D806DD1-5CE3-478F-8559-7BAC5327DD39}" type="sibTrans" cxnId="{E4E7C54C-F4A8-4EBB-8992-25D88E361318}">
      <dgm:prSet/>
      <dgm:spPr/>
      <dgm:t>
        <a:bodyPr/>
        <a:lstStyle/>
        <a:p>
          <a:endParaRPr lang="en-US"/>
        </a:p>
      </dgm:t>
    </dgm:pt>
    <dgm:pt modelId="{7968AD10-DF6D-4A8A-A577-B775D1ED1086}">
      <dgm:prSet/>
      <dgm:spPr/>
      <dgm:t>
        <a:bodyPr/>
        <a:lstStyle/>
        <a:p>
          <a:pPr>
            <a:lnSpc>
              <a:spcPct val="100000"/>
            </a:lnSpc>
          </a:pPr>
          <a:r>
            <a:rPr lang="en-IN" b="0" i="0"/>
            <a:t>Hyderabad and Ahmednagar are also high profit levels close to top.</a:t>
          </a:r>
          <a:endParaRPr lang="en-US"/>
        </a:p>
      </dgm:t>
    </dgm:pt>
    <dgm:pt modelId="{76DD8B69-408C-4BEE-A786-18FE83D7EC91}" type="parTrans" cxnId="{C77D4185-1F96-4F6D-BF42-C54F3B934FB4}">
      <dgm:prSet/>
      <dgm:spPr/>
      <dgm:t>
        <a:bodyPr/>
        <a:lstStyle/>
        <a:p>
          <a:endParaRPr lang="en-US"/>
        </a:p>
      </dgm:t>
    </dgm:pt>
    <dgm:pt modelId="{06FA27BA-BB09-4837-85C9-EC1AB32B4143}" type="sibTrans" cxnId="{C77D4185-1F96-4F6D-BF42-C54F3B934FB4}">
      <dgm:prSet/>
      <dgm:spPr/>
      <dgm:t>
        <a:bodyPr/>
        <a:lstStyle/>
        <a:p>
          <a:endParaRPr lang="en-US"/>
        </a:p>
      </dgm:t>
    </dgm:pt>
    <dgm:pt modelId="{957A09F2-DD53-45F6-A43F-EB9FF7B04770}">
      <dgm:prSet/>
      <dgm:spPr/>
      <dgm:t>
        <a:bodyPr/>
        <a:lstStyle/>
        <a:p>
          <a:pPr>
            <a:lnSpc>
              <a:spcPct val="100000"/>
            </a:lnSpc>
          </a:pPr>
          <a:r>
            <a:rPr lang="en-IN" b="0" i="0"/>
            <a:t>Pune, Chennai and Bangalore are stable profit are in mid range segment.</a:t>
          </a:r>
          <a:endParaRPr lang="en-US"/>
        </a:p>
      </dgm:t>
    </dgm:pt>
    <dgm:pt modelId="{107E7C85-5DDD-4BE0-84DA-1322A67CF5CE}" type="parTrans" cxnId="{919F02B7-2914-4B66-A67A-95625F8C9228}">
      <dgm:prSet/>
      <dgm:spPr/>
      <dgm:t>
        <a:bodyPr/>
        <a:lstStyle/>
        <a:p>
          <a:endParaRPr lang="en-US"/>
        </a:p>
      </dgm:t>
    </dgm:pt>
    <dgm:pt modelId="{042A8DD7-11CA-434B-A3A9-AE715531C3A0}" type="sibTrans" cxnId="{919F02B7-2914-4B66-A67A-95625F8C9228}">
      <dgm:prSet/>
      <dgm:spPr/>
      <dgm:t>
        <a:bodyPr/>
        <a:lstStyle/>
        <a:p>
          <a:endParaRPr lang="en-US"/>
        </a:p>
      </dgm:t>
    </dgm:pt>
    <dgm:pt modelId="{D385E0F3-92F0-4B53-A800-EC8A5CF09723}" type="pres">
      <dgm:prSet presAssocID="{D3EA97E9-383A-4304-BF38-08728ADC5ED7}" presName="root" presStyleCnt="0">
        <dgm:presLayoutVars>
          <dgm:dir/>
          <dgm:resizeHandles val="exact"/>
        </dgm:presLayoutVars>
      </dgm:prSet>
      <dgm:spPr/>
    </dgm:pt>
    <dgm:pt modelId="{CBB642E3-D4F2-43D0-B53D-CC14C092F6C4}" type="pres">
      <dgm:prSet presAssocID="{5ADE4A80-C03C-45CE-84AF-844175D79DA6}" presName="compNode" presStyleCnt="0"/>
      <dgm:spPr/>
    </dgm:pt>
    <dgm:pt modelId="{D4ADAE85-B2FC-4740-80CB-F618BC66907D}" type="pres">
      <dgm:prSet presAssocID="{5ADE4A80-C03C-45CE-84AF-844175D79DA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ty"/>
        </a:ext>
      </dgm:extLst>
    </dgm:pt>
    <dgm:pt modelId="{81874140-97CB-4D7F-9358-1FD043E1454C}" type="pres">
      <dgm:prSet presAssocID="{5ADE4A80-C03C-45CE-84AF-844175D79DA6}" presName="spaceRect" presStyleCnt="0"/>
      <dgm:spPr/>
    </dgm:pt>
    <dgm:pt modelId="{4261AA1C-73E8-4F60-9FBD-D0C6B66C68C2}" type="pres">
      <dgm:prSet presAssocID="{5ADE4A80-C03C-45CE-84AF-844175D79DA6}" presName="textRect" presStyleLbl="revTx" presStyleIdx="0" presStyleCnt="3">
        <dgm:presLayoutVars>
          <dgm:chMax val="1"/>
          <dgm:chPref val="1"/>
        </dgm:presLayoutVars>
      </dgm:prSet>
      <dgm:spPr/>
    </dgm:pt>
    <dgm:pt modelId="{F5226FE2-709E-4C82-888F-2D618BE09D26}" type="pres">
      <dgm:prSet presAssocID="{2D806DD1-5CE3-478F-8559-7BAC5327DD39}" presName="sibTrans" presStyleCnt="0"/>
      <dgm:spPr/>
    </dgm:pt>
    <dgm:pt modelId="{F8ABE0DD-6C58-4DF6-B7B0-B1E49569659B}" type="pres">
      <dgm:prSet presAssocID="{7968AD10-DF6D-4A8A-A577-B775D1ED1086}" presName="compNode" presStyleCnt="0"/>
      <dgm:spPr/>
    </dgm:pt>
    <dgm:pt modelId="{2C6C1A7E-FE60-4A03-B495-907305BD18A5}" type="pres">
      <dgm:prSet presAssocID="{7968AD10-DF6D-4A8A-A577-B775D1ED108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ine Decoration"/>
        </a:ext>
      </dgm:extLst>
    </dgm:pt>
    <dgm:pt modelId="{F7885D17-7792-48BA-9B06-270238940EF1}" type="pres">
      <dgm:prSet presAssocID="{7968AD10-DF6D-4A8A-A577-B775D1ED1086}" presName="spaceRect" presStyleCnt="0"/>
      <dgm:spPr/>
    </dgm:pt>
    <dgm:pt modelId="{6B170567-A990-465C-9EED-D35305555994}" type="pres">
      <dgm:prSet presAssocID="{7968AD10-DF6D-4A8A-A577-B775D1ED1086}" presName="textRect" presStyleLbl="revTx" presStyleIdx="1" presStyleCnt="3">
        <dgm:presLayoutVars>
          <dgm:chMax val="1"/>
          <dgm:chPref val="1"/>
        </dgm:presLayoutVars>
      </dgm:prSet>
      <dgm:spPr/>
    </dgm:pt>
    <dgm:pt modelId="{909AA4F5-4598-49B6-8FE2-76444B8A1E7F}" type="pres">
      <dgm:prSet presAssocID="{06FA27BA-BB09-4837-85C9-EC1AB32B4143}" presName="sibTrans" presStyleCnt="0"/>
      <dgm:spPr/>
    </dgm:pt>
    <dgm:pt modelId="{953862C0-34C9-4A11-BDF1-FC770342B52F}" type="pres">
      <dgm:prSet presAssocID="{957A09F2-DD53-45F6-A43F-EB9FF7B04770}" presName="compNode" presStyleCnt="0"/>
      <dgm:spPr/>
    </dgm:pt>
    <dgm:pt modelId="{E5141C2B-C198-43D7-B216-536651B00009}" type="pres">
      <dgm:prSet presAssocID="{957A09F2-DD53-45F6-A43F-EB9FF7B0477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rker"/>
        </a:ext>
      </dgm:extLst>
    </dgm:pt>
    <dgm:pt modelId="{BBB48EE2-A098-4B63-8A27-548ED1E280DD}" type="pres">
      <dgm:prSet presAssocID="{957A09F2-DD53-45F6-A43F-EB9FF7B04770}" presName="spaceRect" presStyleCnt="0"/>
      <dgm:spPr/>
    </dgm:pt>
    <dgm:pt modelId="{4D44419F-2C91-454D-A0F5-E8894DD36C20}" type="pres">
      <dgm:prSet presAssocID="{957A09F2-DD53-45F6-A43F-EB9FF7B04770}" presName="textRect" presStyleLbl="revTx" presStyleIdx="2" presStyleCnt="3">
        <dgm:presLayoutVars>
          <dgm:chMax val="1"/>
          <dgm:chPref val="1"/>
        </dgm:presLayoutVars>
      </dgm:prSet>
      <dgm:spPr/>
    </dgm:pt>
  </dgm:ptLst>
  <dgm:cxnLst>
    <dgm:cxn modelId="{0AD66318-BE3D-4739-97A5-CC0C2DC50873}" type="presOf" srcId="{D3EA97E9-383A-4304-BF38-08728ADC5ED7}" destId="{D385E0F3-92F0-4B53-A800-EC8A5CF09723}" srcOrd="0" destOrd="0" presId="urn:microsoft.com/office/officeart/2018/2/layout/IconLabelList"/>
    <dgm:cxn modelId="{E4E7C54C-F4A8-4EBB-8992-25D88E361318}" srcId="{D3EA97E9-383A-4304-BF38-08728ADC5ED7}" destId="{5ADE4A80-C03C-45CE-84AF-844175D79DA6}" srcOrd="0" destOrd="0" parTransId="{E9DADBA4-F3FB-4945-B15F-66007CBFEB7B}" sibTransId="{2D806DD1-5CE3-478F-8559-7BAC5327DD39}"/>
    <dgm:cxn modelId="{C77D4185-1F96-4F6D-BF42-C54F3B934FB4}" srcId="{D3EA97E9-383A-4304-BF38-08728ADC5ED7}" destId="{7968AD10-DF6D-4A8A-A577-B775D1ED1086}" srcOrd="1" destOrd="0" parTransId="{76DD8B69-408C-4BEE-A786-18FE83D7EC91}" sibTransId="{06FA27BA-BB09-4837-85C9-EC1AB32B4143}"/>
    <dgm:cxn modelId="{A2346C99-8D9E-4211-9C95-E7270C53C610}" type="presOf" srcId="{5ADE4A80-C03C-45CE-84AF-844175D79DA6}" destId="{4261AA1C-73E8-4F60-9FBD-D0C6B66C68C2}" srcOrd="0" destOrd="0" presId="urn:microsoft.com/office/officeart/2018/2/layout/IconLabelList"/>
    <dgm:cxn modelId="{8B51C8A9-8E15-44F3-A481-3D0587E46796}" type="presOf" srcId="{957A09F2-DD53-45F6-A43F-EB9FF7B04770}" destId="{4D44419F-2C91-454D-A0F5-E8894DD36C20}" srcOrd="0" destOrd="0" presId="urn:microsoft.com/office/officeart/2018/2/layout/IconLabelList"/>
    <dgm:cxn modelId="{919F02B7-2914-4B66-A67A-95625F8C9228}" srcId="{D3EA97E9-383A-4304-BF38-08728ADC5ED7}" destId="{957A09F2-DD53-45F6-A43F-EB9FF7B04770}" srcOrd="2" destOrd="0" parTransId="{107E7C85-5DDD-4BE0-84DA-1322A67CF5CE}" sibTransId="{042A8DD7-11CA-434B-A3A9-AE715531C3A0}"/>
    <dgm:cxn modelId="{2BF585F7-237B-4CCA-A1E6-F6716C92AC2F}" type="presOf" srcId="{7968AD10-DF6D-4A8A-A577-B775D1ED1086}" destId="{6B170567-A990-465C-9EED-D35305555994}" srcOrd="0" destOrd="0" presId="urn:microsoft.com/office/officeart/2018/2/layout/IconLabelList"/>
    <dgm:cxn modelId="{222310DE-6BB9-4C5F-ADDD-FE0EF8CD5A0A}" type="presParOf" srcId="{D385E0F3-92F0-4B53-A800-EC8A5CF09723}" destId="{CBB642E3-D4F2-43D0-B53D-CC14C092F6C4}" srcOrd="0" destOrd="0" presId="urn:microsoft.com/office/officeart/2018/2/layout/IconLabelList"/>
    <dgm:cxn modelId="{8AF3A653-4E29-4F03-A41E-B82628CE59D1}" type="presParOf" srcId="{CBB642E3-D4F2-43D0-B53D-CC14C092F6C4}" destId="{D4ADAE85-B2FC-4740-80CB-F618BC66907D}" srcOrd="0" destOrd="0" presId="urn:microsoft.com/office/officeart/2018/2/layout/IconLabelList"/>
    <dgm:cxn modelId="{C5418BBE-D621-4FBE-9744-F1E3B083F742}" type="presParOf" srcId="{CBB642E3-D4F2-43D0-B53D-CC14C092F6C4}" destId="{81874140-97CB-4D7F-9358-1FD043E1454C}" srcOrd="1" destOrd="0" presId="urn:microsoft.com/office/officeart/2018/2/layout/IconLabelList"/>
    <dgm:cxn modelId="{F8815A2E-E6AB-4971-906E-436C1DC0ED0C}" type="presParOf" srcId="{CBB642E3-D4F2-43D0-B53D-CC14C092F6C4}" destId="{4261AA1C-73E8-4F60-9FBD-D0C6B66C68C2}" srcOrd="2" destOrd="0" presId="urn:microsoft.com/office/officeart/2018/2/layout/IconLabelList"/>
    <dgm:cxn modelId="{2CE18276-0BD4-4AEC-BB67-EC41E4D8148A}" type="presParOf" srcId="{D385E0F3-92F0-4B53-A800-EC8A5CF09723}" destId="{F5226FE2-709E-4C82-888F-2D618BE09D26}" srcOrd="1" destOrd="0" presId="urn:microsoft.com/office/officeart/2018/2/layout/IconLabelList"/>
    <dgm:cxn modelId="{5780F4C4-E164-4BAD-8454-F46576793415}" type="presParOf" srcId="{D385E0F3-92F0-4B53-A800-EC8A5CF09723}" destId="{F8ABE0DD-6C58-4DF6-B7B0-B1E49569659B}" srcOrd="2" destOrd="0" presId="urn:microsoft.com/office/officeart/2018/2/layout/IconLabelList"/>
    <dgm:cxn modelId="{A2815D61-D7BE-48DB-87C0-CE6AF4D8197A}" type="presParOf" srcId="{F8ABE0DD-6C58-4DF6-B7B0-B1E49569659B}" destId="{2C6C1A7E-FE60-4A03-B495-907305BD18A5}" srcOrd="0" destOrd="0" presId="urn:microsoft.com/office/officeart/2018/2/layout/IconLabelList"/>
    <dgm:cxn modelId="{FEAF9E78-17CF-449F-BBF8-12BB1A698DA5}" type="presParOf" srcId="{F8ABE0DD-6C58-4DF6-B7B0-B1E49569659B}" destId="{F7885D17-7792-48BA-9B06-270238940EF1}" srcOrd="1" destOrd="0" presId="urn:microsoft.com/office/officeart/2018/2/layout/IconLabelList"/>
    <dgm:cxn modelId="{9BF53D8E-A061-4C9B-8F09-19C68299F28D}" type="presParOf" srcId="{F8ABE0DD-6C58-4DF6-B7B0-B1E49569659B}" destId="{6B170567-A990-465C-9EED-D35305555994}" srcOrd="2" destOrd="0" presId="urn:microsoft.com/office/officeart/2018/2/layout/IconLabelList"/>
    <dgm:cxn modelId="{F62D2E56-8B08-4679-83A9-CE82941E3AB9}" type="presParOf" srcId="{D385E0F3-92F0-4B53-A800-EC8A5CF09723}" destId="{909AA4F5-4598-49B6-8FE2-76444B8A1E7F}" srcOrd="3" destOrd="0" presId="urn:microsoft.com/office/officeart/2018/2/layout/IconLabelList"/>
    <dgm:cxn modelId="{3E15CF6F-2A30-487E-B575-B4BC3AE02BF3}" type="presParOf" srcId="{D385E0F3-92F0-4B53-A800-EC8A5CF09723}" destId="{953862C0-34C9-4A11-BDF1-FC770342B52F}" srcOrd="4" destOrd="0" presId="urn:microsoft.com/office/officeart/2018/2/layout/IconLabelList"/>
    <dgm:cxn modelId="{91154136-58E7-410E-8132-50CB519BD934}" type="presParOf" srcId="{953862C0-34C9-4A11-BDF1-FC770342B52F}" destId="{E5141C2B-C198-43D7-B216-536651B00009}" srcOrd="0" destOrd="0" presId="urn:microsoft.com/office/officeart/2018/2/layout/IconLabelList"/>
    <dgm:cxn modelId="{DFA5680C-F091-4789-8350-209501941488}" type="presParOf" srcId="{953862C0-34C9-4A11-BDF1-FC770342B52F}" destId="{BBB48EE2-A098-4B63-8A27-548ED1E280DD}" srcOrd="1" destOrd="0" presId="urn:microsoft.com/office/officeart/2018/2/layout/IconLabelList"/>
    <dgm:cxn modelId="{939EFEAD-0C86-41AC-82C8-8B29DA73A3F1}" type="presParOf" srcId="{953862C0-34C9-4A11-BDF1-FC770342B52F}" destId="{4D44419F-2C91-454D-A0F5-E8894DD36C2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66685-04FD-4567-A347-DCDBF14F9137}">
      <dsp:nvSpPr>
        <dsp:cNvPr id="0" name=""/>
        <dsp:cNvSpPr/>
      </dsp:nvSpPr>
      <dsp:spPr>
        <a:xfrm>
          <a:off x="195832" y="502237"/>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28A996-4A61-45AA-8343-9AC2286C2172}">
      <dsp:nvSpPr>
        <dsp:cNvPr id="0" name=""/>
        <dsp:cNvSpPr/>
      </dsp:nvSpPr>
      <dsp:spPr>
        <a:xfrm>
          <a:off x="387045" y="693449"/>
          <a:ext cx="528112" cy="5281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6C3FBDC-DDEF-4F94-90F3-23FC9756DB9C}">
      <dsp:nvSpPr>
        <dsp:cNvPr id="0" name=""/>
        <dsp:cNvSpPr/>
      </dsp:nvSpPr>
      <dsp:spPr>
        <a:xfrm>
          <a:off x="1301485"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Staring with loading the data. We have convert the excel file into csv file in python.</a:t>
          </a:r>
          <a:endParaRPr lang="en-US" sz="1100" kern="1200"/>
        </a:p>
      </dsp:txBody>
      <dsp:txXfrm>
        <a:off x="1301485" y="502237"/>
        <a:ext cx="2146268" cy="910537"/>
      </dsp:txXfrm>
    </dsp:sp>
    <dsp:sp modelId="{D44580E7-49FB-42D7-9E7C-25156CAD87B1}">
      <dsp:nvSpPr>
        <dsp:cNvPr id="0" name=""/>
        <dsp:cNvSpPr/>
      </dsp:nvSpPr>
      <dsp:spPr>
        <a:xfrm>
          <a:off x="3821724" y="502237"/>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243190-6C6D-4FF1-B970-DF21A00A09E6}">
      <dsp:nvSpPr>
        <dsp:cNvPr id="0" name=""/>
        <dsp:cNvSpPr/>
      </dsp:nvSpPr>
      <dsp:spPr>
        <a:xfrm>
          <a:off x="4012937" y="693449"/>
          <a:ext cx="528112" cy="5281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B2F6AD-0D05-4D2E-B021-F704BC5925BA}">
      <dsp:nvSpPr>
        <dsp:cNvPr id="0" name=""/>
        <dsp:cNvSpPr/>
      </dsp:nvSpPr>
      <dsp:spPr>
        <a:xfrm>
          <a:off x="4927377"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We have customise our column names, to make it easy to use.</a:t>
          </a:r>
          <a:endParaRPr lang="en-US" sz="1100" kern="1200"/>
        </a:p>
      </dsp:txBody>
      <dsp:txXfrm>
        <a:off x="4927377" y="502237"/>
        <a:ext cx="2146268" cy="910537"/>
      </dsp:txXfrm>
    </dsp:sp>
    <dsp:sp modelId="{078D0328-655A-432E-94BD-3FB2DD6EA378}">
      <dsp:nvSpPr>
        <dsp:cNvPr id="0" name=""/>
        <dsp:cNvSpPr/>
      </dsp:nvSpPr>
      <dsp:spPr>
        <a:xfrm>
          <a:off x="7447616" y="502237"/>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BD5C15-7844-45D4-A195-DA6D9FC84376}">
      <dsp:nvSpPr>
        <dsp:cNvPr id="0" name=""/>
        <dsp:cNvSpPr/>
      </dsp:nvSpPr>
      <dsp:spPr>
        <a:xfrm>
          <a:off x="7638829" y="693449"/>
          <a:ext cx="528112" cy="5281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D19189-6AD6-4901-BBC0-59B1AC359799}">
      <dsp:nvSpPr>
        <dsp:cNvPr id="0" name=""/>
        <dsp:cNvSpPr/>
      </dsp:nvSpPr>
      <dsp:spPr>
        <a:xfrm>
          <a:off x="8553269"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We have check the null values, there was null values in discount, accessories, RSA columns. We first replaced the values with NAN and then replace NAN to median as it is less sensitive to outliers.</a:t>
          </a:r>
          <a:endParaRPr lang="en-US" sz="1100" kern="1200"/>
        </a:p>
      </dsp:txBody>
      <dsp:txXfrm>
        <a:off x="8553269" y="502237"/>
        <a:ext cx="2146268" cy="910537"/>
      </dsp:txXfrm>
    </dsp:sp>
    <dsp:sp modelId="{0136A45F-D182-4635-A9FB-6AFB645A3EFF}">
      <dsp:nvSpPr>
        <dsp:cNvPr id="0" name=""/>
        <dsp:cNvSpPr/>
      </dsp:nvSpPr>
      <dsp:spPr>
        <a:xfrm>
          <a:off x="195832" y="1991502"/>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D91627-04D2-435F-9C53-C1E0C0C090C5}">
      <dsp:nvSpPr>
        <dsp:cNvPr id="0" name=""/>
        <dsp:cNvSpPr/>
      </dsp:nvSpPr>
      <dsp:spPr>
        <a:xfrm>
          <a:off x="387045" y="2182715"/>
          <a:ext cx="528112" cy="5281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9985B84-EAE3-45DA-84CD-161A4857B49C}">
      <dsp:nvSpPr>
        <dsp:cNvPr id="0" name=""/>
        <dsp:cNvSpPr/>
      </dsp:nvSpPr>
      <dsp:spPr>
        <a:xfrm>
          <a:off x="1301485"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As I changes the datatype for date, it was object earlier, for better analysis the date column is changes to datetime.</a:t>
          </a:r>
          <a:endParaRPr lang="en-US" sz="1100" kern="1200"/>
        </a:p>
      </dsp:txBody>
      <dsp:txXfrm>
        <a:off x="1301485" y="1991502"/>
        <a:ext cx="2146268" cy="910537"/>
      </dsp:txXfrm>
    </dsp:sp>
    <dsp:sp modelId="{F3CCB6BD-D026-4C31-AAFB-31AA3CD0C9D2}">
      <dsp:nvSpPr>
        <dsp:cNvPr id="0" name=""/>
        <dsp:cNvSpPr/>
      </dsp:nvSpPr>
      <dsp:spPr>
        <a:xfrm>
          <a:off x="3821724" y="1991502"/>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0E1601-16D8-4495-85E4-4B2551090380}">
      <dsp:nvSpPr>
        <dsp:cNvPr id="0" name=""/>
        <dsp:cNvSpPr/>
      </dsp:nvSpPr>
      <dsp:spPr>
        <a:xfrm>
          <a:off x="4012937" y="2182715"/>
          <a:ext cx="528112" cy="5281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1EC674C-E4B1-41C3-BEE2-D18EE2D49EAA}">
      <dsp:nvSpPr>
        <dsp:cNvPr id="0" name=""/>
        <dsp:cNvSpPr/>
      </dsp:nvSpPr>
      <dsp:spPr>
        <a:xfrm>
          <a:off x="4927377"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I performed Univariate, Bivariate analysis by using different type of plots and further we will see how all the variables is impacting to our profit column.</a:t>
          </a:r>
          <a:endParaRPr lang="en-US" sz="1100" kern="1200"/>
        </a:p>
      </dsp:txBody>
      <dsp:txXfrm>
        <a:off x="4927377" y="1991502"/>
        <a:ext cx="2146268" cy="9105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813BC0-1923-4FED-92A8-306C8565A695}">
      <dsp:nvSpPr>
        <dsp:cNvPr id="0" name=""/>
        <dsp:cNvSpPr/>
      </dsp:nvSpPr>
      <dsp:spPr>
        <a:xfrm>
          <a:off x="1363" y="621311"/>
          <a:ext cx="551053" cy="55105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A7D771-7895-4A8E-A862-679CF769844D}">
      <dsp:nvSpPr>
        <dsp:cNvPr id="0" name=""/>
        <dsp:cNvSpPr/>
      </dsp:nvSpPr>
      <dsp:spPr>
        <a:xfrm>
          <a:off x="117084" y="737033"/>
          <a:ext cx="319610" cy="3196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ECF9D20-9D43-44D9-B4D2-87FF2AB79346}">
      <dsp:nvSpPr>
        <dsp:cNvPr id="0" name=""/>
        <dsp:cNvSpPr/>
      </dsp:nvSpPr>
      <dsp:spPr>
        <a:xfrm>
          <a:off x="670499" y="621311"/>
          <a:ext cx="1298910" cy="551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0" i="0" kern="1200"/>
            <a:t>Premium: KTM, Royal Enfield</a:t>
          </a:r>
          <a:endParaRPr lang="en-US" sz="1100" kern="1200"/>
        </a:p>
      </dsp:txBody>
      <dsp:txXfrm>
        <a:off x="670499" y="621311"/>
        <a:ext cx="1298910" cy="551053"/>
      </dsp:txXfrm>
    </dsp:sp>
    <dsp:sp modelId="{B5AFED35-2279-4F71-91E3-C9A20936503F}">
      <dsp:nvSpPr>
        <dsp:cNvPr id="0" name=""/>
        <dsp:cNvSpPr/>
      </dsp:nvSpPr>
      <dsp:spPr>
        <a:xfrm>
          <a:off x="2195735" y="621311"/>
          <a:ext cx="551053" cy="551053"/>
        </a:xfrm>
        <a:prstGeom prst="ellipse">
          <a:avLst/>
        </a:prstGeom>
        <a:solidFill>
          <a:schemeClr val="accent5">
            <a:hueOff val="1559309"/>
            <a:satOff val="-1003"/>
            <a:lumOff val="686"/>
            <a:alphaOff val="0"/>
          </a:schemeClr>
        </a:solidFill>
        <a:ln>
          <a:noFill/>
        </a:ln>
        <a:effectLst/>
      </dsp:spPr>
      <dsp:style>
        <a:lnRef idx="0">
          <a:scrgbClr r="0" g="0" b="0"/>
        </a:lnRef>
        <a:fillRef idx="1">
          <a:scrgbClr r="0" g="0" b="0"/>
        </a:fillRef>
        <a:effectRef idx="0">
          <a:scrgbClr r="0" g="0" b="0"/>
        </a:effectRef>
        <a:fontRef idx="minor"/>
      </dsp:style>
    </dsp:sp>
    <dsp:sp modelId="{D9FBEF23-71EE-4719-93E9-C79843FC0656}">
      <dsp:nvSpPr>
        <dsp:cNvPr id="0" name=""/>
        <dsp:cNvSpPr/>
      </dsp:nvSpPr>
      <dsp:spPr>
        <a:xfrm>
          <a:off x="2311456" y="737033"/>
          <a:ext cx="319610" cy="3196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6D6FA64-2B24-4944-9A50-4E65B15B1FC0}">
      <dsp:nvSpPr>
        <dsp:cNvPr id="0" name=""/>
        <dsp:cNvSpPr/>
      </dsp:nvSpPr>
      <dsp:spPr>
        <a:xfrm>
          <a:off x="2864871" y="621311"/>
          <a:ext cx="1298910" cy="551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0" i="0" kern="1200"/>
            <a:t>Mild- range: Honda, TVS</a:t>
          </a:r>
          <a:endParaRPr lang="en-US" sz="1100" kern="1200"/>
        </a:p>
      </dsp:txBody>
      <dsp:txXfrm>
        <a:off x="2864871" y="621311"/>
        <a:ext cx="1298910" cy="551053"/>
      </dsp:txXfrm>
    </dsp:sp>
    <dsp:sp modelId="{0E0DFF26-0A7C-4853-846A-6D6FBAE0A639}">
      <dsp:nvSpPr>
        <dsp:cNvPr id="0" name=""/>
        <dsp:cNvSpPr/>
      </dsp:nvSpPr>
      <dsp:spPr>
        <a:xfrm>
          <a:off x="1363" y="1822213"/>
          <a:ext cx="551053" cy="551053"/>
        </a:xfrm>
        <a:prstGeom prst="ellipse">
          <a:avLst/>
        </a:prstGeom>
        <a:solidFill>
          <a:schemeClr val="accent5">
            <a:hueOff val="3118619"/>
            <a:satOff val="-2006"/>
            <a:lumOff val="1372"/>
            <a:alphaOff val="0"/>
          </a:schemeClr>
        </a:solidFill>
        <a:ln>
          <a:noFill/>
        </a:ln>
        <a:effectLst/>
      </dsp:spPr>
      <dsp:style>
        <a:lnRef idx="0">
          <a:scrgbClr r="0" g="0" b="0"/>
        </a:lnRef>
        <a:fillRef idx="1">
          <a:scrgbClr r="0" g="0" b="0"/>
        </a:fillRef>
        <a:effectRef idx="0">
          <a:scrgbClr r="0" g="0" b="0"/>
        </a:effectRef>
        <a:fontRef idx="minor"/>
      </dsp:style>
    </dsp:sp>
    <dsp:sp modelId="{7BBB38FD-C710-4473-A14D-8957995C6805}">
      <dsp:nvSpPr>
        <dsp:cNvPr id="0" name=""/>
        <dsp:cNvSpPr/>
      </dsp:nvSpPr>
      <dsp:spPr>
        <a:xfrm>
          <a:off x="117084" y="1937935"/>
          <a:ext cx="319610" cy="3196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06D2E27-242E-40BA-B56F-4AC7A33332D2}">
      <dsp:nvSpPr>
        <dsp:cNvPr id="0" name=""/>
        <dsp:cNvSpPr/>
      </dsp:nvSpPr>
      <dsp:spPr>
        <a:xfrm>
          <a:off x="670499" y="1822213"/>
          <a:ext cx="1298910" cy="551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0" i="0" kern="1200"/>
            <a:t>Affordable: Jawa</a:t>
          </a:r>
          <a:endParaRPr lang="en-US" sz="1100" kern="1200"/>
        </a:p>
      </dsp:txBody>
      <dsp:txXfrm>
        <a:off x="670499" y="1822213"/>
        <a:ext cx="1298910" cy="551053"/>
      </dsp:txXfrm>
    </dsp:sp>
    <dsp:sp modelId="{64C691D2-83EE-4C9F-A197-E41E91F45663}">
      <dsp:nvSpPr>
        <dsp:cNvPr id="0" name=""/>
        <dsp:cNvSpPr/>
      </dsp:nvSpPr>
      <dsp:spPr>
        <a:xfrm>
          <a:off x="2195735" y="1822213"/>
          <a:ext cx="551053" cy="551053"/>
        </a:xfrm>
        <a:prstGeom prst="ellipse">
          <a:avLst/>
        </a:prstGeom>
        <a:solidFill>
          <a:schemeClr val="accent5">
            <a:hueOff val="4677928"/>
            <a:satOff val="-3010"/>
            <a:lumOff val="2058"/>
            <a:alphaOff val="0"/>
          </a:schemeClr>
        </a:solidFill>
        <a:ln>
          <a:noFill/>
        </a:ln>
        <a:effectLst/>
      </dsp:spPr>
      <dsp:style>
        <a:lnRef idx="0">
          <a:scrgbClr r="0" g="0" b="0"/>
        </a:lnRef>
        <a:fillRef idx="1">
          <a:scrgbClr r="0" g="0" b="0"/>
        </a:fillRef>
        <a:effectRef idx="0">
          <a:scrgbClr r="0" g="0" b="0"/>
        </a:effectRef>
        <a:fontRef idx="minor"/>
      </dsp:style>
    </dsp:sp>
    <dsp:sp modelId="{14D27D91-69B2-4218-B583-33DFBE1162A9}">
      <dsp:nvSpPr>
        <dsp:cNvPr id="0" name=""/>
        <dsp:cNvSpPr/>
      </dsp:nvSpPr>
      <dsp:spPr>
        <a:xfrm>
          <a:off x="2311456" y="1937935"/>
          <a:ext cx="319610" cy="3196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AF8D5B-6200-4ABC-8EFF-7EBD79DFAFE5}">
      <dsp:nvSpPr>
        <dsp:cNvPr id="0" name=""/>
        <dsp:cNvSpPr/>
      </dsp:nvSpPr>
      <dsp:spPr>
        <a:xfrm>
          <a:off x="2864871" y="1822213"/>
          <a:ext cx="1298910" cy="551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0" i="0" kern="1200" dirty="0"/>
            <a:t>As we can see here that brand like Jawa, Honda and TVS has less selling price as compare to others.</a:t>
          </a:r>
          <a:endParaRPr lang="en-US" sz="1100" kern="1200" dirty="0"/>
        </a:p>
      </dsp:txBody>
      <dsp:txXfrm>
        <a:off x="2864871" y="1822213"/>
        <a:ext cx="1298910" cy="551053"/>
      </dsp:txXfrm>
    </dsp:sp>
    <dsp:sp modelId="{F806FA3D-CF4B-4FDA-B37D-E9DB1C629CBE}">
      <dsp:nvSpPr>
        <dsp:cNvPr id="0" name=""/>
        <dsp:cNvSpPr/>
      </dsp:nvSpPr>
      <dsp:spPr>
        <a:xfrm>
          <a:off x="1363" y="3023115"/>
          <a:ext cx="551053" cy="551053"/>
        </a:xfrm>
        <a:prstGeom prst="ellipse">
          <a:avLst/>
        </a:prstGeom>
        <a:solidFill>
          <a:schemeClr val="accent5">
            <a:hueOff val="6237238"/>
            <a:satOff val="-4013"/>
            <a:lumOff val="2744"/>
            <a:alphaOff val="0"/>
          </a:schemeClr>
        </a:solidFill>
        <a:ln>
          <a:noFill/>
        </a:ln>
        <a:effectLst/>
      </dsp:spPr>
      <dsp:style>
        <a:lnRef idx="0">
          <a:scrgbClr r="0" g="0" b="0"/>
        </a:lnRef>
        <a:fillRef idx="1">
          <a:scrgbClr r="0" g="0" b="0"/>
        </a:fillRef>
        <a:effectRef idx="0">
          <a:scrgbClr r="0" g="0" b="0"/>
        </a:effectRef>
        <a:fontRef idx="minor"/>
      </dsp:style>
    </dsp:sp>
    <dsp:sp modelId="{CBBCA639-9612-4ED5-893F-AAC68E46FAA5}">
      <dsp:nvSpPr>
        <dsp:cNvPr id="0" name=""/>
        <dsp:cNvSpPr/>
      </dsp:nvSpPr>
      <dsp:spPr>
        <a:xfrm>
          <a:off x="117084" y="3138837"/>
          <a:ext cx="319610" cy="3196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1206BEA-ECA1-4426-BC89-10CFD3E73F59}">
      <dsp:nvSpPr>
        <dsp:cNvPr id="0" name=""/>
        <dsp:cNvSpPr/>
      </dsp:nvSpPr>
      <dsp:spPr>
        <a:xfrm>
          <a:off x="670499" y="3023115"/>
          <a:ext cx="1298910" cy="551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0" i="0" kern="1200" dirty="0"/>
            <a:t>Well looking at KTM it is sports oriented bike and not comfortable for daily practice.</a:t>
          </a:r>
          <a:endParaRPr lang="en-US" sz="1100" kern="1200" dirty="0"/>
        </a:p>
      </dsp:txBody>
      <dsp:txXfrm>
        <a:off x="670499" y="3023115"/>
        <a:ext cx="1298910" cy="5510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DAE85-B2FC-4740-80CB-F618BC66907D}">
      <dsp:nvSpPr>
        <dsp:cNvPr id="0" name=""/>
        <dsp:cNvSpPr/>
      </dsp:nvSpPr>
      <dsp:spPr>
        <a:xfrm>
          <a:off x="822792" y="195684"/>
          <a:ext cx="761748" cy="7617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61AA1C-73E8-4F60-9FBD-D0C6B66C68C2}">
      <dsp:nvSpPr>
        <dsp:cNvPr id="0" name=""/>
        <dsp:cNvSpPr/>
      </dsp:nvSpPr>
      <dsp:spPr>
        <a:xfrm>
          <a:off x="357279" y="1211416"/>
          <a:ext cx="1692773" cy="67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0" i="0" kern="1200"/>
            <a:t>Most profit making city is Kolkata. Kolkata is high performing profit centre here.</a:t>
          </a:r>
          <a:endParaRPr lang="en-US" sz="1100" kern="1200"/>
        </a:p>
      </dsp:txBody>
      <dsp:txXfrm>
        <a:off x="357279" y="1211416"/>
        <a:ext cx="1692773" cy="677109"/>
      </dsp:txXfrm>
    </dsp:sp>
    <dsp:sp modelId="{2C6C1A7E-FE60-4A03-B495-907305BD18A5}">
      <dsp:nvSpPr>
        <dsp:cNvPr id="0" name=""/>
        <dsp:cNvSpPr/>
      </dsp:nvSpPr>
      <dsp:spPr>
        <a:xfrm>
          <a:off x="2811800" y="195684"/>
          <a:ext cx="761748" cy="7617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170567-A990-465C-9EED-D35305555994}">
      <dsp:nvSpPr>
        <dsp:cNvPr id="0" name=""/>
        <dsp:cNvSpPr/>
      </dsp:nvSpPr>
      <dsp:spPr>
        <a:xfrm>
          <a:off x="2346288" y="1211416"/>
          <a:ext cx="1692773" cy="67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0" i="0" kern="1200"/>
            <a:t>Hyderabad and Ahmednagar are also high profit levels close to top.</a:t>
          </a:r>
          <a:endParaRPr lang="en-US" sz="1100" kern="1200"/>
        </a:p>
      </dsp:txBody>
      <dsp:txXfrm>
        <a:off x="2346288" y="1211416"/>
        <a:ext cx="1692773" cy="677109"/>
      </dsp:txXfrm>
    </dsp:sp>
    <dsp:sp modelId="{E5141C2B-C198-43D7-B216-536651B00009}">
      <dsp:nvSpPr>
        <dsp:cNvPr id="0" name=""/>
        <dsp:cNvSpPr/>
      </dsp:nvSpPr>
      <dsp:spPr>
        <a:xfrm>
          <a:off x="1817296" y="2311719"/>
          <a:ext cx="761748" cy="7617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44419F-2C91-454D-A0F5-E8894DD36C20}">
      <dsp:nvSpPr>
        <dsp:cNvPr id="0" name=""/>
        <dsp:cNvSpPr/>
      </dsp:nvSpPr>
      <dsp:spPr>
        <a:xfrm>
          <a:off x="1351783" y="3327450"/>
          <a:ext cx="1692773" cy="67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b="0" i="0" kern="1200"/>
            <a:t>Pune, Chennai and Bangalore are stable profit are in mid range segment.</a:t>
          </a:r>
          <a:endParaRPr lang="en-US" sz="1100" kern="1200"/>
        </a:p>
      </dsp:txBody>
      <dsp:txXfrm>
        <a:off x="1351783" y="3327450"/>
        <a:ext cx="1692773" cy="67710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2068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1C1210E-201E-4473-82AC-2466F5386C38}"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8463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08821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1/26/2026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71579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1/26/2026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673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D6B226B-77A6-410C-9796-083F278E0125}" type="datetime1">
              <a:rPr lang="en-US" smtClean="0"/>
              <a:t>1/26/2026</a:t>
            </a:fld>
            <a:endParaRPr lang="en-US"/>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5041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23A578B-D289-4C40-8593-3D356C49DA58}" type="datetime1">
              <a:rPr lang="en-US" smtClean="0"/>
              <a:t>1/26/2026</a:t>
            </a:fld>
            <a:endParaRPr lang="en-US"/>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17105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13DFAE3-14DB-48A7-A80F-80DDB072CE3D}" type="datetime1">
              <a:rPr lang="en-US" smtClean="0"/>
              <a:t>1/26/2026</a:t>
            </a:fld>
            <a:endParaRPr lang="en-US"/>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68736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1/26/2026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37563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F45AC6-C491-4585-A584-9CE2AF7D5500}" type="datetime1">
              <a:rPr lang="en-US" smtClean="0"/>
              <a:t>1/26/2026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8447908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2226360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624996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2238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F45AC6-C491-4585-A584-9CE2AF7D5500}" type="datetime1">
              <a:rPr lang="en-US" smtClean="0"/>
              <a:t>1/26/2026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7405474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7F45AC6-C491-4585-A584-9CE2AF7D5500}" type="datetime1">
              <a:rPr lang="en-US" smtClean="0"/>
              <a:t>1/26/2026</a:t>
            </a:fld>
            <a:endParaRPr lang="en-US"/>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45305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59993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1/26/2026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2204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7F45AC6-C491-4585-A584-9CE2AF7D5500}" type="datetime1">
              <a:rPr lang="en-US" smtClean="0"/>
              <a:t>1/26/2026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638530619"/>
      </p:ext>
    </p:extLst>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image" Target="../media/image24.png"/><Relationship Id="rId12"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diagramQuickStyle" Target="../diagrams/quickStyle2.xml"/><Relationship Id="rId5" Type="http://schemas.openxmlformats.org/officeDocument/2006/relationships/image" Target="../media/image4.png"/><Relationship Id="rId10" Type="http://schemas.openxmlformats.org/officeDocument/2006/relationships/diagramLayout" Target="../diagrams/layout2.xml"/><Relationship Id="rId4" Type="http://schemas.openxmlformats.org/officeDocument/2006/relationships/image" Target="../media/image3.png"/><Relationship Id="rId9"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2.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8.sv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png"/><Relationship Id="rId7" Type="http://schemas.openxmlformats.org/officeDocument/2006/relationships/image" Target="../media/image49.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2.png"/><Relationship Id="rId7"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2.png"/><Relationship Id="rId7"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81E5C31D-1E1A-33C4-2A02-B286D148B107}"/>
              </a:ext>
            </a:extLst>
          </p:cNvPr>
          <p:cNvPicPr>
            <a:picLocks noChangeAspect="1"/>
          </p:cNvPicPr>
          <p:nvPr/>
        </p:nvPicPr>
        <p:blipFill>
          <a:blip r:embed="rId2">
            <a:alphaModFix amt="60000"/>
          </a:blip>
          <a:srcRect t="24619" b="19131"/>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2EDD97D3-653C-51E1-CE98-0FFEE9001D17}"/>
              </a:ext>
            </a:extLst>
          </p:cNvPr>
          <p:cNvSpPr>
            <a:spLocks noGrp="1"/>
          </p:cNvSpPr>
          <p:nvPr>
            <p:ph type="ctrTitle"/>
          </p:nvPr>
        </p:nvSpPr>
        <p:spPr>
          <a:xfrm>
            <a:off x="2301923" y="1482602"/>
            <a:ext cx="7588155" cy="2236264"/>
          </a:xfrm>
        </p:spPr>
        <p:txBody>
          <a:bodyPr>
            <a:normAutofit/>
          </a:bodyPr>
          <a:lstStyle/>
          <a:p>
            <a:r>
              <a:rPr lang="en-IN" sz="5400" b="0">
                <a:solidFill>
                  <a:srgbClr val="FFFFFF"/>
                </a:solidFill>
              </a:rPr>
              <a:t>Motorcycle sales analysis</a:t>
            </a:r>
            <a:r>
              <a:rPr lang="en-IN" sz="5400">
                <a:solidFill>
                  <a:srgbClr val="FFFFFF"/>
                </a:solidFill>
              </a:rPr>
              <a:t>.</a:t>
            </a:r>
          </a:p>
        </p:txBody>
      </p:sp>
      <p:sp>
        <p:nvSpPr>
          <p:cNvPr id="3" name="Subtitle 2">
            <a:extLst>
              <a:ext uri="{FF2B5EF4-FFF2-40B4-BE49-F238E27FC236}">
                <a16:creationId xmlns:a16="http://schemas.microsoft.com/office/drawing/2014/main" id="{030AA258-8FC1-B9F1-455B-87F887952080}"/>
              </a:ext>
            </a:extLst>
          </p:cNvPr>
          <p:cNvSpPr>
            <a:spLocks noGrp="1"/>
          </p:cNvSpPr>
          <p:nvPr>
            <p:ph type="subTitle" idx="1"/>
          </p:nvPr>
        </p:nvSpPr>
        <p:spPr>
          <a:xfrm>
            <a:off x="2301923" y="3793937"/>
            <a:ext cx="7588155" cy="1414091"/>
          </a:xfrm>
        </p:spPr>
        <p:txBody>
          <a:bodyPr>
            <a:normAutofit/>
          </a:bodyPr>
          <a:lstStyle/>
          <a:p>
            <a:r>
              <a:rPr lang="en-IN" sz="2200" b="0">
                <a:solidFill>
                  <a:srgbClr val="FFFFFF"/>
                </a:solidFill>
              </a:rPr>
              <a:t>Regression analysis</a:t>
            </a:r>
            <a:r>
              <a:rPr lang="en-IN" sz="2200">
                <a:solidFill>
                  <a:srgbClr val="FFFFFF"/>
                </a:solidFill>
              </a:rPr>
              <a:t>.</a:t>
            </a:r>
          </a:p>
        </p:txBody>
      </p:sp>
    </p:spTree>
    <p:extLst>
      <p:ext uri="{BB962C8B-B14F-4D97-AF65-F5344CB8AC3E}">
        <p14:creationId xmlns:p14="http://schemas.microsoft.com/office/powerpoint/2010/main" val="298230587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F1ECC1-50ED-CF19-F1E1-98BEDC138063}"/>
              </a:ext>
            </a:extLst>
          </p:cNvPr>
          <p:cNvSpPr>
            <a:spLocks noGrp="1"/>
          </p:cNvSpPr>
          <p:nvPr>
            <p:ph type="title"/>
          </p:nvPr>
        </p:nvSpPr>
        <p:spPr>
          <a:xfrm>
            <a:off x="5282381" y="629266"/>
            <a:ext cx="4767471" cy="1641986"/>
          </a:xfrm>
        </p:spPr>
        <p:txBody>
          <a:bodyPr>
            <a:normAutofit/>
          </a:bodyPr>
          <a:lstStyle/>
          <a:p>
            <a:r>
              <a:rPr lang="en-IN"/>
              <a:t>Contents</a:t>
            </a:r>
          </a:p>
        </p:txBody>
      </p:sp>
      <p:pic>
        <p:nvPicPr>
          <p:cNvPr id="23" name="Picture 22" descr="Graph">
            <a:extLst>
              <a:ext uri="{FF2B5EF4-FFF2-40B4-BE49-F238E27FC236}">
                <a16:creationId xmlns:a16="http://schemas.microsoft.com/office/drawing/2014/main" id="{B4A314CD-9D75-05A4-009E-39FCA75550DB}"/>
              </a:ext>
            </a:extLst>
          </p:cNvPr>
          <p:cNvPicPr>
            <a:picLocks noChangeAspect="1"/>
          </p:cNvPicPr>
          <p:nvPr/>
        </p:nvPicPr>
        <p:blipFill>
          <a:blip r:embed="rId3"/>
          <a:srcRect l="23248" r="34514"/>
          <a:stretch>
            <a:fillRect/>
          </a:stretch>
        </p:blipFill>
        <p:spPr>
          <a:xfrm>
            <a:off x="-1" y="10"/>
            <a:ext cx="4634680" cy="6857990"/>
          </a:xfrm>
          <a:prstGeom prst="rect">
            <a:avLst/>
          </a:prstGeom>
        </p:spPr>
      </p:pic>
      <p:sp>
        <p:nvSpPr>
          <p:cNvPr id="5" name="Content Placeholder 4">
            <a:extLst>
              <a:ext uri="{FF2B5EF4-FFF2-40B4-BE49-F238E27FC236}">
                <a16:creationId xmlns:a16="http://schemas.microsoft.com/office/drawing/2014/main" id="{A54F7DFD-772D-385D-2A49-4A1DA91502AB}"/>
              </a:ext>
            </a:extLst>
          </p:cNvPr>
          <p:cNvSpPr>
            <a:spLocks noGrp="1"/>
          </p:cNvSpPr>
          <p:nvPr>
            <p:ph idx="1"/>
          </p:nvPr>
        </p:nvSpPr>
        <p:spPr>
          <a:xfrm>
            <a:off x="5282381" y="2438400"/>
            <a:ext cx="4767471" cy="3809999"/>
          </a:xfrm>
        </p:spPr>
        <p:txBody>
          <a:bodyPr>
            <a:normAutofit/>
          </a:bodyPr>
          <a:lstStyle/>
          <a:p>
            <a:pPr>
              <a:lnSpc>
                <a:spcPct val="90000"/>
              </a:lnSpc>
            </a:pPr>
            <a:r>
              <a:rPr lang="en-IN" sz="1100" b="1"/>
              <a:t>Introduction</a:t>
            </a:r>
          </a:p>
          <a:p>
            <a:pPr>
              <a:lnSpc>
                <a:spcPct val="90000"/>
              </a:lnSpc>
            </a:pPr>
            <a:r>
              <a:rPr lang="en-IN" sz="1100" b="1"/>
              <a:t>Objective of analysis</a:t>
            </a:r>
          </a:p>
          <a:p>
            <a:pPr>
              <a:lnSpc>
                <a:spcPct val="90000"/>
              </a:lnSpc>
            </a:pPr>
            <a:r>
              <a:rPr lang="en-IN" sz="1100" b="1"/>
              <a:t>Dataset description</a:t>
            </a:r>
          </a:p>
          <a:p>
            <a:pPr>
              <a:lnSpc>
                <a:spcPct val="90000"/>
              </a:lnSpc>
            </a:pPr>
            <a:r>
              <a:rPr lang="en-IN" sz="1100" b="1"/>
              <a:t>Data cleaning and preprocessing</a:t>
            </a:r>
          </a:p>
          <a:p>
            <a:pPr>
              <a:lnSpc>
                <a:spcPct val="90000"/>
              </a:lnSpc>
            </a:pPr>
            <a:r>
              <a:rPr lang="en-IN" sz="1100" b="1" u="sng"/>
              <a:t>EDA</a:t>
            </a:r>
          </a:p>
          <a:p>
            <a:pPr>
              <a:lnSpc>
                <a:spcPct val="90000"/>
              </a:lnSpc>
            </a:pPr>
            <a:r>
              <a:rPr lang="en-IN" sz="1100"/>
              <a:t>A) Price Distribution.</a:t>
            </a:r>
          </a:p>
          <a:p>
            <a:pPr>
              <a:lnSpc>
                <a:spcPct val="90000"/>
              </a:lnSpc>
            </a:pPr>
            <a:r>
              <a:rPr lang="en-IN" sz="1100"/>
              <a:t>B) Brand Count.</a:t>
            </a:r>
          </a:p>
          <a:p>
            <a:pPr>
              <a:lnSpc>
                <a:spcPct val="90000"/>
              </a:lnSpc>
            </a:pPr>
            <a:r>
              <a:rPr lang="en-IN" sz="1100"/>
              <a:t>C) Category of bike on demand</a:t>
            </a:r>
          </a:p>
          <a:p>
            <a:pPr>
              <a:lnSpc>
                <a:spcPct val="90000"/>
              </a:lnSpc>
            </a:pPr>
            <a:r>
              <a:rPr lang="en-IN" sz="1100"/>
              <a:t>D) Selling and on-road price according to brand</a:t>
            </a:r>
          </a:p>
          <a:p>
            <a:pPr>
              <a:lnSpc>
                <a:spcPct val="90000"/>
              </a:lnSpc>
            </a:pPr>
            <a:r>
              <a:rPr lang="en-IN" sz="1100" b="1"/>
              <a:t>Profit by city</a:t>
            </a:r>
          </a:p>
          <a:p>
            <a:pPr>
              <a:lnSpc>
                <a:spcPct val="90000"/>
              </a:lnSpc>
            </a:pPr>
            <a:r>
              <a:rPr lang="en-IN" sz="1100" b="1"/>
              <a:t>Correlation</a:t>
            </a:r>
          </a:p>
          <a:p>
            <a:pPr>
              <a:lnSpc>
                <a:spcPct val="90000"/>
              </a:lnSpc>
            </a:pPr>
            <a:r>
              <a:rPr lang="en-IN" sz="1100" b="1"/>
              <a:t>Regression analysis</a:t>
            </a:r>
          </a:p>
          <a:p>
            <a:pPr>
              <a:lnSpc>
                <a:spcPct val="90000"/>
              </a:lnSpc>
            </a:pPr>
            <a:r>
              <a:rPr lang="en-IN" sz="1100" b="1"/>
              <a:t>Key insights&amp; Conclusion.</a:t>
            </a:r>
          </a:p>
        </p:txBody>
      </p:sp>
    </p:spTree>
    <p:extLst>
      <p:ext uri="{BB962C8B-B14F-4D97-AF65-F5344CB8AC3E}">
        <p14:creationId xmlns:p14="http://schemas.microsoft.com/office/powerpoint/2010/main" val="147144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14B290-F936-FD41-4374-5D24C6C60FA2}"/>
              </a:ext>
            </a:extLst>
          </p:cNvPr>
          <p:cNvSpPr>
            <a:spLocks noGrp="1"/>
          </p:cNvSpPr>
          <p:nvPr>
            <p:ph type="title"/>
          </p:nvPr>
        </p:nvSpPr>
        <p:spPr>
          <a:xfrm>
            <a:off x="648930" y="629266"/>
            <a:ext cx="6188190" cy="1622321"/>
          </a:xfrm>
        </p:spPr>
        <p:txBody>
          <a:bodyPr>
            <a:normAutofit/>
          </a:bodyPr>
          <a:lstStyle/>
          <a:p>
            <a:r>
              <a:rPr lang="en-IN">
                <a:solidFill>
                  <a:srgbClr val="EBEBEB"/>
                </a:solidFill>
              </a:rPr>
              <a:t>Introduction.</a:t>
            </a:r>
          </a:p>
        </p:txBody>
      </p:sp>
      <p:sp>
        <p:nvSpPr>
          <p:cNvPr id="3" name="Content Placeholder 2">
            <a:extLst>
              <a:ext uri="{FF2B5EF4-FFF2-40B4-BE49-F238E27FC236}">
                <a16:creationId xmlns:a16="http://schemas.microsoft.com/office/drawing/2014/main" id="{F820F6FA-A1CC-C0F7-9822-C7250EFA062C}"/>
              </a:ext>
            </a:extLst>
          </p:cNvPr>
          <p:cNvSpPr>
            <a:spLocks noGrp="1"/>
          </p:cNvSpPr>
          <p:nvPr>
            <p:ph idx="1"/>
          </p:nvPr>
        </p:nvSpPr>
        <p:spPr>
          <a:xfrm>
            <a:off x="648930" y="2438400"/>
            <a:ext cx="6188189" cy="3785419"/>
          </a:xfrm>
        </p:spPr>
        <p:txBody>
          <a:bodyPr>
            <a:normAutofit/>
          </a:bodyPr>
          <a:lstStyle/>
          <a:p>
            <a:r>
              <a:rPr lang="en-IN" dirty="0">
                <a:solidFill>
                  <a:srgbClr val="FFFFFF"/>
                </a:solidFill>
              </a:rPr>
              <a:t>This project is focused on the sales of the motorcycles and understand the profit trends, brand performing and category- wise sales using python. All the key insights, EDA, data cleaning is done with the help of python. In this project we will doing to focus on every column given here and conclude which column need to be more focused for more profit. We will achieve this task by performing predictive analysis by using regression model in excel.</a:t>
            </a:r>
          </a:p>
          <a:p>
            <a:pPr marL="0" indent="0">
              <a:buNone/>
            </a:pPr>
            <a:endParaRPr lang="en-IN" dirty="0">
              <a:solidFill>
                <a:srgbClr val="FFFFFF"/>
              </a:solidFill>
            </a:endParaRP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Close-up of motocycle">
            <a:extLst>
              <a:ext uri="{FF2B5EF4-FFF2-40B4-BE49-F238E27FC236}">
                <a16:creationId xmlns:a16="http://schemas.microsoft.com/office/drawing/2014/main" id="{A3BDF69B-A98A-6EB3-A34A-95F31B3962AD}"/>
              </a:ext>
            </a:extLst>
          </p:cNvPr>
          <p:cNvPicPr>
            <a:picLocks noChangeAspect="1"/>
          </p:cNvPicPr>
          <p:nvPr/>
        </p:nvPicPr>
        <p:blipFill>
          <a:blip r:embed="rId3"/>
          <a:srcRect l="21443" r="30430"/>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47091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E6F57-BD1D-A901-A167-46EA4ACC745B}"/>
              </a:ext>
            </a:extLst>
          </p:cNvPr>
          <p:cNvSpPr>
            <a:spLocks noGrp="1"/>
          </p:cNvSpPr>
          <p:nvPr>
            <p:ph type="title"/>
          </p:nvPr>
        </p:nvSpPr>
        <p:spPr>
          <a:xfrm>
            <a:off x="5411931" y="452718"/>
            <a:ext cx="4638903" cy="1400530"/>
          </a:xfrm>
        </p:spPr>
        <p:txBody>
          <a:bodyPr>
            <a:normAutofit/>
          </a:bodyPr>
          <a:lstStyle/>
          <a:p>
            <a:r>
              <a:rPr lang="en-IN" dirty="0"/>
              <a:t>Data description</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Red scooter in the road">
            <a:extLst>
              <a:ext uri="{FF2B5EF4-FFF2-40B4-BE49-F238E27FC236}">
                <a16:creationId xmlns:a16="http://schemas.microsoft.com/office/drawing/2014/main" id="{38273052-CC0A-04C6-4DFD-1C4CA95A7B24}"/>
              </a:ext>
            </a:extLst>
          </p:cNvPr>
          <p:cNvPicPr>
            <a:picLocks noChangeAspect="1"/>
          </p:cNvPicPr>
          <p:nvPr/>
        </p:nvPicPr>
        <p:blipFill>
          <a:blip r:embed="rId3"/>
          <a:srcRect l="23287" r="28309" b="-1"/>
          <a:stretch>
            <a:fillRect/>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3" name="Rectangle 1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4011536E-57A0-8D7E-07A5-3AF323BA7548}"/>
              </a:ext>
            </a:extLst>
          </p:cNvPr>
          <p:cNvSpPr>
            <a:spLocks noGrp="1"/>
          </p:cNvSpPr>
          <p:nvPr>
            <p:ph idx="1"/>
          </p:nvPr>
        </p:nvSpPr>
        <p:spPr>
          <a:xfrm>
            <a:off x="5410950" y="2052918"/>
            <a:ext cx="4638903" cy="4195481"/>
          </a:xfrm>
        </p:spPr>
        <p:txBody>
          <a:bodyPr>
            <a:normAutofit/>
          </a:bodyPr>
          <a:lstStyle/>
          <a:p>
            <a:pPr>
              <a:lnSpc>
                <a:spcPct val="90000"/>
              </a:lnSpc>
            </a:pPr>
            <a:r>
              <a:rPr lang="en-IN" sz="1100"/>
              <a:t>Date</a:t>
            </a:r>
          </a:p>
          <a:p>
            <a:pPr>
              <a:lnSpc>
                <a:spcPct val="90000"/>
              </a:lnSpc>
            </a:pPr>
            <a:r>
              <a:rPr lang="en-IN" sz="1100"/>
              <a:t>Order ID</a:t>
            </a:r>
          </a:p>
          <a:p>
            <a:pPr>
              <a:lnSpc>
                <a:spcPct val="90000"/>
              </a:lnSpc>
            </a:pPr>
            <a:r>
              <a:rPr lang="en-IN" sz="1100"/>
              <a:t>Brand Name</a:t>
            </a:r>
          </a:p>
          <a:p>
            <a:pPr>
              <a:lnSpc>
                <a:spcPct val="90000"/>
              </a:lnSpc>
            </a:pPr>
            <a:r>
              <a:rPr lang="en-IN" sz="1100"/>
              <a:t>Bike Model</a:t>
            </a:r>
          </a:p>
          <a:p>
            <a:pPr>
              <a:lnSpc>
                <a:spcPct val="90000"/>
              </a:lnSpc>
            </a:pPr>
            <a:r>
              <a:rPr lang="en-IN" sz="1100"/>
              <a:t>Category</a:t>
            </a:r>
          </a:p>
          <a:p>
            <a:pPr>
              <a:lnSpc>
                <a:spcPct val="90000"/>
              </a:lnSpc>
            </a:pPr>
            <a:r>
              <a:rPr lang="en-IN" sz="1100"/>
              <a:t>City</a:t>
            </a:r>
          </a:p>
          <a:p>
            <a:pPr>
              <a:lnSpc>
                <a:spcPct val="90000"/>
              </a:lnSpc>
            </a:pPr>
            <a:r>
              <a:rPr lang="en-IN" sz="1100"/>
              <a:t>Cost Price</a:t>
            </a:r>
          </a:p>
          <a:p>
            <a:pPr>
              <a:lnSpc>
                <a:spcPct val="90000"/>
              </a:lnSpc>
            </a:pPr>
            <a:r>
              <a:rPr lang="en-IN" sz="1100"/>
              <a:t>Selling Price</a:t>
            </a:r>
          </a:p>
          <a:p>
            <a:pPr>
              <a:lnSpc>
                <a:spcPct val="90000"/>
              </a:lnSpc>
            </a:pPr>
            <a:r>
              <a:rPr lang="en-IN" sz="1100"/>
              <a:t>Discount</a:t>
            </a:r>
          </a:p>
          <a:p>
            <a:pPr>
              <a:lnSpc>
                <a:spcPct val="90000"/>
              </a:lnSpc>
            </a:pPr>
            <a:r>
              <a:rPr lang="en-IN" sz="1100"/>
              <a:t>Profit</a:t>
            </a:r>
          </a:p>
          <a:p>
            <a:pPr>
              <a:lnSpc>
                <a:spcPct val="90000"/>
              </a:lnSpc>
            </a:pPr>
            <a:r>
              <a:rPr lang="en-IN" sz="1100"/>
              <a:t>Insurance</a:t>
            </a:r>
          </a:p>
          <a:p>
            <a:pPr>
              <a:lnSpc>
                <a:spcPct val="90000"/>
              </a:lnSpc>
            </a:pPr>
            <a:r>
              <a:rPr lang="en-IN" sz="1100"/>
              <a:t>Accessories</a:t>
            </a:r>
          </a:p>
          <a:p>
            <a:pPr>
              <a:lnSpc>
                <a:spcPct val="90000"/>
              </a:lnSpc>
            </a:pPr>
            <a:r>
              <a:rPr lang="en-IN" sz="1100"/>
              <a:t>RSA</a:t>
            </a:r>
          </a:p>
          <a:p>
            <a:pPr>
              <a:lnSpc>
                <a:spcPct val="90000"/>
              </a:lnSpc>
            </a:pPr>
            <a:r>
              <a:rPr lang="en-IN" sz="1100"/>
              <a:t>Total on road price</a:t>
            </a:r>
          </a:p>
          <a:p>
            <a:pPr>
              <a:lnSpc>
                <a:spcPct val="90000"/>
              </a:lnSpc>
            </a:pPr>
            <a:r>
              <a:rPr lang="en-IN" sz="1100"/>
              <a:t>Customer feedback.</a:t>
            </a:r>
          </a:p>
        </p:txBody>
      </p:sp>
    </p:spTree>
    <p:extLst>
      <p:ext uri="{BB962C8B-B14F-4D97-AF65-F5344CB8AC3E}">
        <p14:creationId xmlns:p14="http://schemas.microsoft.com/office/powerpoint/2010/main" val="40963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8E8E1B8-A17E-2699-9263-D5FF0843C479}"/>
              </a:ext>
            </a:extLst>
          </p:cNvPr>
          <p:cNvSpPr>
            <a:spLocks noGrp="1"/>
          </p:cNvSpPr>
          <p:nvPr>
            <p:ph type="title"/>
          </p:nvPr>
        </p:nvSpPr>
        <p:spPr>
          <a:xfrm>
            <a:off x="648930" y="629267"/>
            <a:ext cx="9252154" cy="1016654"/>
          </a:xfrm>
        </p:spPr>
        <p:txBody>
          <a:bodyPr>
            <a:normAutofit/>
          </a:bodyPr>
          <a:lstStyle/>
          <a:p>
            <a:r>
              <a:rPr lang="en-IN">
                <a:solidFill>
                  <a:srgbClr val="EBEBEB"/>
                </a:solidFill>
              </a:rPr>
              <a:t>Data cleaning and preparation.</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IN"/>
          </a:p>
        </p:txBody>
      </p:sp>
      <p:graphicFrame>
        <p:nvGraphicFramePr>
          <p:cNvPr id="5" name="Content Placeholder 2">
            <a:extLst>
              <a:ext uri="{FF2B5EF4-FFF2-40B4-BE49-F238E27FC236}">
                <a16:creationId xmlns:a16="http://schemas.microsoft.com/office/drawing/2014/main" id="{F624BAA3-6CFF-0AC5-4EE6-5D6366CCB8B3}"/>
              </a:ext>
            </a:extLst>
          </p:cNvPr>
          <p:cNvGraphicFramePr>
            <a:graphicFrameLocks noGrp="1"/>
          </p:cNvGraphicFramePr>
          <p:nvPr>
            <p:ph idx="1"/>
            <p:extLst>
              <p:ext uri="{D42A27DB-BD31-4B8C-83A1-F6EECF244321}">
                <p14:modId xmlns:p14="http://schemas.microsoft.com/office/powerpoint/2010/main" val="492779716"/>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6830523"/>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2" name="Freeform: Shape 11">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9429F155-74B0-51F4-25B5-E289A399D9CA}"/>
              </a:ext>
            </a:extLst>
          </p:cNvPr>
          <p:cNvSpPr>
            <a:spLocks noGrp="1"/>
          </p:cNvSpPr>
          <p:nvPr>
            <p:ph type="title"/>
          </p:nvPr>
        </p:nvSpPr>
        <p:spPr>
          <a:xfrm>
            <a:off x="653143" y="1645920"/>
            <a:ext cx="3522879" cy="4470821"/>
          </a:xfrm>
        </p:spPr>
        <p:txBody>
          <a:bodyPr>
            <a:normAutofit/>
          </a:bodyPr>
          <a:lstStyle/>
          <a:p>
            <a:pPr algn="r"/>
            <a:r>
              <a:rPr lang="en-IN">
                <a:solidFill>
                  <a:schemeClr val="bg2"/>
                </a:solidFill>
              </a:rPr>
              <a:t>Exploratory data analysis.</a:t>
            </a:r>
          </a:p>
        </p:txBody>
      </p:sp>
      <p:sp>
        <p:nvSpPr>
          <p:cNvPr id="3" name="Content Placeholder 2">
            <a:extLst>
              <a:ext uri="{FF2B5EF4-FFF2-40B4-BE49-F238E27FC236}">
                <a16:creationId xmlns:a16="http://schemas.microsoft.com/office/drawing/2014/main" id="{D6C511AC-9DFD-3F45-C50F-B0E7C7380A9E}"/>
              </a:ext>
            </a:extLst>
          </p:cNvPr>
          <p:cNvSpPr>
            <a:spLocks noGrp="1"/>
          </p:cNvSpPr>
          <p:nvPr>
            <p:ph idx="1"/>
          </p:nvPr>
        </p:nvSpPr>
        <p:spPr>
          <a:xfrm>
            <a:off x="5204109" y="1645920"/>
            <a:ext cx="6269434" cy="4470821"/>
          </a:xfrm>
        </p:spPr>
        <p:txBody>
          <a:bodyPr>
            <a:normAutofit/>
          </a:bodyPr>
          <a:lstStyle/>
          <a:p>
            <a:r>
              <a:rPr lang="en-IN" dirty="0"/>
              <a:t>There are total 105 records and 16 columns</a:t>
            </a:r>
          </a:p>
          <a:p>
            <a:r>
              <a:rPr lang="en-IN" dirty="0"/>
              <a:t>No duplicated values to be found</a:t>
            </a:r>
          </a:p>
          <a:p>
            <a:r>
              <a:rPr lang="en-IN" dirty="0"/>
              <a:t>Column names has changed to lowercase and separated by “_” for better analysis.</a:t>
            </a:r>
          </a:p>
          <a:p>
            <a:r>
              <a:rPr lang="en-IN" dirty="0"/>
              <a:t>Null values found in “Discount”, “Accessories”, “RSA”, that has been changes to median, because there are extreme values present in data. Median is less sensitive to outliers.</a:t>
            </a:r>
          </a:p>
          <a:p>
            <a:r>
              <a:rPr lang="en-IN" dirty="0"/>
              <a:t>Datatype for date is changed from object to datetime</a:t>
            </a:r>
          </a:p>
        </p:txBody>
      </p:sp>
    </p:spTree>
    <p:extLst>
      <p:ext uri="{BB962C8B-B14F-4D97-AF65-F5344CB8AC3E}">
        <p14:creationId xmlns:p14="http://schemas.microsoft.com/office/powerpoint/2010/main" val="2247500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4" name="Picture 33">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5" name="Picture 34">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6" name="Rectangle 3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7" name="Rectangle 36">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E7BFDA-74EA-8F12-2AEA-81195E6E832B}"/>
              </a:ext>
            </a:extLst>
          </p:cNvPr>
          <p:cNvSpPr>
            <a:spLocks noGrp="1"/>
          </p:cNvSpPr>
          <p:nvPr>
            <p:ph type="title"/>
          </p:nvPr>
        </p:nvSpPr>
        <p:spPr>
          <a:xfrm>
            <a:off x="648929" y="629266"/>
            <a:ext cx="3505495" cy="1622321"/>
          </a:xfrm>
        </p:spPr>
        <p:txBody>
          <a:bodyPr vert="horz" lIns="91440" tIns="45720" rIns="91440" bIns="45720" rtlCol="0" anchor="t">
            <a:normAutofit/>
          </a:bodyPr>
          <a:lstStyle/>
          <a:p>
            <a:r>
              <a:rPr lang="en-US" b="0" i="0" kern="1200" dirty="0">
                <a:solidFill>
                  <a:srgbClr val="EBEBEB"/>
                </a:solidFill>
                <a:latin typeface="+mj-lt"/>
                <a:ea typeface="+mj-ea"/>
                <a:cs typeface="+mj-cs"/>
              </a:rPr>
              <a:t>Price Distribution.</a:t>
            </a:r>
          </a:p>
        </p:txBody>
      </p:sp>
      <p:sp>
        <p:nvSpPr>
          <p:cNvPr id="38" name="Rectangle 37">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17E57497-EA84-C5F1-56C6-87985AD7D9A5}"/>
              </a:ext>
            </a:extLst>
          </p:cNvPr>
          <p:cNvPicPr>
            <a:picLocks noGrp="1" noChangeAspect="1"/>
          </p:cNvPicPr>
          <p:nvPr>
            <p:ph sz="half" idx="1"/>
          </p:nvPr>
        </p:nvPicPr>
        <p:blipFill>
          <a:blip r:embed="rId6"/>
          <a:stretch>
            <a:fillRect/>
          </a:stretch>
        </p:blipFill>
        <p:spPr>
          <a:xfrm>
            <a:off x="5608319" y="1106457"/>
            <a:ext cx="5614835" cy="4491867"/>
          </a:xfrm>
          <a:prstGeom prst="rect">
            <a:avLst/>
          </a:prstGeom>
          <a:effectLst/>
        </p:spPr>
      </p:pic>
      <p:sp>
        <p:nvSpPr>
          <p:cNvPr id="40" name="Rectangle 39">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Content Placeholder 3">
            <a:extLst>
              <a:ext uri="{FF2B5EF4-FFF2-40B4-BE49-F238E27FC236}">
                <a16:creationId xmlns:a16="http://schemas.microsoft.com/office/drawing/2014/main" id="{03559215-01E0-1B05-D902-E809967C4384}"/>
              </a:ext>
            </a:extLst>
          </p:cNvPr>
          <p:cNvSpPr>
            <a:spLocks noGrp="1"/>
          </p:cNvSpPr>
          <p:nvPr>
            <p:ph sz="half" idx="2"/>
          </p:nvPr>
        </p:nvSpPr>
        <p:spPr>
          <a:xfrm>
            <a:off x="648931" y="2438400"/>
            <a:ext cx="3505494" cy="3785419"/>
          </a:xfrm>
        </p:spPr>
        <p:txBody>
          <a:bodyPr vert="horz" lIns="91440" tIns="45720" rIns="91440" bIns="45720" rtlCol="0">
            <a:normAutofit/>
          </a:bodyPr>
          <a:lstStyle/>
          <a:p>
            <a:pPr>
              <a:lnSpc>
                <a:spcPct val="90000"/>
              </a:lnSpc>
            </a:pPr>
            <a:r>
              <a:rPr lang="en-US" sz="1700">
                <a:solidFill>
                  <a:srgbClr val="FFFFFF"/>
                </a:solidFill>
              </a:rPr>
              <a:t>X-axis= Selling Price</a:t>
            </a:r>
          </a:p>
          <a:p>
            <a:pPr>
              <a:lnSpc>
                <a:spcPct val="90000"/>
              </a:lnSpc>
            </a:pPr>
            <a:r>
              <a:rPr lang="en-US" sz="1700">
                <a:solidFill>
                  <a:srgbClr val="FFFFFF"/>
                </a:solidFill>
              </a:rPr>
              <a:t>Y- axis= Count</a:t>
            </a:r>
          </a:p>
          <a:p>
            <a:pPr marL="0" indent="0">
              <a:lnSpc>
                <a:spcPct val="90000"/>
              </a:lnSpc>
            </a:pPr>
            <a:r>
              <a:rPr lang="en-US" sz="1700">
                <a:solidFill>
                  <a:srgbClr val="FFFFFF"/>
                </a:solidFill>
              </a:rPr>
              <a:t>As we can check in this figure. The KDE that is kernel density estimator is right skewed, which is positive skewed. Here we can check that most of the bike is sold between ranges 2lakh to 3 lakh. The heights peak is around 2.4 to 2.6 lakh.</a:t>
            </a:r>
          </a:p>
          <a:p>
            <a:pPr marL="0" indent="0">
              <a:lnSpc>
                <a:spcPct val="90000"/>
              </a:lnSpc>
            </a:pPr>
            <a:r>
              <a:rPr lang="en-US" sz="1700">
                <a:solidFill>
                  <a:srgbClr val="FFFFFF"/>
                </a:solidFill>
              </a:rPr>
              <a:t>The motorcycle which is above 4 lakh is seem to be less as compared to other ranges.</a:t>
            </a:r>
          </a:p>
        </p:txBody>
      </p:sp>
    </p:spTree>
    <p:extLst>
      <p:ext uri="{BB962C8B-B14F-4D97-AF65-F5344CB8AC3E}">
        <p14:creationId xmlns:p14="http://schemas.microsoft.com/office/powerpoint/2010/main" val="32840425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4" name="Picture 33">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5" name="Picture 34">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6" name="Rectangle 35">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3FAE827-0044-699A-8A5C-25B82C1A8A19}"/>
              </a:ext>
            </a:extLst>
          </p:cNvPr>
          <p:cNvSpPr>
            <a:spLocks noGrp="1"/>
          </p:cNvSpPr>
          <p:nvPr>
            <p:ph type="title"/>
          </p:nvPr>
        </p:nvSpPr>
        <p:spPr>
          <a:xfrm>
            <a:off x="646112" y="452718"/>
            <a:ext cx="4165580" cy="1400530"/>
          </a:xfrm>
        </p:spPr>
        <p:txBody>
          <a:bodyPr vert="horz" lIns="91440" tIns="45720" rIns="91440" bIns="45720" rtlCol="0" anchor="t">
            <a:normAutofit/>
          </a:bodyPr>
          <a:lstStyle/>
          <a:p>
            <a:r>
              <a:rPr lang="en-US"/>
              <a:t>Brand Count.</a:t>
            </a:r>
          </a:p>
        </p:txBody>
      </p:sp>
      <p:sp>
        <p:nvSpPr>
          <p:cNvPr id="37" name="Freeform: Shape 36">
            <a:extLst>
              <a:ext uri="{FF2B5EF4-FFF2-40B4-BE49-F238E27FC236}">
                <a16:creationId xmlns:a16="http://schemas.microsoft.com/office/drawing/2014/main" id="{7DAA46B9-B7E8-4487-B28E-C63A6EB7A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IN"/>
          </a:p>
        </p:txBody>
      </p:sp>
      <p:sp>
        <p:nvSpPr>
          <p:cNvPr id="38" name="Freeform 23">
            <a:extLst>
              <a:ext uri="{FF2B5EF4-FFF2-40B4-BE49-F238E27FC236}">
                <a16:creationId xmlns:a16="http://schemas.microsoft.com/office/drawing/2014/main" id="{C866818C-1E5F-475A-B310-3C06B555F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Content Placeholder 5">
            <a:extLst>
              <a:ext uri="{FF2B5EF4-FFF2-40B4-BE49-F238E27FC236}">
                <a16:creationId xmlns:a16="http://schemas.microsoft.com/office/drawing/2014/main" id="{3797BF74-7409-1C00-C189-969EC596490C}"/>
              </a:ext>
            </a:extLst>
          </p:cNvPr>
          <p:cNvPicPr>
            <a:picLocks noGrp="1" noChangeAspect="1"/>
          </p:cNvPicPr>
          <p:nvPr>
            <p:ph sz="half" idx="1"/>
          </p:nvPr>
        </p:nvPicPr>
        <p:blipFill>
          <a:blip r:embed="rId7"/>
          <a:stretch>
            <a:fillRect/>
          </a:stretch>
        </p:blipFill>
        <p:spPr>
          <a:xfrm>
            <a:off x="6942691" y="647699"/>
            <a:ext cx="3752909" cy="2683330"/>
          </a:xfrm>
          <a:prstGeom prst="rect">
            <a:avLst/>
          </a:prstGeom>
          <a:effectLst/>
        </p:spPr>
      </p:pic>
      <p:sp>
        <p:nvSpPr>
          <p:cNvPr id="39" name="Rectangle 38">
            <a:extLst>
              <a:ext uri="{FF2B5EF4-FFF2-40B4-BE49-F238E27FC236}">
                <a16:creationId xmlns:a16="http://schemas.microsoft.com/office/drawing/2014/main" id="{D12AFDE8-E1ED-4A49-B8B3-4953F4B8A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Content Placeholder 3">
            <a:extLst>
              <a:ext uri="{FF2B5EF4-FFF2-40B4-BE49-F238E27FC236}">
                <a16:creationId xmlns:a16="http://schemas.microsoft.com/office/drawing/2014/main" id="{1833D0CD-48ED-F72F-EE21-2BDF62A2EE38}"/>
              </a:ext>
            </a:extLst>
          </p:cNvPr>
          <p:cNvSpPr>
            <a:spLocks noGrp="1"/>
          </p:cNvSpPr>
          <p:nvPr>
            <p:ph sz="half" idx="2"/>
          </p:nvPr>
        </p:nvSpPr>
        <p:spPr>
          <a:xfrm>
            <a:off x="646113" y="2052918"/>
            <a:ext cx="4165146" cy="4195481"/>
          </a:xfrm>
        </p:spPr>
        <p:txBody>
          <a:bodyPr vert="horz" lIns="91440" tIns="45720" rIns="91440" bIns="45720" rtlCol="0">
            <a:normAutofit/>
          </a:bodyPr>
          <a:lstStyle/>
          <a:p>
            <a:pPr>
              <a:lnSpc>
                <a:spcPct val="90000"/>
              </a:lnSpc>
            </a:pPr>
            <a:r>
              <a:rPr lang="en-US" dirty="0"/>
              <a:t>Here we can check that the highest brand is sold is Jawa and Hondas compare to others.</a:t>
            </a:r>
          </a:p>
          <a:p>
            <a:pPr>
              <a:lnSpc>
                <a:spcPct val="90000"/>
              </a:lnSpc>
            </a:pPr>
            <a:r>
              <a:rPr lang="en-US" dirty="0"/>
              <a:t>Well, if we check the second figure that says that cruiser is dominated by Jawa and Royal Enfield </a:t>
            </a:r>
          </a:p>
          <a:p>
            <a:pPr>
              <a:lnSpc>
                <a:spcPct val="90000"/>
              </a:lnSpc>
            </a:pPr>
            <a:r>
              <a:rPr lang="en-US" dirty="0"/>
              <a:t>Brands focusing on Cruiser, Roadster and bobber can generate high revenue.</a:t>
            </a:r>
          </a:p>
          <a:p>
            <a:pPr>
              <a:lnSpc>
                <a:spcPct val="90000"/>
              </a:lnSpc>
            </a:pPr>
            <a:r>
              <a:rPr lang="en-US" dirty="0"/>
              <a:t>Here we can see the least revenue making model is café racer and roadster by Royal Enfield, yet the price is high, but demand is low.</a:t>
            </a:r>
          </a:p>
        </p:txBody>
      </p:sp>
      <p:pic>
        <p:nvPicPr>
          <p:cNvPr id="8" name="Picture 7">
            <a:extLst>
              <a:ext uri="{FF2B5EF4-FFF2-40B4-BE49-F238E27FC236}">
                <a16:creationId xmlns:a16="http://schemas.microsoft.com/office/drawing/2014/main" id="{1FD64D39-10C4-7B18-6F85-F87243FB51AC}"/>
              </a:ext>
            </a:extLst>
          </p:cNvPr>
          <p:cNvPicPr>
            <a:picLocks noChangeAspect="1"/>
          </p:cNvPicPr>
          <p:nvPr/>
        </p:nvPicPr>
        <p:blipFill>
          <a:blip r:embed="rId8"/>
          <a:stretch>
            <a:fillRect/>
          </a:stretch>
        </p:blipFill>
        <p:spPr>
          <a:xfrm>
            <a:off x="7107556" y="3526971"/>
            <a:ext cx="3423178" cy="2721427"/>
          </a:xfrm>
          <a:prstGeom prst="rect">
            <a:avLst/>
          </a:prstGeom>
          <a:effectLst/>
        </p:spPr>
      </p:pic>
    </p:spTree>
    <p:extLst>
      <p:ext uri="{BB962C8B-B14F-4D97-AF65-F5344CB8AC3E}">
        <p14:creationId xmlns:p14="http://schemas.microsoft.com/office/powerpoint/2010/main" val="147863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6" name="Picture 2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8" name="Oval 2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0" name="Picture 2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30">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2" name="Rectangle 3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2">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CAED2B-1C1C-AF1A-87CD-E8A5EDC5BABE}"/>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600" b="0" i="0" kern="1200">
                <a:solidFill>
                  <a:srgbClr val="EBEBEB"/>
                </a:solidFill>
                <a:latin typeface="+mj-lt"/>
                <a:ea typeface="+mj-ea"/>
                <a:cs typeface="+mj-cs"/>
              </a:rPr>
              <a:t>Category of bike on demand.</a:t>
            </a:r>
          </a:p>
        </p:txBody>
      </p:sp>
      <p:sp>
        <p:nvSpPr>
          <p:cNvPr id="25"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pic>
        <p:nvPicPr>
          <p:cNvPr id="6" name="Content Placeholder 5">
            <a:extLst>
              <a:ext uri="{FF2B5EF4-FFF2-40B4-BE49-F238E27FC236}">
                <a16:creationId xmlns:a16="http://schemas.microsoft.com/office/drawing/2014/main" id="{DE9EC8EF-E634-9F0D-4CD9-F2561CAB2CFB}"/>
              </a:ext>
            </a:extLst>
          </p:cNvPr>
          <p:cNvPicPr>
            <a:picLocks noGrp="1" noChangeAspect="1"/>
          </p:cNvPicPr>
          <p:nvPr>
            <p:ph sz="half" idx="1"/>
          </p:nvPr>
        </p:nvPicPr>
        <p:blipFill>
          <a:blip r:embed="rId6"/>
          <a:stretch>
            <a:fillRect/>
          </a:stretch>
        </p:blipFill>
        <p:spPr>
          <a:xfrm>
            <a:off x="6093992" y="1276293"/>
            <a:ext cx="5449889" cy="4305411"/>
          </a:xfrm>
          <a:prstGeom prst="rect">
            <a:avLst/>
          </a:prstGeom>
          <a:effectLst/>
        </p:spPr>
      </p:pic>
      <p:sp>
        <p:nvSpPr>
          <p:cNvPr id="29" name="Rectangle 28">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Content Placeholder 3">
            <a:extLst>
              <a:ext uri="{FF2B5EF4-FFF2-40B4-BE49-F238E27FC236}">
                <a16:creationId xmlns:a16="http://schemas.microsoft.com/office/drawing/2014/main" id="{8B23511E-1DE4-0A46-8C64-32BEF8E272F6}"/>
              </a:ext>
            </a:extLst>
          </p:cNvPr>
          <p:cNvSpPr>
            <a:spLocks noGrp="1"/>
          </p:cNvSpPr>
          <p:nvPr>
            <p:ph sz="half" idx="2"/>
          </p:nvPr>
        </p:nvSpPr>
        <p:spPr>
          <a:xfrm>
            <a:off x="648931" y="2438400"/>
            <a:ext cx="4166509" cy="3785419"/>
          </a:xfrm>
        </p:spPr>
        <p:txBody>
          <a:bodyPr vert="horz" lIns="91440" tIns="45720" rIns="91440" bIns="45720" rtlCol="0">
            <a:normAutofit/>
          </a:bodyPr>
          <a:lstStyle/>
          <a:p>
            <a:pPr>
              <a:lnSpc>
                <a:spcPct val="90000"/>
              </a:lnSpc>
            </a:pPr>
            <a:r>
              <a:rPr lang="en-US">
                <a:solidFill>
                  <a:srgbClr val="EBEBEB"/>
                </a:solidFill>
              </a:rPr>
              <a:t>If we check the category of bike on demand.</a:t>
            </a:r>
          </a:p>
          <a:p>
            <a:pPr>
              <a:lnSpc>
                <a:spcPct val="90000"/>
              </a:lnSpc>
            </a:pPr>
            <a:r>
              <a:rPr lang="en-US">
                <a:solidFill>
                  <a:srgbClr val="EBEBEB"/>
                </a:solidFill>
              </a:rPr>
              <a:t>Cruiser is the most demanding model that is on demand, it is the most preferred category.</a:t>
            </a:r>
          </a:p>
          <a:p>
            <a:pPr>
              <a:lnSpc>
                <a:spcPct val="90000"/>
              </a:lnSpc>
            </a:pPr>
            <a:r>
              <a:rPr lang="en-US">
                <a:solidFill>
                  <a:srgbClr val="EBEBEB"/>
                </a:solidFill>
              </a:rPr>
              <a:t>Reason:</a:t>
            </a:r>
          </a:p>
          <a:p>
            <a:pPr>
              <a:lnSpc>
                <a:spcPct val="90000"/>
              </a:lnSpc>
            </a:pPr>
            <a:r>
              <a:rPr lang="en-US">
                <a:solidFill>
                  <a:srgbClr val="EBEBEB"/>
                </a:solidFill>
              </a:rPr>
              <a:t>It is more comfortable for long rides.</a:t>
            </a:r>
          </a:p>
          <a:p>
            <a:pPr>
              <a:lnSpc>
                <a:spcPct val="90000"/>
              </a:lnSpc>
            </a:pPr>
            <a:r>
              <a:rPr lang="en-US">
                <a:solidFill>
                  <a:srgbClr val="EBEBEB"/>
                </a:solidFill>
              </a:rPr>
              <a:t>Popular among Indian customers</a:t>
            </a:r>
          </a:p>
          <a:p>
            <a:pPr>
              <a:lnSpc>
                <a:spcPct val="90000"/>
              </a:lnSpc>
            </a:pPr>
            <a:r>
              <a:rPr lang="en-US">
                <a:solidFill>
                  <a:srgbClr val="EBEBEB"/>
                </a:solidFill>
              </a:rPr>
              <a:t>Strong brand represents Jawa and Royal Enfield.</a:t>
            </a:r>
          </a:p>
          <a:p>
            <a:pPr marL="0" indent="0">
              <a:lnSpc>
                <a:spcPct val="90000"/>
              </a:lnSpc>
            </a:pPr>
            <a:endParaRPr lang="en-US">
              <a:solidFill>
                <a:srgbClr val="EBEBEB"/>
              </a:solidFill>
            </a:endParaRPr>
          </a:p>
        </p:txBody>
      </p:sp>
    </p:spTree>
    <p:extLst>
      <p:ext uri="{BB962C8B-B14F-4D97-AF65-F5344CB8AC3E}">
        <p14:creationId xmlns:p14="http://schemas.microsoft.com/office/powerpoint/2010/main" val="380703971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6" name="Picture 1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8" name="Oval 1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0" name="Picture 1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2" name="Picture 2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4" name="Rectangle 2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1D01130-E16D-2D30-DDC1-C77C283F1DF8}"/>
              </a:ext>
            </a:extLst>
          </p:cNvPr>
          <p:cNvSpPr>
            <a:spLocks noGrp="1"/>
          </p:cNvSpPr>
          <p:nvPr>
            <p:ph type="title"/>
          </p:nvPr>
        </p:nvSpPr>
        <p:spPr>
          <a:xfrm>
            <a:off x="646112" y="452718"/>
            <a:ext cx="4165580" cy="1400530"/>
          </a:xfrm>
        </p:spPr>
        <p:txBody>
          <a:bodyPr vert="horz" lIns="91440" tIns="45720" rIns="91440" bIns="45720" rtlCol="0" anchor="t">
            <a:normAutofit/>
          </a:bodyPr>
          <a:lstStyle/>
          <a:p>
            <a:pPr>
              <a:lnSpc>
                <a:spcPct val="90000"/>
              </a:lnSpc>
            </a:pPr>
            <a:r>
              <a:rPr lang="en-US" sz="2900"/>
              <a:t>Selling price and on –road price according to brand.</a:t>
            </a:r>
          </a:p>
        </p:txBody>
      </p:sp>
      <p:sp>
        <p:nvSpPr>
          <p:cNvPr id="26" name="Freeform: Shape 25">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IN"/>
          </a:p>
        </p:txBody>
      </p:sp>
      <p:sp>
        <p:nvSpPr>
          <p:cNvPr id="28"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Picture 5">
            <a:extLst>
              <a:ext uri="{FF2B5EF4-FFF2-40B4-BE49-F238E27FC236}">
                <a16:creationId xmlns:a16="http://schemas.microsoft.com/office/drawing/2014/main" id="{4D0B6D93-B686-0315-26F1-6880896D3B6A}"/>
              </a:ext>
            </a:extLst>
          </p:cNvPr>
          <p:cNvPicPr>
            <a:picLocks noChangeAspect="1"/>
          </p:cNvPicPr>
          <p:nvPr/>
        </p:nvPicPr>
        <p:blipFill>
          <a:blip r:embed="rId7"/>
          <a:stretch>
            <a:fillRect/>
          </a:stretch>
        </p:blipFill>
        <p:spPr>
          <a:xfrm>
            <a:off x="6679078" y="647699"/>
            <a:ext cx="4280134" cy="3242202"/>
          </a:xfrm>
          <a:prstGeom prst="rect">
            <a:avLst/>
          </a:prstGeom>
          <a:effectLst/>
        </p:spPr>
      </p:pic>
      <p:sp>
        <p:nvSpPr>
          <p:cNvPr id="30" name="Rectangle 29">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Content Placeholder 8">
            <a:extLst>
              <a:ext uri="{FF2B5EF4-FFF2-40B4-BE49-F238E27FC236}">
                <a16:creationId xmlns:a16="http://schemas.microsoft.com/office/drawing/2014/main" id="{E7810F1F-BCB4-68CF-A390-FDC14A90661F}"/>
              </a:ext>
            </a:extLst>
          </p:cNvPr>
          <p:cNvPicPr>
            <a:picLocks noGrp="1" noChangeAspect="1"/>
          </p:cNvPicPr>
          <p:nvPr>
            <p:ph sz="half" idx="1"/>
          </p:nvPr>
        </p:nvPicPr>
        <p:blipFill>
          <a:blip r:embed="rId8"/>
          <a:stretch>
            <a:fillRect/>
          </a:stretch>
        </p:blipFill>
        <p:spPr>
          <a:xfrm>
            <a:off x="7367765" y="4085841"/>
            <a:ext cx="2902761" cy="2162557"/>
          </a:xfrm>
          <a:prstGeom prst="rect">
            <a:avLst/>
          </a:prstGeom>
          <a:effectLst/>
        </p:spPr>
      </p:pic>
      <p:graphicFrame>
        <p:nvGraphicFramePr>
          <p:cNvPr id="8" name="Content Placeholder 3">
            <a:extLst>
              <a:ext uri="{FF2B5EF4-FFF2-40B4-BE49-F238E27FC236}">
                <a16:creationId xmlns:a16="http://schemas.microsoft.com/office/drawing/2014/main" id="{161B589B-8D52-5473-2695-FE8C6990D75E}"/>
              </a:ext>
            </a:extLst>
          </p:cNvPr>
          <p:cNvGraphicFramePr>
            <a:graphicFrameLocks noGrp="1"/>
          </p:cNvGraphicFramePr>
          <p:nvPr>
            <p:ph sz="half" idx="2"/>
            <p:extLst>
              <p:ext uri="{D42A27DB-BD31-4B8C-83A1-F6EECF244321}">
                <p14:modId xmlns:p14="http://schemas.microsoft.com/office/powerpoint/2010/main" val="984283345"/>
              </p:ext>
            </p:extLst>
          </p:nvPr>
        </p:nvGraphicFramePr>
        <p:xfrm>
          <a:off x="646113" y="2052918"/>
          <a:ext cx="4165146" cy="419548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789752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DCE93-0A9A-B280-CE86-542CAC55B2E0}"/>
              </a:ext>
            </a:extLst>
          </p:cNvPr>
          <p:cNvSpPr>
            <a:spLocks noGrp="1"/>
          </p:cNvSpPr>
          <p:nvPr>
            <p:ph type="title"/>
          </p:nvPr>
        </p:nvSpPr>
        <p:spPr>
          <a:xfrm>
            <a:off x="646111" y="452718"/>
            <a:ext cx="9404723" cy="1064583"/>
          </a:xfrm>
        </p:spPr>
        <p:txBody>
          <a:bodyPr/>
          <a:lstStyle/>
          <a:p>
            <a:r>
              <a:rPr lang="en-IN" dirty="0"/>
              <a:t>Profit by city.</a:t>
            </a:r>
          </a:p>
        </p:txBody>
      </p:sp>
      <p:sp>
        <p:nvSpPr>
          <p:cNvPr id="3" name="Content Placeholder 2">
            <a:extLst>
              <a:ext uri="{FF2B5EF4-FFF2-40B4-BE49-F238E27FC236}">
                <a16:creationId xmlns:a16="http://schemas.microsoft.com/office/drawing/2014/main" id="{F8E51685-923B-6FC6-6AF7-A92C93947232}"/>
              </a:ext>
            </a:extLst>
          </p:cNvPr>
          <p:cNvSpPr>
            <a:spLocks noGrp="1"/>
          </p:cNvSpPr>
          <p:nvPr>
            <p:ph sz="half" idx="1"/>
          </p:nvPr>
        </p:nvSpPr>
        <p:spPr/>
        <p:txBody>
          <a:bodyPr/>
          <a:lstStyle/>
          <a:p>
            <a:endParaRPr lang="en-IN"/>
          </a:p>
        </p:txBody>
      </p:sp>
      <p:graphicFrame>
        <p:nvGraphicFramePr>
          <p:cNvPr id="8" name="Content Placeholder 3">
            <a:extLst>
              <a:ext uri="{FF2B5EF4-FFF2-40B4-BE49-F238E27FC236}">
                <a16:creationId xmlns:a16="http://schemas.microsoft.com/office/drawing/2014/main" id="{A77CBCC0-2C0D-3AD0-4968-B051462A32BA}"/>
              </a:ext>
            </a:extLst>
          </p:cNvPr>
          <p:cNvGraphicFramePr>
            <a:graphicFrameLocks noGrp="1"/>
          </p:cNvGraphicFramePr>
          <p:nvPr>
            <p:ph sz="half" idx="2"/>
          </p:nvPr>
        </p:nvGraphicFramePr>
        <p:xfrm>
          <a:off x="5654493" y="2056092"/>
          <a:ext cx="4396341" cy="42002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79277BBB-8E9D-B3EC-01A9-33CEE2FC36AD}"/>
              </a:ext>
            </a:extLst>
          </p:cNvPr>
          <p:cNvPicPr>
            <a:picLocks noChangeAspect="1"/>
          </p:cNvPicPr>
          <p:nvPr/>
        </p:nvPicPr>
        <p:blipFill>
          <a:blip r:embed="rId7"/>
          <a:stretch>
            <a:fillRect/>
          </a:stretch>
        </p:blipFill>
        <p:spPr>
          <a:xfrm>
            <a:off x="108025" y="2018855"/>
            <a:ext cx="5796555" cy="4274718"/>
          </a:xfrm>
          <a:prstGeom prst="rect">
            <a:avLst/>
          </a:prstGeom>
        </p:spPr>
      </p:pic>
    </p:spTree>
    <p:extLst>
      <p:ext uri="{BB962C8B-B14F-4D97-AF65-F5344CB8AC3E}">
        <p14:creationId xmlns:p14="http://schemas.microsoft.com/office/powerpoint/2010/main" val="416023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C4B337-66CC-C3CF-E738-D36E7272615F}"/>
              </a:ext>
            </a:extLst>
          </p:cNvPr>
          <p:cNvSpPr>
            <a:spLocks noGrp="1"/>
          </p:cNvSpPr>
          <p:nvPr>
            <p:ph type="title"/>
          </p:nvPr>
        </p:nvSpPr>
        <p:spPr/>
        <p:txBody>
          <a:bodyPr/>
          <a:lstStyle/>
          <a:p>
            <a:r>
              <a:rPr lang="en-IN" dirty="0"/>
              <a:t>Correlation.</a:t>
            </a:r>
          </a:p>
        </p:txBody>
      </p:sp>
      <p:pic>
        <p:nvPicPr>
          <p:cNvPr id="7" name="Picture 6">
            <a:extLst>
              <a:ext uri="{FF2B5EF4-FFF2-40B4-BE49-F238E27FC236}">
                <a16:creationId xmlns:a16="http://schemas.microsoft.com/office/drawing/2014/main" id="{2F597655-E8E4-527C-6E14-9BA7E5006A89}"/>
              </a:ext>
            </a:extLst>
          </p:cNvPr>
          <p:cNvPicPr>
            <a:picLocks noChangeAspect="1"/>
          </p:cNvPicPr>
          <p:nvPr/>
        </p:nvPicPr>
        <p:blipFill>
          <a:blip r:embed="rId2"/>
          <a:stretch>
            <a:fillRect/>
          </a:stretch>
        </p:blipFill>
        <p:spPr>
          <a:xfrm>
            <a:off x="173770" y="1599042"/>
            <a:ext cx="3574265" cy="2727890"/>
          </a:xfrm>
          <a:prstGeom prst="rect">
            <a:avLst/>
          </a:prstGeom>
        </p:spPr>
      </p:pic>
      <p:pic>
        <p:nvPicPr>
          <p:cNvPr id="9" name="Picture 8">
            <a:extLst>
              <a:ext uri="{FF2B5EF4-FFF2-40B4-BE49-F238E27FC236}">
                <a16:creationId xmlns:a16="http://schemas.microsoft.com/office/drawing/2014/main" id="{950F1D5C-68BA-A924-7601-BC738E0877E6}"/>
              </a:ext>
            </a:extLst>
          </p:cNvPr>
          <p:cNvPicPr>
            <a:picLocks noChangeAspect="1"/>
          </p:cNvPicPr>
          <p:nvPr/>
        </p:nvPicPr>
        <p:blipFill>
          <a:blip r:embed="rId3"/>
          <a:stretch>
            <a:fillRect/>
          </a:stretch>
        </p:blipFill>
        <p:spPr>
          <a:xfrm>
            <a:off x="4056304" y="1616883"/>
            <a:ext cx="3695050" cy="2727890"/>
          </a:xfrm>
          <a:prstGeom prst="rect">
            <a:avLst/>
          </a:prstGeom>
        </p:spPr>
      </p:pic>
      <p:pic>
        <p:nvPicPr>
          <p:cNvPr id="13" name="Picture 12">
            <a:extLst>
              <a:ext uri="{FF2B5EF4-FFF2-40B4-BE49-F238E27FC236}">
                <a16:creationId xmlns:a16="http://schemas.microsoft.com/office/drawing/2014/main" id="{B6B6B1E9-3F46-8B24-7788-4B29384BF838}"/>
              </a:ext>
            </a:extLst>
          </p:cNvPr>
          <p:cNvPicPr>
            <a:picLocks noChangeAspect="1"/>
          </p:cNvPicPr>
          <p:nvPr/>
        </p:nvPicPr>
        <p:blipFill>
          <a:blip r:embed="rId4"/>
          <a:stretch>
            <a:fillRect/>
          </a:stretch>
        </p:blipFill>
        <p:spPr>
          <a:xfrm>
            <a:off x="8059623" y="1580599"/>
            <a:ext cx="3667137" cy="2764174"/>
          </a:xfrm>
          <a:prstGeom prst="rect">
            <a:avLst/>
          </a:prstGeom>
        </p:spPr>
      </p:pic>
    </p:spTree>
    <p:extLst>
      <p:ext uri="{BB962C8B-B14F-4D97-AF65-F5344CB8AC3E}">
        <p14:creationId xmlns:p14="http://schemas.microsoft.com/office/powerpoint/2010/main" val="280853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5F716CF-D09E-72E8-1871-30666EB0D6D1}"/>
              </a:ext>
            </a:extLst>
          </p:cNvPr>
          <p:cNvSpPr>
            <a:spLocks noGrp="1"/>
          </p:cNvSpPr>
          <p:nvPr>
            <p:ph type="title"/>
          </p:nvPr>
        </p:nvSpPr>
        <p:spPr>
          <a:xfrm>
            <a:off x="648930" y="629266"/>
            <a:ext cx="6188190" cy="1622321"/>
          </a:xfrm>
        </p:spPr>
        <p:txBody>
          <a:bodyPr>
            <a:normAutofit/>
          </a:bodyPr>
          <a:lstStyle/>
          <a:p>
            <a:r>
              <a:rPr lang="en-IN" dirty="0">
                <a:solidFill>
                  <a:srgbClr val="EBEBEB"/>
                </a:solidFill>
              </a:rPr>
              <a:t>Correlations.</a:t>
            </a:r>
          </a:p>
        </p:txBody>
      </p:sp>
      <p:sp>
        <p:nvSpPr>
          <p:cNvPr id="6" name="Content Placeholder 5">
            <a:extLst>
              <a:ext uri="{FF2B5EF4-FFF2-40B4-BE49-F238E27FC236}">
                <a16:creationId xmlns:a16="http://schemas.microsoft.com/office/drawing/2014/main" id="{85DCBEDA-7F72-0249-8380-0B20F6B79F7B}"/>
              </a:ext>
            </a:extLst>
          </p:cNvPr>
          <p:cNvSpPr>
            <a:spLocks noGrp="1"/>
          </p:cNvSpPr>
          <p:nvPr>
            <p:ph idx="1"/>
          </p:nvPr>
        </p:nvSpPr>
        <p:spPr>
          <a:xfrm>
            <a:off x="648930" y="2438400"/>
            <a:ext cx="6188189" cy="3785419"/>
          </a:xfrm>
        </p:spPr>
        <p:txBody>
          <a:bodyPr>
            <a:normAutofit/>
          </a:bodyPr>
          <a:lstStyle/>
          <a:p>
            <a:pPr marL="0" indent="0">
              <a:lnSpc>
                <a:spcPct val="90000"/>
              </a:lnSpc>
              <a:buNone/>
            </a:pPr>
            <a:r>
              <a:rPr lang="en-IN" sz="1400" b="1" dirty="0">
                <a:solidFill>
                  <a:srgbClr val="FFFFFF"/>
                </a:solidFill>
              </a:rPr>
              <a:t>1) Correlation between Profit and selling price</a:t>
            </a:r>
          </a:p>
          <a:p>
            <a:pPr>
              <a:lnSpc>
                <a:spcPct val="90000"/>
              </a:lnSpc>
            </a:pPr>
            <a:r>
              <a:rPr lang="en-IN" sz="1400" dirty="0">
                <a:solidFill>
                  <a:srgbClr val="FFFFFF"/>
                </a:solidFill>
              </a:rPr>
              <a:t>As we can check that profit and selling price is highly correlated to each other. It is positively correlated to each other.</a:t>
            </a:r>
          </a:p>
          <a:p>
            <a:pPr>
              <a:lnSpc>
                <a:spcPct val="90000"/>
              </a:lnSpc>
            </a:pPr>
            <a:r>
              <a:rPr lang="en-IN" sz="1400" dirty="0">
                <a:solidFill>
                  <a:srgbClr val="FFFFFF"/>
                </a:solidFill>
              </a:rPr>
              <a:t>This means, higher the selling price higher will be the profit.</a:t>
            </a:r>
          </a:p>
          <a:p>
            <a:pPr>
              <a:lnSpc>
                <a:spcPct val="90000"/>
              </a:lnSpc>
            </a:pPr>
            <a:r>
              <a:rPr lang="en-IN" sz="1400" dirty="0">
                <a:solidFill>
                  <a:srgbClr val="FFFFFF"/>
                </a:solidFill>
              </a:rPr>
              <a:t>This individual is not impacted to profit other factors is also come in picture.</a:t>
            </a:r>
          </a:p>
          <a:p>
            <a:pPr marL="0" indent="0">
              <a:lnSpc>
                <a:spcPct val="90000"/>
              </a:lnSpc>
              <a:buNone/>
            </a:pPr>
            <a:r>
              <a:rPr lang="en-IN" sz="1400" b="1" dirty="0">
                <a:solidFill>
                  <a:srgbClr val="FFFFFF"/>
                </a:solidFill>
              </a:rPr>
              <a:t>2) Correlation between profit and on-road price.</a:t>
            </a:r>
          </a:p>
          <a:p>
            <a:pPr>
              <a:lnSpc>
                <a:spcPct val="90000"/>
              </a:lnSpc>
            </a:pPr>
            <a:r>
              <a:rPr lang="en-IN" sz="1400" dirty="0">
                <a:solidFill>
                  <a:srgbClr val="FFFFFF"/>
                </a:solidFill>
              </a:rPr>
              <a:t> Here we can see that even on road price is positively correlated to profit.</a:t>
            </a:r>
          </a:p>
          <a:p>
            <a:pPr>
              <a:lnSpc>
                <a:spcPct val="90000"/>
              </a:lnSpc>
            </a:pPr>
            <a:r>
              <a:rPr lang="en-IN" sz="1400" dirty="0">
                <a:solidFill>
                  <a:srgbClr val="FFFFFF"/>
                </a:solidFill>
              </a:rPr>
              <a:t>If higher the on road price the profit will increase accordingly.</a:t>
            </a:r>
          </a:p>
          <a:p>
            <a:pPr>
              <a:lnSpc>
                <a:spcPct val="90000"/>
              </a:lnSpc>
            </a:pPr>
            <a:r>
              <a:rPr lang="en-IN" sz="1400" dirty="0">
                <a:solidFill>
                  <a:srgbClr val="FFFFFF"/>
                </a:solidFill>
              </a:rPr>
              <a:t>If we can see the third figure the profit is scattered by cities.</a:t>
            </a:r>
          </a:p>
        </p:txBody>
      </p:sp>
      <p:sp>
        <p:nvSpPr>
          <p:cNvPr id="2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Picture 7" descr="Codes on papers">
            <a:extLst>
              <a:ext uri="{FF2B5EF4-FFF2-40B4-BE49-F238E27FC236}">
                <a16:creationId xmlns:a16="http://schemas.microsoft.com/office/drawing/2014/main" id="{9808F5DC-BE7B-DE4D-94BC-4CCDEDB6AA0C}"/>
              </a:ext>
            </a:extLst>
          </p:cNvPr>
          <p:cNvPicPr>
            <a:picLocks noChangeAspect="1"/>
          </p:cNvPicPr>
          <p:nvPr/>
        </p:nvPicPr>
        <p:blipFill>
          <a:blip r:embed="rId3"/>
          <a:srcRect l="27125" r="24566" b="-2"/>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980304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0">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79942A-FC83-C847-D317-9FE831F128CA}"/>
              </a:ext>
            </a:extLst>
          </p:cNvPr>
          <p:cNvSpPr>
            <a:spLocks noGrp="1"/>
          </p:cNvSpPr>
          <p:nvPr>
            <p:ph type="title"/>
          </p:nvPr>
        </p:nvSpPr>
        <p:spPr>
          <a:xfrm>
            <a:off x="4872012" y="1447800"/>
            <a:ext cx="5222325" cy="3329581"/>
          </a:xfrm>
        </p:spPr>
        <p:txBody>
          <a:bodyPr vert="horz" lIns="91440" tIns="45720" rIns="91440" bIns="45720" rtlCol="0" anchor="b">
            <a:normAutofit/>
          </a:bodyPr>
          <a:lstStyle/>
          <a:p>
            <a:r>
              <a:rPr lang="en-US" sz="7200" b="0" i="0" kern="1200">
                <a:solidFill>
                  <a:srgbClr val="EBEBEB"/>
                </a:solidFill>
                <a:latin typeface="+mj-lt"/>
                <a:ea typeface="+mj-ea"/>
                <a:cs typeface="+mj-cs"/>
              </a:rPr>
              <a:t>Regression analysis.</a:t>
            </a:r>
          </a:p>
        </p:txBody>
      </p:sp>
      <p:sp>
        <p:nvSpPr>
          <p:cNvPr id="23"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81964"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 name="Graphic 5" descr="Statistics">
            <a:extLst>
              <a:ext uri="{FF2B5EF4-FFF2-40B4-BE49-F238E27FC236}">
                <a16:creationId xmlns:a16="http://schemas.microsoft.com/office/drawing/2014/main" id="{9D1E8498-AC8F-67DB-09D1-3C58ED2C15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240" y="2074882"/>
            <a:ext cx="2936836" cy="2936836"/>
          </a:xfrm>
          <a:prstGeom prst="rect">
            <a:avLst/>
          </a:prstGeom>
          <a:effectLst/>
        </p:spPr>
      </p:pic>
    </p:spTree>
    <p:extLst>
      <p:ext uri="{BB962C8B-B14F-4D97-AF65-F5344CB8AC3E}">
        <p14:creationId xmlns:p14="http://schemas.microsoft.com/office/powerpoint/2010/main" val="160186973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7" name="Picture 16">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9" name="Oval 18">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1" name="Picture 20">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3" name="Picture 22">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5" name="Rectangle 24">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itle 6">
            <a:extLst>
              <a:ext uri="{FF2B5EF4-FFF2-40B4-BE49-F238E27FC236}">
                <a16:creationId xmlns:a16="http://schemas.microsoft.com/office/drawing/2014/main" id="{4A00EE89-8619-AB66-0AD9-25AC138D8E24}"/>
              </a:ext>
            </a:extLst>
          </p:cNvPr>
          <p:cNvSpPr>
            <a:spLocks noGrp="1"/>
          </p:cNvSpPr>
          <p:nvPr>
            <p:ph type="title"/>
          </p:nvPr>
        </p:nvSpPr>
        <p:spPr>
          <a:xfrm>
            <a:off x="646112" y="452718"/>
            <a:ext cx="4165580" cy="1400530"/>
          </a:xfrm>
        </p:spPr>
        <p:txBody>
          <a:bodyPr vert="horz" lIns="91440" tIns="45720" rIns="91440" bIns="45720" rtlCol="0" anchor="t">
            <a:normAutofit/>
          </a:bodyPr>
          <a:lstStyle/>
          <a:p>
            <a:pPr>
              <a:lnSpc>
                <a:spcPct val="90000"/>
              </a:lnSpc>
            </a:pPr>
            <a:r>
              <a:rPr lang="en-US" sz="3600"/>
              <a:t>Correlation profit on discount.</a:t>
            </a:r>
          </a:p>
        </p:txBody>
      </p:sp>
      <p:sp>
        <p:nvSpPr>
          <p:cNvPr id="27" name="Freeform: Shape 26">
            <a:extLst>
              <a:ext uri="{FF2B5EF4-FFF2-40B4-BE49-F238E27FC236}">
                <a16:creationId xmlns:a16="http://schemas.microsoft.com/office/drawing/2014/main" id="{7D9681AB-65CF-47E9-9FA3-7B05D6349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IN"/>
          </a:p>
        </p:txBody>
      </p:sp>
      <p:sp>
        <p:nvSpPr>
          <p:cNvPr id="29" name="Freeform 23">
            <a:extLst>
              <a:ext uri="{FF2B5EF4-FFF2-40B4-BE49-F238E27FC236}">
                <a16:creationId xmlns:a16="http://schemas.microsoft.com/office/drawing/2014/main" id="{8FCA736E-BDE3-4D4D-8D87-E9AE7925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 name="Picture 9">
            <a:extLst>
              <a:ext uri="{FF2B5EF4-FFF2-40B4-BE49-F238E27FC236}">
                <a16:creationId xmlns:a16="http://schemas.microsoft.com/office/drawing/2014/main" id="{541A28AC-DB3B-2DC7-F897-442DF130BECF}"/>
              </a:ext>
            </a:extLst>
          </p:cNvPr>
          <p:cNvPicPr>
            <a:picLocks noChangeAspect="1"/>
          </p:cNvPicPr>
          <p:nvPr/>
        </p:nvPicPr>
        <p:blipFill>
          <a:blip r:embed="rId7"/>
          <a:stretch>
            <a:fillRect/>
          </a:stretch>
        </p:blipFill>
        <p:spPr>
          <a:xfrm>
            <a:off x="6877520" y="647699"/>
            <a:ext cx="3883251" cy="2162555"/>
          </a:xfrm>
          <a:prstGeom prst="rect">
            <a:avLst/>
          </a:prstGeom>
          <a:effectLst/>
        </p:spPr>
      </p:pic>
      <p:sp>
        <p:nvSpPr>
          <p:cNvPr id="31" name="Rectangle 30">
            <a:extLst>
              <a:ext uri="{FF2B5EF4-FFF2-40B4-BE49-F238E27FC236}">
                <a16:creationId xmlns:a16="http://schemas.microsoft.com/office/drawing/2014/main" id="{129AA25D-1E7A-4074-BF68-D55A83B81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 name="Content Placeholder 7">
            <a:extLst>
              <a:ext uri="{FF2B5EF4-FFF2-40B4-BE49-F238E27FC236}">
                <a16:creationId xmlns:a16="http://schemas.microsoft.com/office/drawing/2014/main" id="{264D39BB-1E21-09BC-63B2-3C9D03A6034C}"/>
              </a:ext>
            </a:extLst>
          </p:cNvPr>
          <p:cNvSpPr>
            <a:spLocks noGrp="1"/>
          </p:cNvSpPr>
          <p:nvPr>
            <p:ph sz="half" idx="2"/>
          </p:nvPr>
        </p:nvSpPr>
        <p:spPr>
          <a:xfrm>
            <a:off x="646113" y="2052918"/>
            <a:ext cx="4165146" cy="4195481"/>
          </a:xfrm>
        </p:spPr>
        <p:txBody>
          <a:bodyPr vert="horz" lIns="91440" tIns="45720" rIns="91440" bIns="45720" rtlCol="0">
            <a:normAutofit/>
          </a:bodyPr>
          <a:lstStyle/>
          <a:p>
            <a:r>
              <a:rPr lang="en-US"/>
              <a:t>P-value : 2.47E-124</a:t>
            </a:r>
          </a:p>
          <a:p>
            <a:r>
              <a:rPr lang="en-US"/>
              <a:t>Coefficient: 0.91</a:t>
            </a:r>
          </a:p>
          <a:p>
            <a:r>
              <a:rPr lang="en-US"/>
              <a:t>As we can check the P-Value which is less than 0.05 which is significantly related but not affecting the profit that much.</a:t>
            </a:r>
          </a:p>
        </p:txBody>
      </p:sp>
      <p:pic>
        <p:nvPicPr>
          <p:cNvPr id="6" name="Content Placeholder 5">
            <a:extLst>
              <a:ext uri="{FF2B5EF4-FFF2-40B4-BE49-F238E27FC236}">
                <a16:creationId xmlns:a16="http://schemas.microsoft.com/office/drawing/2014/main" id="{C8BFCEBB-23B4-9EE2-A9C5-7F7E9DD1899E}"/>
              </a:ext>
            </a:extLst>
          </p:cNvPr>
          <p:cNvPicPr>
            <a:picLocks noGrp="1" noChangeAspect="1"/>
          </p:cNvPicPr>
          <p:nvPr>
            <p:ph sz="half" idx="1"/>
          </p:nvPr>
        </p:nvPicPr>
        <p:blipFill>
          <a:blip r:embed="rId8"/>
          <a:stretch>
            <a:fillRect/>
          </a:stretch>
        </p:blipFill>
        <p:spPr>
          <a:xfrm>
            <a:off x="6693111" y="3006197"/>
            <a:ext cx="4252069" cy="3242202"/>
          </a:xfrm>
          <a:prstGeom prst="rect">
            <a:avLst/>
          </a:prstGeom>
          <a:effectLst/>
        </p:spPr>
      </p:pic>
    </p:spTree>
    <p:extLst>
      <p:ext uri="{BB962C8B-B14F-4D97-AF65-F5344CB8AC3E}">
        <p14:creationId xmlns:p14="http://schemas.microsoft.com/office/powerpoint/2010/main" val="3396903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4" name="Picture 33">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5" name="Picture 34">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6" name="Rectangle 35">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F61187F-0599-56E8-0E7F-0039E1A4E443}"/>
              </a:ext>
            </a:extLst>
          </p:cNvPr>
          <p:cNvSpPr>
            <a:spLocks noGrp="1"/>
          </p:cNvSpPr>
          <p:nvPr>
            <p:ph type="title"/>
          </p:nvPr>
        </p:nvSpPr>
        <p:spPr>
          <a:xfrm>
            <a:off x="646112" y="452718"/>
            <a:ext cx="5629222" cy="1400530"/>
          </a:xfrm>
        </p:spPr>
        <p:txBody>
          <a:bodyPr vert="horz" lIns="91440" tIns="45720" rIns="91440" bIns="45720" rtlCol="0" anchor="t">
            <a:normAutofit/>
          </a:bodyPr>
          <a:lstStyle/>
          <a:p>
            <a:r>
              <a:rPr lang="en-US"/>
              <a:t>Correlation profit by selling price.</a:t>
            </a:r>
          </a:p>
        </p:txBody>
      </p:sp>
      <p:sp>
        <p:nvSpPr>
          <p:cNvPr id="37" name="Freeform: Shape 36">
            <a:extLst>
              <a:ext uri="{FF2B5EF4-FFF2-40B4-BE49-F238E27FC236}">
                <a16:creationId xmlns:a16="http://schemas.microsoft.com/office/drawing/2014/main" id="{B52D69C2-6C47-427C-AE60-582FE30B2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IN"/>
          </a:p>
        </p:txBody>
      </p:sp>
      <p:sp>
        <p:nvSpPr>
          <p:cNvPr id="38" name="Freeform 7">
            <a:extLst>
              <a:ext uri="{FF2B5EF4-FFF2-40B4-BE49-F238E27FC236}">
                <a16:creationId xmlns:a16="http://schemas.microsoft.com/office/drawing/2014/main" id="{E849FE61-12C4-4A06-A722-B545DE0C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Picture 7">
            <a:extLst>
              <a:ext uri="{FF2B5EF4-FFF2-40B4-BE49-F238E27FC236}">
                <a16:creationId xmlns:a16="http://schemas.microsoft.com/office/drawing/2014/main" id="{F721E9F6-3DB0-32E2-D4BF-14965CE95F60}"/>
              </a:ext>
            </a:extLst>
          </p:cNvPr>
          <p:cNvPicPr>
            <a:picLocks noChangeAspect="1"/>
          </p:cNvPicPr>
          <p:nvPr/>
        </p:nvPicPr>
        <p:blipFill>
          <a:blip r:embed="rId7"/>
          <a:stretch>
            <a:fillRect/>
          </a:stretch>
        </p:blipFill>
        <p:spPr>
          <a:xfrm>
            <a:off x="7563742" y="894716"/>
            <a:ext cx="3980139" cy="2189295"/>
          </a:xfrm>
          <a:prstGeom prst="rect">
            <a:avLst/>
          </a:prstGeom>
          <a:effectLst/>
        </p:spPr>
      </p:pic>
      <p:sp>
        <p:nvSpPr>
          <p:cNvPr id="39" name="Rectangle 38">
            <a:extLst>
              <a:ext uri="{FF2B5EF4-FFF2-40B4-BE49-F238E27FC236}">
                <a16:creationId xmlns:a16="http://schemas.microsoft.com/office/drawing/2014/main" id="{7FB12D8C-572F-4417-9FE1-D691A132F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Content Placeholder 3">
            <a:extLst>
              <a:ext uri="{FF2B5EF4-FFF2-40B4-BE49-F238E27FC236}">
                <a16:creationId xmlns:a16="http://schemas.microsoft.com/office/drawing/2014/main" id="{51EB1D1D-700C-8EAA-7B22-420BDF48CCBB}"/>
              </a:ext>
            </a:extLst>
          </p:cNvPr>
          <p:cNvSpPr>
            <a:spLocks noGrp="1"/>
          </p:cNvSpPr>
          <p:nvPr>
            <p:ph sz="half" idx="2"/>
          </p:nvPr>
        </p:nvSpPr>
        <p:spPr>
          <a:xfrm>
            <a:off x="646112" y="2052918"/>
            <a:ext cx="5628635" cy="4195481"/>
          </a:xfrm>
        </p:spPr>
        <p:txBody>
          <a:bodyPr vert="horz" lIns="91440" tIns="45720" rIns="91440" bIns="45720" rtlCol="0">
            <a:normAutofit/>
          </a:bodyPr>
          <a:lstStyle/>
          <a:p>
            <a:r>
              <a:rPr lang="en-US" dirty="0"/>
              <a:t>As we discussed earlier that selling price is positively correlated to profit.</a:t>
            </a:r>
          </a:p>
          <a:p>
            <a:r>
              <a:rPr lang="en-US" dirty="0"/>
              <a:t>If we check the regression part </a:t>
            </a:r>
          </a:p>
          <a:p>
            <a:r>
              <a:rPr lang="en-US" dirty="0"/>
              <a:t>Coefficient: 0.81</a:t>
            </a:r>
          </a:p>
          <a:p>
            <a:r>
              <a:rPr lang="en-US" dirty="0"/>
              <a:t>P-value- ~0</a:t>
            </a:r>
          </a:p>
          <a:p>
            <a:r>
              <a:rPr lang="en-US" dirty="0"/>
              <a:t>Selling price is strongly increasing the profit.</a:t>
            </a:r>
          </a:p>
        </p:txBody>
      </p:sp>
      <p:pic>
        <p:nvPicPr>
          <p:cNvPr id="6" name="Content Placeholder 5">
            <a:extLst>
              <a:ext uri="{FF2B5EF4-FFF2-40B4-BE49-F238E27FC236}">
                <a16:creationId xmlns:a16="http://schemas.microsoft.com/office/drawing/2014/main" id="{4098578C-6ADF-1C8C-D473-182C2B0F39FA}"/>
              </a:ext>
            </a:extLst>
          </p:cNvPr>
          <p:cNvPicPr>
            <a:picLocks noGrp="1" noChangeAspect="1"/>
          </p:cNvPicPr>
          <p:nvPr>
            <p:ph sz="half" idx="1"/>
          </p:nvPr>
        </p:nvPicPr>
        <p:blipFill>
          <a:blip r:embed="rId8"/>
          <a:stretch>
            <a:fillRect/>
          </a:stretch>
        </p:blipFill>
        <p:spPr>
          <a:xfrm>
            <a:off x="7780895" y="3526971"/>
            <a:ext cx="3545833" cy="2721427"/>
          </a:xfrm>
          <a:prstGeom prst="rect">
            <a:avLst/>
          </a:prstGeom>
          <a:effectLst/>
        </p:spPr>
      </p:pic>
    </p:spTree>
    <p:extLst>
      <p:ext uri="{BB962C8B-B14F-4D97-AF65-F5344CB8AC3E}">
        <p14:creationId xmlns:p14="http://schemas.microsoft.com/office/powerpoint/2010/main" val="3718998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5" name="Picture 1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7" name="Oval 1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9" name="Picture 1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1" name="Picture 2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3" name="Rectangle 2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9790077E-AD9D-0D0F-E1F2-E240DFB53A66}"/>
              </a:ext>
            </a:extLst>
          </p:cNvPr>
          <p:cNvSpPr>
            <a:spLocks noGrp="1"/>
          </p:cNvSpPr>
          <p:nvPr>
            <p:ph type="title"/>
          </p:nvPr>
        </p:nvSpPr>
        <p:spPr>
          <a:xfrm>
            <a:off x="646112" y="452718"/>
            <a:ext cx="4165580" cy="1400530"/>
          </a:xfrm>
        </p:spPr>
        <p:txBody>
          <a:bodyPr vert="horz" lIns="91440" tIns="45720" rIns="91440" bIns="45720" rtlCol="0" anchor="t">
            <a:normAutofit/>
          </a:bodyPr>
          <a:lstStyle/>
          <a:p>
            <a:pPr>
              <a:lnSpc>
                <a:spcPct val="90000"/>
              </a:lnSpc>
            </a:pPr>
            <a:r>
              <a:rPr lang="en-US" sz="3300"/>
              <a:t>Correlation on profit by cost price.</a:t>
            </a:r>
          </a:p>
        </p:txBody>
      </p:sp>
      <p:sp>
        <p:nvSpPr>
          <p:cNvPr id="25" name="Freeform: Shape 24">
            <a:extLst>
              <a:ext uri="{FF2B5EF4-FFF2-40B4-BE49-F238E27FC236}">
                <a16:creationId xmlns:a16="http://schemas.microsoft.com/office/drawing/2014/main" id="{7D9681AB-65CF-47E9-9FA3-7B05D6349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IN"/>
          </a:p>
        </p:txBody>
      </p:sp>
      <p:sp>
        <p:nvSpPr>
          <p:cNvPr id="27" name="Freeform 23">
            <a:extLst>
              <a:ext uri="{FF2B5EF4-FFF2-40B4-BE49-F238E27FC236}">
                <a16:creationId xmlns:a16="http://schemas.microsoft.com/office/drawing/2014/main" id="{8FCA736E-BDE3-4D4D-8D87-E9AE7925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Picture 7">
            <a:extLst>
              <a:ext uri="{FF2B5EF4-FFF2-40B4-BE49-F238E27FC236}">
                <a16:creationId xmlns:a16="http://schemas.microsoft.com/office/drawing/2014/main" id="{CF5B30A9-FD99-3D9D-63A5-758AE44EC2E0}"/>
              </a:ext>
            </a:extLst>
          </p:cNvPr>
          <p:cNvPicPr>
            <a:picLocks noChangeAspect="1"/>
          </p:cNvPicPr>
          <p:nvPr/>
        </p:nvPicPr>
        <p:blipFill>
          <a:blip r:embed="rId7"/>
          <a:stretch>
            <a:fillRect/>
          </a:stretch>
        </p:blipFill>
        <p:spPr>
          <a:xfrm>
            <a:off x="6879634" y="647699"/>
            <a:ext cx="3879023" cy="2162555"/>
          </a:xfrm>
          <a:prstGeom prst="rect">
            <a:avLst/>
          </a:prstGeom>
          <a:effectLst/>
        </p:spPr>
      </p:pic>
      <p:sp>
        <p:nvSpPr>
          <p:cNvPr id="29" name="Rectangle 28">
            <a:extLst>
              <a:ext uri="{FF2B5EF4-FFF2-40B4-BE49-F238E27FC236}">
                <a16:creationId xmlns:a16="http://schemas.microsoft.com/office/drawing/2014/main" id="{129AA25D-1E7A-4074-BF68-D55A83B81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Content Placeholder 3">
            <a:extLst>
              <a:ext uri="{FF2B5EF4-FFF2-40B4-BE49-F238E27FC236}">
                <a16:creationId xmlns:a16="http://schemas.microsoft.com/office/drawing/2014/main" id="{E032F5E2-5DA6-51AA-69D5-0CB637B7FC5F}"/>
              </a:ext>
            </a:extLst>
          </p:cNvPr>
          <p:cNvSpPr>
            <a:spLocks noGrp="1"/>
          </p:cNvSpPr>
          <p:nvPr>
            <p:ph sz="half" idx="2"/>
          </p:nvPr>
        </p:nvSpPr>
        <p:spPr>
          <a:xfrm>
            <a:off x="646113" y="2052918"/>
            <a:ext cx="4165146" cy="4195481"/>
          </a:xfrm>
        </p:spPr>
        <p:txBody>
          <a:bodyPr vert="horz" lIns="91440" tIns="45720" rIns="91440" bIns="45720" rtlCol="0">
            <a:normAutofit/>
          </a:bodyPr>
          <a:lstStyle/>
          <a:p>
            <a:r>
              <a:rPr lang="en-US"/>
              <a:t>P- Value= ~0</a:t>
            </a:r>
          </a:p>
          <a:p>
            <a:r>
              <a:rPr lang="en-US"/>
              <a:t>Coefficient: 0.99</a:t>
            </a:r>
          </a:p>
          <a:p>
            <a:r>
              <a:rPr lang="en-US"/>
              <a:t>Well, if we see the correlation it is closer to 1 so it is strongly correlated to the profit.</a:t>
            </a:r>
          </a:p>
          <a:p>
            <a:r>
              <a:rPr lang="en-US"/>
              <a:t>The p-value is less than 0.05, we it is significant to the profit column.</a:t>
            </a:r>
          </a:p>
          <a:p>
            <a:r>
              <a:rPr lang="en-US"/>
              <a:t>If there is increase in cost price eventually the profit will also increase, as it is positively correlated to each other.</a:t>
            </a:r>
          </a:p>
        </p:txBody>
      </p:sp>
      <p:pic>
        <p:nvPicPr>
          <p:cNvPr id="6" name="Content Placeholder 5">
            <a:extLst>
              <a:ext uri="{FF2B5EF4-FFF2-40B4-BE49-F238E27FC236}">
                <a16:creationId xmlns:a16="http://schemas.microsoft.com/office/drawing/2014/main" id="{7FA24190-BEFC-7D17-DA42-D4547C83FEBA}"/>
              </a:ext>
            </a:extLst>
          </p:cNvPr>
          <p:cNvPicPr>
            <a:picLocks noGrp="1" noChangeAspect="1"/>
          </p:cNvPicPr>
          <p:nvPr>
            <p:ph sz="half" idx="1"/>
          </p:nvPr>
        </p:nvPicPr>
        <p:blipFill>
          <a:blip r:embed="rId8"/>
          <a:stretch>
            <a:fillRect/>
          </a:stretch>
        </p:blipFill>
        <p:spPr>
          <a:xfrm>
            <a:off x="6693111" y="3006197"/>
            <a:ext cx="4252069" cy="3242202"/>
          </a:xfrm>
          <a:prstGeom prst="rect">
            <a:avLst/>
          </a:prstGeom>
          <a:effectLst/>
        </p:spPr>
      </p:pic>
    </p:spTree>
    <p:extLst>
      <p:ext uri="{BB962C8B-B14F-4D97-AF65-F5344CB8AC3E}">
        <p14:creationId xmlns:p14="http://schemas.microsoft.com/office/powerpoint/2010/main" val="3250895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D498-8830-ABFE-BFD8-3B49F334E82C}"/>
              </a:ext>
            </a:extLst>
          </p:cNvPr>
          <p:cNvSpPr>
            <a:spLocks noGrp="1"/>
          </p:cNvSpPr>
          <p:nvPr>
            <p:ph type="title"/>
          </p:nvPr>
        </p:nvSpPr>
        <p:spPr/>
        <p:txBody>
          <a:bodyPr/>
          <a:lstStyle/>
          <a:p>
            <a:r>
              <a:rPr lang="en-IN" dirty="0"/>
              <a:t>Correlation on profit by on-road price.</a:t>
            </a:r>
          </a:p>
        </p:txBody>
      </p:sp>
      <p:sp>
        <p:nvSpPr>
          <p:cNvPr id="3" name="Content Placeholder 2">
            <a:extLst>
              <a:ext uri="{FF2B5EF4-FFF2-40B4-BE49-F238E27FC236}">
                <a16:creationId xmlns:a16="http://schemas.microsoft.com/office/drawing/2014/main" id="{BAED6DA1-22C5-B6C0-59F9-C2B3B28515B2}"/>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597ED8BA-9142-AA26-3316-67029069BC34}"/>
              </a:ext>
            </a:extLst>
          </p:cNvPr>
          <p:cNvSpPr>
            <a:spLocks noGrp="1"/>
          </p:cNvSpPr>
          <p:nvPr>
            <p:ph sz="half" idx="2"/>
          </p:nvPr>
        </p:nvSpPr>
        <p:spPr/>
        <p:txBody>
          <a:bodyPr/>
          <a:lstStyle/>
          <a:p>
            <a:r>
              <a:rPr lang="en-IN" dirty="0"/>
              <a:t>The correlation analysis between profit and on-road price is positive.</a:t>
            </a:r>
          </a:p>
          <a:p>
            <a:r>
              <a:rPr lang="en-IN" dirty="0"/>
              <a:t>If on-road price increases profit is also increases and the P-value is also significant.</a:t>
            </a:r>
          </a:p>
          <a:p>
            <a:r>
              <a:rPr lang="en-IN" dirty="0"/>
              <a:t>This can consider the good impact on profit.</a:t>
            </a:r>
          </a:p>
        </p:txBody>
      </p:sp>
      <p:pic>
        <p:nvPicPr>
          <p:cNvPr id="6" name="Picture 5">
            <a:extLst>
              <a:ext uri="{FF2B5EF4-FFF2-40B4-BE49-F238E27FC236}">
                <a16:creationId xmlns:a16="http://schemas.microsoft.com/office/drawing/2014/main" id="{70AD26A5-225A-8899-E789-F1BD3DD92F07}"/>
              </a:ext>
            </a:extLst>
          </p:cNvPr>
          <p:cNvPicPr>
            <a:picLocks noChangeAspect="1"/>
          </p:cNvPicPr>
          <p:nvPr/>
        </p:nvPicPr>
        <p:blipFill>
          <a:blip r:embed="rId2"/>
          <a:stretch>
            <a:fillRect/>
          </a:stretch>
        </p:blipFill>
        <p:spPr>
          <a:xfrm>
            <a:off x="1011845" y="2056092"/>
            <a:ext cx="4565227" cy="2248374"/>
          </a:xfrm>
          <a:prstGeom prst="rect">
            <a:avLst/>
          </a:prstGeom>
        </p:spPr>
      </p:pic>
      <p:pic>
        <p:nvPicPr>
          <p:cNvPr id="8" name="Picture 7">
            <a:extLst>
              <a:ext uri="{FF2B5EF4-FFF2-40B4-BE49-F238E27FC236}">
                <a16:creationId xmlns:a16="http://schemas.microsoft.com/office/drawing/2014/main" id="{6234878D-DDCD-7658-D686-6E5ADD55EC63}"/>
              </a:ext>
            </a:extLst>
          </p:cNvPr>
          <p:cNvPicPr>
            <a:picLocks noChangeAspect="1"/>
          </p:cNvPicPr>
          <p:nvPr/>
        </p:nvPicPr>
        <p:blipFill>
          <a:blip r:embed="rId3"/>
          <a:stretch>
            <a:fillRect/>
          </a:stretch>
        </p:blipFill>
        <p:spPr>
          <a:xfrm>
            <a:off x="948470" y="4310694"/>
            <a:ext cx="4628602" cy="2017538"/>
          </a:xfrm>
          <a:prstGeom prst="rect">
            <a:avLst/>
          </a:prstGeom>
        </p:spPr>
      </p:pic>
    </p:spTree>
    <p:extLst>
      <p:ext uri="{BB962C8B-B14F-4D97-AF65-F5344CB8AC3E}">
        <p14:creationId xmlns:p14="http://schemas.microsoft.com/office/powerpoint/2010/main" val="1970287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87AC2A9-02BB-BAA9-5682-D34F2DA8F933}"/>
              </a:ext>
            </a:extLst>
          </p:cNvPr>
          <p:cNvSpPr>
            <a:spLocks noGrp="1"/>
          </p:cNvSpPr>
          <p:nvPr>
            <p:ph type="title"/>
          </p:nvPr>
        </p:nvSpPr>
        <p:spPr>
          <a:xfrm>
            <a:off x="648930" y="629266"/>
            <a:ext cx="6188190" cy="1622321"/>
          </a:xfrm>
        </p:spPr>
        <p:txBody>
          <a:bodyPr>
            <a:normAutofit/>
          </a:bodyPr>
          <a:lstStyle/>
          <a:p>
            <a:r>
              <a:rPr lang="en-IN" dirty="0">
                <a:solidFill>
                  <a:srgbClr val="EBEBEB"/>
                </a:solidFill>
              </a:rPr>
              <a:t>Key insights &amp; Conclusion.</a:t>
            </a:r>
          </a:p>
        </p:txBody>
      </p:sp>
      <p:sp>
        <p:nvSpPr>
          <p:cNvPr id="22" name="Content Placeholder 5">
            <a:extLst>
              <a:ext uri="{FF2B5EF4-FFF2-40B4-BE49-F238E27FC236}">
                <a16:creationId xmlns:a16="http://schemas.microsoft.com/office/drawing/2014/main" id="{0DFEC4B7-1DF5-1CEA-1F40-2CC41201421A}"/>
              </a:ext>
            </a:extLst>
          </p:cNvPr>
          <p:cNvSpPr>
            <a:spLocks noGrp="1"/>
          </p:cNvSpPr>
          <p:nvPr>
            <p:ph idx="1"/>
          </p:nvPr>
        </p:nvSpPr>
        <p:spPr>
          <a:xfrm>
            <a:off x="648930" y="2438400"/>
            <a:ext cx="6188189" cy="3785419"/>
          </a:xfrm>
        </p:spPr>
        <p:txBody>
          <a:bodyPr>
            <a:normAutofit/>
          </a:bodyPr>
          <a:lstStyle/>
          <a:p>
            <a:r>
              <a:rPr lang="en-IN">
                <a:solidFill>
                  <a:srgbClr val="FFFFFF"/>
                </a:solidFill>
              </a:rPr>
              <a:t>The regression model is highly accurate and statically significant. Cost price and selling price are the strongest predictors, while discount do not contribute meaningfully. The model can be reliably used for prediction and business decision making.</a:t>
            </a:r>
          </a:p>
          <a:p>
            <a:r>
              <a:rPr lang="en-IN">
                <a:solidFill>
                  <a:srgbClr val="FFFFFF"/>
                </a:solidFill>
              </a:rPr>
              <a:t>Cost price, selling price &amp; on-road price are primary drivers.</a:t>
            </a:r>
          </a:p>
        </p:txBody>
      </p:sp>
      <p:sp>
        <p:nvSpPr>
          <p:cNvPr id="14"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Picture 7" descr="Speedometer">
            <a:extLst>
              <a:ext uri="{FF2B5EF4-FFF2-40B4-BE49-F238E27FC236}">
                <a16:creationId xmlns:a16="http://schemas.microsoft.com/office/drawing/2014/main" id="{040BDC61-5194-33AE-8747-DAC624685398}"/>
              </a:ext>
            </a:extLst>
          </p:cNvPr>
          <p:cNvPicPr>
            <a:picLocks noChangeAspect="1"/>
          </p:cNvPicPr>
          <p:nvPr/>
        </p:nvPicPr>
        <p:blipFill>
          <a:blip r:embed="rId3"/>
          <a:srcRect l="28601" r="26347" b="-1"/>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28818183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162</TotalTime>
  <Words>1068</Words>
  <Application>Microsoft Office PowerPoint</Application>
  <PresentationFormat>Widescreen</PresentationFormat>
  <Paragraphs>107</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Century Gothic</vt:lpstr>
      <vt:lpstr>Wingdings 3</vt:lpstr>
      <vt:lpstr>Ion</vt:lpstr>
      <vt:lpstr>Motorcycle sales analysis.</vt:lpstr>
      <vt:lpstr>Contents</vt:lpstr>
      <vt:lpstr>Introduction.</vt:lpstr>
      <vt:lpstr>Data description</vt:lpstr>
      <vt:lpstr>Data cleaning and preparation.</vt:lpstr>
      <vt:lpstr>Exploratory data analysis.</vt:lpstr>
      <vt:lpstr>Price Distribution.</vt:lpstr>
      <vt:lpstr>Brand Count.</vt:lpstr>
      <vt:lpstr>Category of bike on demand.</vt:lpstr>
      <vt:lpstr>Selling price and on –road price according to brand.</vt:lpstr>
      <vt:lpstr>Profit by city.</vt:lpstr>
      <vt:lpstr>Correlation.</vt:lpstr>
      <vt:lpstr>Correlations.</vt:lpstr>
      <vt:lpstr>Regression analysis.</vt:lpstr>
      <vt:lpstr>Correlation profit on discount.</vt:lpstr>
      <vt:lpstr>Correlation profit by selling price.</vt:lpstr>
      <vt:lpstr>Correlation on profit by cost price.</vt:lpstr>
      <vt:lpstr>Correlation on profit by on-road price.</vt:lpstr>
      <vt:lpstr>Key insights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Darshana Pawar</dc:creator>
  <cp:lastModifiedBy>Darshana Pawar</cp:lastModifiedBy>
  <cp:revision>1</cp:revision>
  <dcterms:created xsi:type="dcterms:W3CDTF">2026-01-26T00:20:43Z</dcterms:created>
  <dcterms:modified xsi:type="dcterms:W3CDTF">2026-01-26T03:02:55Z</dcterms:modified>
</cp:coreProperties>
</file>