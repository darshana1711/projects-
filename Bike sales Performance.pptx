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0" r:id="rId4"/>
  </p:sldMasterIdLst>
  <p:notesMasterIdLst>
    <p:notesMasterId r:id="rId16"/>
  </p:notesMasterIdLst>
  <p:sldIdLst>
    <p:sldId id="299" r:id="rId5"/>
    <p:sldId id="300" r:id="rId6"/>
    <p:sldId id="301" r:id="rId7"/>
    <p:sldId id="302" r:id="rId8"/>
    <p:sldId id="303" r:id="rId9"/>
    <p:sldId id="304" r:id="rId10"/>
    <p:sldId id="305" r:id="rId11"/>
    <p:sldId id="306" r:id="rId12"/>
    <p:sldId id="307" r:id="rId13"/>
    <p:sldId id="308" r:id="rId14"/>
    <p:sldId id="30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E72C39-0751-48C6-8E3D-4D0D3EB9C7CD}">
          <p14:sldIdLst>
            <p14:sldId id="299"/>
            <p14:sldId id="300"/>
            <p14:sldId id="301"/>
            <p14:sldId id="302"/>
            <p14:sldId id="303"/>
            <p14:sldId id="304"/>
            <p14:sldId id="305"/>
            <p14:sldId id="306"/>
            <p14:sldId id="307"/>
            <p14:sldId id="308"/>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7C9AAB-2B14-466C-A0B0-B12CC139BB50}"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CF242594-E5E7-4B48-9F58-412604734771}">
      <dgm:prSet/>
      <dgm:spPr/>
      <dgm:t>
        <a:bodyPr/>
        <a:lstStyle/>
        <a:p>
          <a:r>
            <a:rPr lang="en-IN"/>
            <a:t>Contents:</a:t>
          </a:r>
          <a:endParaRPr lang="en-US"/>
        </a:p>
      </dgm:t>
    </dgm:pt>
    <dgm:pt modelId="{9D16E9C3-5858-444E-B9EE-8544B5C4F8E1}" type="parTrans" cxnId="{B1572FBD-7051-41C2-9670-43E5AE3BC98F}">
      <dgm:prSet/>
      <dgm:spPr/>
      <dgm:t>
        <a:bodyPr/>
        <a:lstStyle/>
        <a:p>
          <a:endParaRPr lang="en-US"/>
        </a:p>
      </dgm:t>
    </dgm:pt>
    <dgm:pt modelId="{E300F5DF-9B39-4B1C-8BF7-83F3FBA3DB0B}" type="sibTrans" cxnId="{B1572FBD-7051-41C2-9670-43E5AE3BC98F}">
      <dgm:prSet/>
      <dgm:spPr/>
      <dgm:t>
        <a:bodyPr/>
        <a:lstStyle/>
        <a:p>
          <a:endParaRPr lang="en-US"/>
        </a:p>
      </dgm:t>
    </dgm:pt>
    <dgm:pt modelId="{49901AEF-4699-4DD8-9FBF-D0B2FB1FEBA0}">
      <dgm:prSet/>
      <dgm:spPr/>
      <dgm:t>
        <a:bodyPr/>
        <a:lstStyle/>
        <a:p>
          <a:r>
            <a:rPr lang="en-IN"/>
            <a:t>1). Introduction</a:t>
          </a:r>
          <a:endParaRPr lang="en-US"/>
        </a:p>
      </dgm:t>
    </dgm:pt>
    <dgm:pt modelId="{371028C8-F868-4A5B-BC1C-8E3CEB1AB9AF}" type="parTrans" cxnId="{F3FA9785-0D32-4E25-88F3-FBEBEC8FC2EF}">
      <dgm:prSet/>
      <dgm:spPr/>
      <dgm:t>
        <a:bodyPr/>
        <a:lstStyle/>
        <a:p>
          <a:endParaRPr lang="en-US"/>
        </a:p>
      </dgm:t>
    </dgm:pt>
    <dgm:pt modelId="{EF947870-F0C4-439B-B84D-B9EB396B9AC9}" type="sibTrans" cxnId="{F3FA9785-0D32-4E25-88F3-FBEBEC8FC2EF}">
      <dgm:prSet/>
      <dgm:spPr/>
      <dgm:t>
        <a:bodyPr/>
        <a:lstStyle/>
        <a:p>
          <a:endParaRPr lang="en-US"/>
        </a:p>
      </dgm:t>
    </dgm:pt>
    <dgm:pt modelId="{7FFA61FB-DDB7-4DF0-9DAF-05F11C418616}">
      <dgm:prSet/>
      <dgm:spPr/>
      <dgm:t>
        <a:bodyPr/>
        <a:lstStyle/>
        <a:p>
          <a:r>
            <a:rPr lang="en-IN"/>
            <a:t>2). Project Overview</a:t>
          </a:r>
          <a:endParaRPr lang="en-US"/>
        </a:p>
      </dgm:t>
    </dgm:pt>
    <dgm:pt modelId="{A1219C11-D04C-499F-8124-5805A38EF55E}" type="parTrans" cxnId="{792FF63D-E290-443A-89F0-7C38D4B5716F}">
      <dgm:prSet/>
      <dgm:spPr/>
      <dgm:t>
        <a:bodyPr/>
        <a:lstStyle/>
        <a:p>
          <a:endParaRPr lang="en-US"/>
        </a:p>
      </dgm:t>
    </dgm:pt>
    <dgm:pt modelId="{63AEFBD0-FC2F-490E-BBEA-7B475172B728}" type="sibTrans" cxnId="{792FF63D-E290-443A-89F0-7C38D4B5716F}">
      <dgm:prSet/>
      <dgm:spPr/>
      <dgm:t>
        <a:bodyPr/>
        <a:lstStyle/>
        <a:p>
          <a:endParaRPr lang="en-US"/>
        </a:p>
      </dgm:t>
    </dgm:pt>
    <dgm:pt modelId="{2DF22B0C-B2B5-41E3-827F-76A33EF2A00A}">
      <dgm:prSet/>
      <dgm:spPr/>
      <dgm:t>
        <a:bodyPr/>
        <a:lstStyle/>
        <a:p>
          <a:r>
            <a:rPr lang="en-IN"/>
            <a:t>3). Data Description</a:t>
          </a:r>
          <a:endParaRPr lang="en-US"/>
        </a:p>
      </dgm:t>
    </dgm:pt>
    <dgm:pt modelId="{2E68C1C6-272B-46E0-BE8A-E9B6B7F5EE2B}" type="parTrans" cxnId="{7A16800F-60CA-4553-8BF9-4D0124943E50}">
      <dgm:prSet/>
      <dgm:spPr/>
      <dgm:t>
        <a:bodyPr/>
        <a:lstStyle/>
        <a:p>
          <a:endParaRPr lang="en-US"/>
        </a:p>
      </dgm:t>
    </dgm:pt>
    <dgm:pt modelId="{1EAABE81-9844-41A1-9C4D-95813D97B4A4}" type="sibTrans" cxnId="{7A16800F-60CA-4553-8BF9-4D0124943E50}">
      <dgm:prSet/>
      <dgm:spPr/>
      <dgm:t>
        <a:bodyPr/>
        <a:lstStyle/>
        <a:p>
          <a:endParaRPr lang="en-US"/>
        </a:p>
      </dgm:t>
    </dgm:pt>
    <dgm:pt modelId="{AFA6D072-2ECC-46AC-B586-19A0B1AC632A}">
      <dgm:prSet/>
      <dgm:spPr/>
      <dgm:t>
        <a:bodyPr/>
        <a:lstStyle/>
        <a:p>
          <a:r>
            <a:rPr lang="en-IN" dirty="0"/>
            <a:t>4). Dashboard design and KPI</a:t>
          </a:r>
          <a:endParaRPr lang="en-US" dirty="0"/>
        </a:p>
      </dgm:t>
    </dgm:pt>
    <dgm:pt modelId="{5D6C70E8-145C-4FF9-9BF1-9E1B84E11FE9}" type="parTrans" cxnId="{77DEAA67-6191-4628-A50B-65D0C8D5680E}">
      <dgm:prSet/>
      <dgm:spPr/>
      <dgm:t>
        <a:bodyPr/>
        <a:lstStyle/>
        <a:p>
          <a:endParaRPr lang="en-US"/>
        </a:p>
      </dgm:t>
    </dgm:pt>
    <dgm:pt modelId="{79F1EB33-AF8E-4DA9-922D-816B482984F0}" type="sibTrans" cxnId="{77DEAA67-6191-4628-A50B-65D0C8D5680E}">
      <dgm:prSet/>
      <dgm:spPr/>
      <dgm:t>
        <a:bodyPr/>
        <a:lstStyle/>
        <a:p>
          <a:endParaRPr lang="en-US"/>
        </a:p>
      </dgm:t>
    </dgm:pt>
    <dgm:pt modelId="{8D1198E6-AA49-4D3D-B97A-AA6044A903D8}">
      <dgm:prSet/>
      <dgm:spPr/>
      <dgm:t>
        <a:bodyPr/>
        <a:lstStyle/>
        <a:p>
          <a:r>
            <a:rPr lang="en-IN" dirty="0"/>
            <a:t>5). Sales Analysis</a:t>
          </a:r>
          <a:endParaRPr lang="en-US" dirty="0"/>
        </a:p>
      </dgm:t>
    </dgm:pt>
    <dgm:pt modelId="{7BDDB1DD-81F4-4F5B-BA1A-D58E1AE8650A}" type="parTrans" cxnId="{2A044BF7-B8BD-4E27-9700-6261B741109C}">
      <dgm:prSet/>
      <dgm:spPr/>
      <dgm:t>
        <a:bodyPr/>
        <a:lstStyle/>
        <a:p>
          <a:endParaRPr lang="en-US"/>
        </a:p>
      </dgm:t>
    </dgm:pt>
    <dgm:pt modelId="{C07281EC-0741-41E5-B5E2-338083351A23}" type="sibTrans" cxnId="{2A044BF7-B8BD-4E27-9700-6261B741109C}">
      <dgm:prSet/>
      <dgm:spPr/>
      <dgm:t>
        <a:bodyPr/>
        <a:lstStyle/>
        <a:p>
          <a:endParaRPr lang="en-US"/>
        </a:p>
      </dgm:t>
    </dgm:pt>
    <dgm:pt modelId="{C49D5888-7DCF-4020-94AB-30D445CD02AB}">
      <dgm:prSet/>
      <dgm:spPr/>
      <dgm:t>
        <a:bodyPr/>
        <a:lstStyle/>
        <a:p>
          <a:r>
            <a:rPr lang="en-IN"/>
            <a:t>6) Key Insights and findings</a:t>
          </a:r>
          <a:endParaRPr lang="en-US"/>
        </a:p>
      </dgm:t>
    </dgm:pt>
    <dgm:pt modelId="{A3DDCC17-23A9-4B4B-AF40-438AB96510BC}" type="parTrans" cxnId="{81924BBD-D5A3-4F46-9D18-32104C971D36}">
      <dgm:prSet/>
      <dgm:spPr/>
      <dgm:t>
        <a:bodyPr/>
        <a:lstStyle/>
        <a:p>
          <a:endParaRPr lang="en-US"/>
        </a:p>
      </dgm:t>
    </dgm:pt>
    <dgm:pt modelId="{F0610F92-2E42-48D1-96D9-F09420BA48EE}" type="sibTrans" cxnId="{81924BBD-D5A3-4F46-9D18-32104C971D36}">
      <dgm:prSet/>
      <dgm:spPr/>
      <dgm:t>
        <a:bodyPr/>
        <a:lstStyle/>
        <a:p>
          <a:endParaRPr lang="en-US"/>
        </a:p>
      </dgm:t>
    </dgm:pt>
    <dgm:pt modelId="{38934A0C-6F65-4E5A-AE06-5104EA2ED9CD}" type="pres">
      <dgm:prSet presAssocID="{D87C9AAB-2B14-466C-A0B0-B12CC139BB50}" presName="vert0" presStyleCnt="0">
        <dgm:presLayoutVars>
          <dgm:dir/>
          <dgm:animOne val="branch"/>
          <dgm:animLvl val="lvl"/>
        </dgm:presLayoutVars>
      </dgm:prSet>
      <dgm:spPr/>
    </dgm:pt>
    <dgm:pt modelId="{D3FD7B07-1439-4242-8065-9C2647DF2360}" type="pres">
      <dgm:prSet presAssocID="{CF242594-E5E7-4B48-9F58-412604734771}" presName="thickLine" presStyleLbl="alignNode1" presStyleIdx="0" presStyleCnt="7"/>
      <dgm:spPr/>
    </dgm:pt>
    <dgm:pt modelId="{A2690D21-9485-4A0F-BB5E-9795DA1EB6EC}" type="pres">
      <dgm:prSet presAssocID="{CF242594-E5E7-4B48-9F58-412604734771}" presName="horz1" presStyleCnt="0"/>
      <dgm:spPr/>
    </dgm:pt>
    <dgm:pt modelId="{7D14A9DF-04F7-4F33-8F50-C3B5FBBE81C0}" type="pres">
      <dgm:prSet presAssocID="{CF242594-E5E7-4B48-9F58-412604734771}" presName="tx1" presStyleLbl="revTx" presStyleIdx="0" presStyleCnt="7"/>
      <dgm:spPr/>
    </dgm:pt>
    <dgm:pt modelId="{91C0E090-57F6-40E5-A2D8-5CC28D6CC464}" type="pres">
      <dgm:prSet presAssocID="{CF242594-E5E7-4B48-9F58-412604734771}" presName="vert1" presStyleCnt="0"/>
      <dgm:spPr/>
    </dgm:pt>
    <dgm:pt modelId="{3DFBE526-2BEA-4ABA-BE6A-EA649064B32B}" type="pres">
      <dgm:prSet presAssocID="{49901AEF-4699-4DD8-9FBF-D0B2FB1FEBA0}" presName="thickLine" presStyleLbl="alignNode1" presStyleIdx="1" presStyleCnt="7"/>
      <dgm:spPr/>
    </dgm:pt>
    <dgm:pt modelId="{8CDD9331-2A35-4461-897F-40629E9889C2}" type="pres">
      <dgm:prSet presAssocID="{49901AEF-4699-4DD8-9FBF-D0B2FB1FEBA0}" presName="horz1" presStyleCnt="0"/>
      <dgm:spPr/>
    </dgm:pt>
    <dgm:pt modelId="{3A20BA00-0975-4977-9A2C-A56A906615D0}" type="pres">
      <dgm:prSet presAssocID="{49901AEF-4699-4DD8-9FBF-D0B2FB1FEBA0}" presName="tx1" presStyleLbl="revTx" presStyleIdx="1" presStyleCnt="7"/>
      <dgm:spPr/>
    </dgm:pt>
    <dgm:pt modelId="{DB0B99AE-B7DF-4780-9F5C-B3F5AB2FB050}" type="pres">
      <dgm:prSet presAssocID="{49901AEF-4699-4DD8-9FBF-D0B2FB1FEBA0}" presName="vert1" presStyleCnt="0"/>
      <dgm:spPr/>
    </dgm:pt>
    <dgm:pt modelId="{478711D0-21E4-4A4F-8484-586B37AB7A06}" type="pres">
      <dgm:prSet presAssocID="{7FFA61FB-DDB7-4DF0-9DAF-05F11C418616}" presName="thickLine" presStyleLbl="alignNode1" presStyleIdx="2" presStyleCnt="7"/>
      <dgm:spPr/>
    </dgm:pt>
    <dgm:pt modelId="{8EDEC994-30DD-4150-ADFF-15D4EFB0759F}" type="pres">
      <dgm:prSet presAssocID="{7FFA61FB-DDB7-4DF0-9DAF-05F11C418616}" presName="horz1" presStyleCnt="0"/>
      <dgm:spPr/>
    </dgm:pt>
    <dgm:pt modelId="{14EE756E-176C-471C-AA94-6B5CF4CC45B3}" type="pres">
      <dgm:prSet presAssocID="{7FFA61FB-DDB7-4DF0-9DAF-05F11C418616}" presName="tx1" presStyleLbl="revTx" presStyleIdx="2" presStyleCnt="7"/>
      <dgm:spPr/>
    </dgm:pt>
    <dgm:pt modelId="{C4D154FC-0864-4D59-96D4-9A1E570078F5}" type="pres">
      <dgm:prSet presAssocID="{7FFA61FB-DDB7-4DF0-9DAF-05F11C418616}" presName="vert1" presStyleCnt="0"/>
      <dgm:spPr/>
    </dgm:pt>
    <dgm:pt modelId="{485C8591-4F5E-40E0-BBEF-90585B3A12DE}" type="pres">
      <dgm:prSet presAssocID="{2DF22B0C-B2B5-41E3-827F-76A33EF2A00A}" presName="thickLine" presStyleLbl="alignNode1" presStyleIdx="3" presStyleCnt="7"/>
      <dgm:spPr/>
    </dgm:pt>
    <dgm:pt modelId="{9A7D3F61-1986-4C59-AA3F-2C007671BDA7}" type="pres">
      <dgm:prSet presAssocID="{2DF22B0C-B2B5-41E3-827F-76A33EF2A00A}" presName="horz1" presStyleCnt="0"/>
      <dgm:spPr/>
    </dgm:pt>
    <dgm:pt modelId="{DB2E32A4-B750-4922-BD88-7A4B1D0AE277}" type="pres">
      <dgm:prSet presAssocID="{2DF22B0C-B2B5-41E3-827F-76A33EF2A00A}" presName="tx1" presStyleLbl="revTx" presStyleIdx="3" presStyleCnt="7"/>
      <dgm:spPr/>
    </dgm:pt>
    <dgm:pt modelId="{562D9FB5-19DB-4C06-B3CD-B89F7905E691}" type="pres">
      <dgm:prSet presAssocID="{2DF22B0C-B2B5-41E3-827F-76A33EF2A00A}" presName="vert1" presStyleCnt="0"/>
      <dgm:spPr/>
    </dgm:pt>
    <dgm:pt modelId="{505C49A6-0EF9-473F-8E3C-367CBE74C295}" type="pres">
      <dgm:prSet presAssocID="{AFA6D072-2ECC-46AC-B586-19A0B1AC632A}" presName="thickLine" presStyleLbl="alignNode1" presStyleIdx="4" presStyleCnt="7"/>
      <dgm:spPr/>
    </dgm:pt>
    <dgm:pt modelId="{5B40D9E6-ECD3-4EC5-AC21-822ED17EF59B}" type="pres">
      <dgm:prSet presAssocID="{AFA6D072-2ECC-46AC-B586-19A0B1AC632A}" presName="horz1" presStyleCnt="0"/>
      <dgm:spPr/>
    </dgm:pt>
    <dgm:pt modelId="{8C6F9443-C2AE-48EC-AD4B-921D1A509761}" type="pres">
      <dgm:prSet presAssocID="{AFA6D072-2ECC-46AC-B586-19A0B1AC632A}" presName="tx1" presStyleLbl="revTx" presStyleIdx="4" presStyleCnt="7"/>
      <dgm:spPr/>
    </dgm:pt>
    <dgm:pt modelId="{860B2453-24B4-4FDD-ACFC-EE10600B95D4}" type="pres">
      <dgm:prSet presAssocID="{AFA6D072-2ECC-46AC-B586-19A0B1AC632A}" presName="vert1" presStyleCnt="0"/>
      <dgm:spPr/>
    </dgm:pt>
    <dgm:pt modelId="{C1C88FB7-44F5-465C-BAA2-98B3832EE81E}" type="pres">
      <dgm:prSet presAssocID="{8D1198E6-AA49-4D3D-B97A-AA6044A903D8}" presName="thickLine" presStyleLbl="alignNode1" presStyleIdx="5" presStyleCnt="7"/>
      <dgm:spPr/>
    </dgm:pt>
    <dgm:pt modelId="{3FAA8793-3B97-486B-BA0E-26E240899732}" type="pres">
      <dgm:prSet presAssocID="{8D1198E6-AA49-4D3D-B97A-AA6044A903D8}" presName="horz1" presStyleCnt="0"/>
      <dgm:spPr/>
    </dgm:pt>
    <dgm:pt modelId="{37366B0E-64F5-47AC-8851-209D82527243}" type="pres">
      <dgm:prSet presAssocID="{8D1198E6-AA49-4D3D-B97A-AA6044A903D8}" presName="tx1" presStyleLbl="revTx" presStyleIdx="5" presStyleCnt="7"/>
      <dgm:spPr/>
    </dgm:pt>
    <dgm:pt modelId="{8A3111CA-ED8A-43BC-ACDF-532BECA9BC05}" type="pres">
      <dgm:prSet presAssocID="{8D1198E6-AA49-4D3D-B97A-AA6044A903D8}" presName="vert1" presStyleCnt="0"/>
      <dgm:spPr/>
    </dgm:pt>
    <dgm:pt modelId="{5F870256-76DD-49FA-85CA-10626B26E4BA}" type="pres">
      <dgm:prSet presAssocID="{C49D5888-7DCF-4020-94AB-30D445CD02AB}" presName="thickLine" presStyleLbl="alignNode1" presStyleIdx="6" presStyleCnt="7"/>
      <dgm:spPr/>
    </dgm:pt>
    <dgm:pt modelId="{A4D5449F-B93F-499A-A684-27680970DF36}" type="pres">
      <dgm:prSet presAssocID="{C49D5888-7DCF-4020-94AB-30D445CD02AB}" presName="horz1" presStyleCnt="0"/>
      <dgm:spPr/>
    </dgm:pt>
    <dgm:pt modelId="{CDB74E2B-92C8-48D4-B8E2-70B50D3091E7}" type="pres">
      <dgm:prSet presAssocID="{C49D5888-7DCF-4020-94AB-30D445CD02AB}" presName="tx1" presStyleLbl="revTx" presStyleIdx="6" presStyleCnt="7"/>
      <dgm:spPr/>
    </dgm:pt>
    <dgm:pt modelId="{46E85471-7960-4276-9A23-E33D94E71258}" type="pres">
      <dgm:prSet presAssocID="{C49D5888-7DCF-4020-94AB-30D445CD02AB}" presName="vert1" presStyleCnt="0"/>
      <dgm:spPr/>
    </dgm:pt>
  </dgm:ptLst>
  <dgm:cxnLst>
    <dgm:cxn modelId="{7A16800F-60CA-4553-8BF9-4D0124943E50}" srcId="{D87C9AAB-2B14-466C-A0B0-B12CC139BB50}" destId="{2DF22B0C-B2B5-41E3-827F-76A33EF2A00A}" srcOrd="3" destOrd="0" parTransId="{2E68C1C6-272B-46E0-BE8A-E9B6B7F5EE2B}" sibTransId="{1EAABE81-9844-41A1-9C4D-95813D97B4A4}"/>
    <dgm:cxn modelId="{10A07F21-783B-4B5F-B819-C57418D967D3}" type="presOf" srcId="{CF242594-E5E7-4B48-9F58-412604734771}" destId="{7D14A9DF-04F7-4F33-8F50-C3B5FBBE81C0}" srcOrd="0" destOrd="0" presId="urn:microsoft.com/office/officeart/2008/layout/LinedList"/>
    <dgm:cxn modelId="{792FF63D-E290-443A-89F0-7C38D4B5716F}" srcId="{D87C9AAB-2B14-466C-A0B0-B12CC139BB50}" destId="{7FFA61FB-DDB7-4DF0-9DAF-05F11C418616}" srcOrd="2" destOrd="0" parTransId="{A1219C11-D04C-499F-8124-5805A38EF55E}" sibTransId="{63AEFBD0-FC2F-490E-BBEA-7B475172B728}"/>
    <dgm:cxn modelId="{05F82F41-F04B-49CA-BDEF-F5B9055776FC}" type="presOf" srcId="{8D1198E6-AA49-4D3D-B97A-AA6044A903D8}" destId="{37366B0E-64F5-47AC-8851-209D82527243}" srcOrd="0" destOrd="0" presId="urn:microsoft.com/office/officeart/2008/layout/LinedList"/>
    <dgm:cxn modelId="{77DEAA67-6191-4628-A50B-65D0C8D5680E}" srcId="{D87C9AAB-2B14-466C-A0B0-B12CC139BB50}" destId="{AFA6D072-2ECC-46AC-B586-19A0B1AC632A}" srcOrd="4" destOrd="0" parTransId="{5D6C70E8-145C-4FF9-9BF1-9E1B84E11FE9}" sibTransId="{79F1EB33-AF8E-4DA9-922D-816B482984F0}"/>
    <dgm:cxn modelId="{DBED2677-7BF1-4EAA-BA36-010B286399AE}" type="presOf" srcId="{49901AEF-4699-4DD8-9FBF-D0B2FB1FEBA0}" destId="{3A20BA00-0975-4977-9A2C-A56A906615D0}" srcOrd="0" destOrd="0" presId="urn:microsoft.com/office/officeart/2008/layout/LinedList"/>
    <dgm:cxn modelId="{F3FA9785-0D32-4E25-88F3-FBEBEC8FC2EF}" srcId="{D87C9AAB-2B14-466C-A0B0-B12CC139BB50}" destId="{49901AEF-4699-4DD8-9FBF-D0B2FB1FEBA0}" srcOrd="1" destOrd="0" parTransId="{371028C8-F868-4A5B-BC1C-8E3CEB1AB9AF}" sibTransId="{EF947870-F0C4-439B-B84D-B9EB396B9AC9}"/>
    <dgm:cxn modelId="{9AE3CA8A-5AA9-4E5B-A532-E7938BACA6BE}" type="presOf" srcId="{AFA6D072-2ECC-46AC-B586-19A0B1AC632A}" destId="{8C6F9443-C2AE-48EC-AD4B-921D1A509761}" srcOrd="0" destOrd="0" presId="urn:microsoft.com/office/officeart/2008/layout/LinedList"/>
    <dgm:cxn modelId="{CD3734A7-0424-40E9-AA01-D799020313B5}" type="presOf" srcId="{7FFA61FB-DDB7-4DF0-9DAF-05F11C418616}" destId="{14EE756E-176C-471C-AA94-6B5CF4CC45B3}" srcOrd="0" destOrd="0" presId="urn:microsoft.com/office/officeart/2008/layout/LinedList"/>
    <dgm:cxn modelId="{C81F55AC-F8D4-4EC8-B315-4E6B31AB30C2}" type="presOf" srcId="{C49D5888-7DCF-4020-94AB-30D445CD02AB}" destId="{CDB74E2B-92C8-48D4-B8E2-70B50D3091E7}" srcOrd="0" destOrd="0" presId="urn:microsoft.com/office/officeart/2008/layout/LinedList"/>
    <dgm:cxn modelId="{B1572FBD-7051-41C2-9670-43E5AE3BC98F}" srcId="{D87C9AAB-2B14-466C-A0B0-B12CC139BB50}" destId="{CF242594-E5E7-4B48-9F58-412604734771}" srcOrd="0" destOrd="0" parTransId="{9D16E9C3-5858-444E-B9EE-8544B5C4F8E1}" sibTransId="{E300F5DF-9B39-4B1C-8BF7-83F3FBA3DB0B}"/>
    <dgm:cxn modelId="{81924BBD-D5A3-4F46-9D18-32104C971D36}" srcId="{D87C9AAB-2B14-466C-A0B0-B12CC139BB50}" destId="{C49D5888-7DCF-4020-94AB-30D445CD02AB}" srcOrd="6" destOrd="0" parTransId="{A3DDCC17-23A9-4B4B-AF40-438AB96510BC}" sibTransId="{F0610F92-2E42-48D1-96D9-F09420BA48EE}"/>
    <dgm:cxn modelId="{656F3EDE-CB03-4EFB-83FC-3454061D52EF}" type="presOf" srcId="{2DF22B0C-B2B5-41E3-827F-76A33EF2A00A}" destId="{DB2E32A4-B750-4922-BD88-7A4B1D0AE277}" srcOrd="0" destOrd="0" presId="urn:microsoft.com/office/officeart/2008/layout/LinedList"/>
    <dgm:cxn modelId="{166C93E7-948B-4958-9B23-B43F720363B5}" type="presOf" srcId="{D87C9AAB-2B14-466C-A0B0-B12CC139BB50}" destId="{38934A0C-6F65-4E5A-AE06-5104EA2ED9CD}" srcOrd="0" destOrd="0" presId="urn:microsoft.com/office/officeart/2008/layout/LinedList"/>
    <dgm:cxn modelId="{2A044BF7-B8BD-4E27-9700-6261B741109C}" srcId="{D87C9AAB-2B14-466C-A0B0-B12CC139BB50}" destId="{8D1198E6-AA49-4D3D-B97A-AA6044A903D8}" srcOrd="5" destOrd="0" parTransId="{7BDDB1DD-81F4-4F5B-BA1A-D58E1AE8650A}" sibTransId="{C07281EC-0741-41E5-B5E2-338083351A23}"/>
    <dgm:cxn modelId="{D61F0FD2-3553-4F25-A0DF-D1BC016C5592}" type="presParOf" srcId="{38934A0C-6F65-4E5A-AE06-5104EA2ED9CD}" destId="{D3FD7B07-1439-4242-8065-9C2647DF2360}" srcOrd="0" destOrd="0" presId="urn:microsoft.com/office/officeart/2008/layout/LinedList"/>
    <dgm:cxn modelId="{8544F831-2627-42A7-9C07-433FFC0D70FE}" type="presParOf" srcId="{38934A0C-6F65-4E5A-AE06-5104EA2ED9CD}" destId="{A2690D21-9485-4A0F-BB5E-9795DA1EB6EC}" srcOrd="1" destOrd="0" presId="urn:microsoft.com/office/officeart/2008/layout/LinedList"/>
    <dgm:cxn modelId="{38B6A2B9-27E8-4736-B670-68CB45FA5EF6}" type="presParOf" srcId="{A2690D21-9485-4A0F-BB5E-9795DA1EB6EC}" destId="{7D14A9DF-04F7-4F33-8F50-C3B5FBBE81C0}" srcOrd="0" destOrd="0" presId="urn:microsoft.com/office/officeart/2008/layout/LinedList"/>
    <dgm:cxn modelId="{8254405C-CE74-403A-8D7A-B5C53E09A796}" type="presParOf" srcId="{A2690D21-9485-4A0F-BB5E-9795DA1EB6EC}" destId="{91C0E090-57F6-40E5-A2D8-5CC28D6CC464}" srcOrd="1" destOrd="0" presId="urn:microsoft.com/office/officeart/2008/layout/LinedList"/>
    <dgm:cxn modelId="{3AE2BF4C-4EE7-4C0D-B7E6-5FC813199172}" type="presParOf" srcId="{38934A0C-6F65-4E5A-AE06-5104EA2ED9CD}" destId="{3DFBE526-2BEA-4ABA-BE6A-EA649064B32B}" srcOrd="2" destOrd="0" presId="urn:microsoft.com/office/officeart/2008/layout/LinedList"/>
    <dgm:cxn modelId="{382BE638-5904-4C0F-93D0-2A34D60117EA}" type="presParOf" srcId="{38934A0C-6F65-4E5A-AE06-5104EA2ED9CD}" destId="{8CDD9331-2A35-4461-897F-40629E9889C2}" srcOrd="3" destOrd="0" presId="urn:microsoft.com/office/officeart/2008/layout/LinedList"/>
    <dgm:cxn modelId="{DF9841C2-B1E7-4F58-BD22-297F59655B2B}" type="presParOf" srcId="{8CDD9331-2A35-4461-897F-40629E9889C2}" destId="{3A20BA00-0975-4977-9A2C-A56A906615D0}" srcOrd="0" destOrd="0" presId="urn:microsoft.com/office/officeart/2008/layout/LinedList"/>
    <dgm:cxn modelId="{317C201A-5F02-46ED-8AEE-47F691F7E796}" type="presParOf" srcId="{8CDD9331-2A35-4461-897F-40629E9889C2}" destId="{DB0B99AE-B7DF-4780-9F5C-B3F5AB2FB050}" srcOrd="1" destOrd="0" presId="urn:microsoft.com/office/officeart/2008/layout/LinedList"/>
    <dgm:cxn modelId="{1C7647C5-EB1E-49D0-ACAD-FD1B12B4521C}" type="presParOf" srcId="{38934A0C-6F65-4E5A-AE06-5104EA2ED9CD}" destId="{478711D0-21E4-4A4F-8484-586B37AB7A06}" srcOrd="4" destOrd="0" presId="urn:microsoft.com/office/officeart/2008/layout/LinedList"/>
    <dgm:cxn modelId="{001211A3-9B34-41C7-AC0A-71D420430B5A}" type="presParOf" srcId="{38934A0C-6F65-4E5A-AE06-5104EA2ED9CD}" destId="{8EDEC994-30DD-4150-ADFF-15D4EFB0759F}" srcOrd="5" destOrd="0" presId="urn:microsoft.com/office/officeart/2008/layout/LinedList"/>
    <dgm:cxn modelId="{822FB901-0E08-4076-95A3-92AC5F4968C4}" type="presParOf" srcId="{8EDEC994-30DD-4150-ADFF-15D4EFB0759F}" destId="{14EE756E-176C-471C-AA94-6B5CF4CC45B3}" srcOrd="0" destOrd="0" presId="urn:microsoft.com/office/officeart/2008/layout/LinedList"/>
    <dgm:cxn modelId="{14431703-AC85-44F2-9455-38CBA7E4C2BB}" type="presParOf" srcId="{8EDEC994-30DD-4150-ADFF-15D4EFB0759F}" destId="{C4D154FC-0864-4D59-96D4-9A1E570078F5}" srcOrd="1" destOrd="0" presId="urn:microsoft.com/office/officeart/2008/layout/LinedList"/>
    <dgm:cxn modelId="{132B82A1-64BD-4FDA-BE2E-D465215EB85A}" type="presParOf" srcId="{38934A0C-6F65-4E5A-AE06-5104EA2ED9CD}" destId="{485C8591-4F5E-40E0-BBEF-90585B3A12DE}" srcOrd="6" destOrd="0" presId="urn:microsoft.com/office/officeart/2008/layout/LinedList"/>
    <dgm:cxn modelId="{7C5324B6-E5C0-4C8D-B46F-BD9411C58A98}" type="presParOf" srcId="{38934A0C-6F65-4E5A-AE06-5104EA2ED9CD}" destId="{9A7D3F61-1986-4C59-AA3F-2C007671BDA7}" srcOrd="7" destOrd="0" presId="urn:microsoft.com/office/officeart/2008/layout/LinedList"/>
    <dgm:cxn modelId="{876F8349-8770-49CB-AF49-17E35D54C909}" type="presParOf" srcId="{9A7D3F61-1986-4C59-AA3F-2C007671BDA7}" destId="{DB2E32A4-B750-4922-BD88-7A4B1D0AE277}" srcOrd="0" destOrd="0" presId="urn:microsoft.com/office/officeart/2008/layout/LinedList"/>
    <dgm:cxn modelId="{88FC7D90-E3CF-47CB-865F-A35ED24030F2}" type="presParOf" srcId="{9A7D3F61-1986-4C59-AA3F-2C007671BDA7}" destId="{562D9FB5-19DB-4C06-B3CD-B89F7905E691}" srcOrd="1" destOrd="0" presId="urn:microsoft.com/office/officeart/2008/layout/LinedList"/>
    <dgm:cxn modelId="{FD2235CA-5289-467B-81AB-E9FBB2CA4B89}" type="presParOf" srcId="{38934A0C-6F65-4E5A-AE06-5104EA2ED9CD}" destId="{505C49A6-0EF9-473F-8E3C-367CBE74C295}" srcOrd="8" destOrd="0" presId="urn:microsoft.com/office/officeart/2008/layout/LinedList"/>
    <dgm:cxn modelId="{23C286A7-500D-4A0D-A5B7-527E5FAB08B3}" type="presParOf" srcId="{38934A0C-6F65-4E5A-AE06-5104EA2ED9CD}" destId="{5B40D9E6-ECD3-4EC5-AC21-822ED17EF59B}" srcOrd="9" destOrd="0" presId="urn:microsoft.com/office/officeart/2008/layout/LinedList"/>
    <dgm:cxn modelId="{C1F0AA64-B375-41E9-A789-A5B113949287}" type="presParOf" srcId="{5B40D9E6-ECD3-4EC5-AC21-822ED17EF59B}" destId="{8C6F9443-C2AE-48EC-AD4B-921D1A509761}" srcOrd="0" destOrd="0" presId="urn:microsoft.com/office/officeart/2008/layout/LinedList"/>
    <dgm:cxn modelId="{98049F8C-908D-4BD2-9A0E-39C923EE862B}" type="presParOf" srcId="{5B40D9E6-ECD3-4EC5-AC21-822ED17EF59B}" destId="{860B2453-24B4-4FDD-ACFC-EE10600B95D4}" srcOrd="1" destOrd="0" presId="urn:microsoft.com/office/officeart/2008/layout/LinedList"/>
    <dgm:cxn modelId="{6FF74A23-1700-4DDD-B2CE-337AE2CF4E19}" type="presParOf" srcId="{38934A0C-6F65-4E5A-AE06-5104EA2ED9CD}" destId="{C1C88FB7-44F5-465C-BAA2-98B3832EE81E}" srcOrd="10" destOrd="0" presId="urn:microsoft.com/office/officeart/2008/layout/LinedList"/>
    <dgm:cxn modelId="{919253CB-8401-40EC-9972-35F5980EAFE9}" type="presParOf" srcId="{38934A0C-6F65-4E5A-AE06-5104EA2ED9CD}" destId="{3FAA8793-3B97-486B-BA0E-26E240899732}" srcOrd="11" destOrd="0" presId="urn:microsoft.com/office/officeart/2008/layout/LinedList"/>
    <dgm:cxn modelId="{B5DE2724-4B75-4965-A42B-EA50C03B8AF2}" type="presParOf" srcId="{3FAA8793-3B97-486B-BA0E-26E240899732}" destId="{37366B0E-64F5-47AC-8851-209D82527243}" srcOrd="0" destOrd="0" presId="urn:microsoft.com/office/officeart/2008/layout/LinedList"/>
    <dgm:cxn modelId="{6ECDD75E-AA3C-4948-B6B9-9ED5B0CCB52E}" type="presParOf" srcId="{3FAA8793-3B97-486B-BA0E-26E240899732}" destId="{8A3111CA-ED8A-43BC-ACDF-532BECA9BC05}" srcOrd="1" destOrd="0" presId="urn:microsoft.com/office/officeart/2008/layout/LinedList"/>
    <dgm:cxn modelId="{459C6BF4-8D8B-4FC4-B008-BB64AC50BD11}" type="presParOf" srcId="{38934A0C-6F65-4E5A-AE06-5104EA2ED9CD}" destId="{5F870256-76DD-49FA-85CA-10626B26E4BA}" srcOrd="12" destOrd="0" presId="urn:microsoft.com/office/officeart/2008/layout/LinedList"/>
    <dgm:cxn modelId="{A7D4DED1-AA9B-4B62-8DCD-DFFB7B58CC62}" type="presParOf" srcId="{38934A0C-6F65-4E5A-AE06-5104EA2ED9CD}" destId="{A4D5449F-B93F-499A-A684-27680970DF36}" srcOrd="13" destOrd="0" presId="urn:microsoft.com/office/officeart/2008/layout/LinedList"/>
    <dgm:cxn modelId="{9D341FD5-394F-4DEB-8396-6FC618521546}" type="presParOf" srcId="{A4D5449F-B93F-499A-A684-27680970DF36}" destId="{CDB74E2B-92C8-48D4-B8E2-70B50D3091E7}" srcOrd="0" destOrd="0" presId="urn:microsoft.com/office/officeart/2008/layout/LinedList"/>
    <dgm:cxn modelId="{DFFF5126-5CB4-4B3F-9061-6AB0E3CEF4E5}" type="presParOf" srcId="{A4D5449F-B93F-499A-A684-27680970DF36}" destId="{46E85471-7960-4276-9A23-E33D94E7125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D23209-60BA-426F-9F0F-7ECF6A60EF1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A8B6E9D-B004-4033-BB15-CABE40251AA7}">
      <dgm:prSet/>
      <dgm:spPr/>
      <dgm:t>
        <a:bodyPr/>
        <a:lstStyle/>
        <a:p>
          <a:pPr>
            <a:lnSpc>
              <a:spcPct val="100000"/>
            </a:lnSpc>
          </a:pPr>
          <a:r>
            <a:rPr lang="en-IN" b="1" u="sng"/>
            <a:t>Total Revenue by Quarter</a:t>
          </a:r>
          <a:r>
            <a:rPr lang="en-IN" u="sng"/>
            <a:t>.</a:t>
          </a:r>
          <a:endParaRPr lang="en-US"/>
        </a:p>
      </dgm:t>
    </dgm:pt>
    <dgm:pt modelId="{126D4447-54C5-4ACA-9F18-40E83635DEC8}" type="parTrans" cxnId="{2E9804F9-CDD0-4C56-9BEF-EAE62F568084}">
      <dgm:prSet/>
      <dgm:spPr/>
      <dgm:t>
        <a:bodyPr/>
        <a:lstStyle/>
        <a:p>
          <a:endParaRPr lang="en-US"/>
        </a:p>
      </dgm:t>
    </dgm:pt>
    <dgm:pt modelId="{3A895A3B-352A-4C55-881F-6A85E6840C9D}" type="sibTrans" cxnId="{2E9804F9-CDD0-4C56-9BEF-EAE62F568084}">
      <dgm:prSet/>
      <dgm:spPr/>
      <dgm:t>
        <a:bodyPr/>
        <a:lstStyle/>
        <a:p>
          <a:endParaRPr lang="en-US"/>
        </a:p>
      </dgm:t>
    </dgm:pt>
    <dgm:pt modelId="{A72F64BC-3EC8-4FBD-8D55-32E46A2AB77B}">
      <dgm:prSet custT="1"/>
      <dgm:spPr/>
      <dgm:t>
        <a:bodyPr/>
        <a:lstStyle/>
        <a:p>
          <a:pPr>
            <a:lnSpc>
              <a:spcPct val="100000"/>
            </a:lnSpc>
          </a:pPr>
          <a:r>
            <a:rPr lang="en-IN" sz="1600" dirty="0"/>
            <a:t>*As we can see here, this chart shows total revenue earned by quarter. Minimum revenue is in 3</a:t>
          </a:r>
          <a:r>
            <a:rPr lang="en-IN" sz="1600" baseline="30000" dirty="0"/>
            <a:t>rd</a:t>
          </a:r>
          <a:r>
            <a:rPr lang="en-IN" sz="1600" dirty="0"/>
            <a:t> quarter and the maximum quarter is in 2</a:t>
          </a:r>
          <a:r>
            <a:rPr lang="en-IN" sz="1600" baseline="30000" dirty="0"/>
            <a:t>nd</a:t>
          </a:r>
          <a:r>
            <a:rPr lang="en-IN" sz="1600" dirty="0"/>
            <a:t> quarter.</a:t>
          </a:r>
          <a:endParaRPr lang="en-US" sz="1600" dirty="0"/>
        </a:p>
      </dgm:t>
    </dgm:pt>
    <dgm:pt modelId="{A5AF578C-8D0D-4B67-84D7-91699D14B83C}" type="parTrans" cxnId="{030BFD5A-C4D5-4302-9004-329A983FE126}">
      <dgm:prSet/>
      <dgm:spPr/>
      <dgm:t>
        <a:bodyPr/>
        <a:lstStyle/>
        <a:p>
          <a:endParaRPr lang="en-US"/>
        </a:p>
      </dgm:t>
    </dgm:pt>
    <dgm:pt modelId="{9F648F2F-760E-46B0-821C-4479AA9EA237}" type="sibTrans" cxnId="{030BFD5A-C4D5-4302-9004-329A983FE126}">
      <dgm:prSet/>
      <dgm:spPr/>
      <dgm:t>
        <a:bodyPr/>
        <a:lstStyle/>
        <a:p>
          <a:endParaRPr lang="en-US"/>
        </a:p>
      </dgm:t>
    </dgm:pt>
    <dgm:pt modelId="{0C095B4C-49ED-43F8-B716-A42A70602FE6}">
      <dgm:prSet/>
      <dgm:spPr/>
      <dgm:t>
        <a:bodyPr/>
        <a:lstStyle/>
        <a:p>
          <a:pPr>
            <a:lnSpc>
              <a:spcPct val="100000"/>
            </a:lnSpc>
          </a:pPr>
          <a:r>
            <a:rPr lang="en-IN"/>
            <a:t>There is a drop in revenue after 3</a:t>
          </a:r>
          <a:r>
            <a:rPr lang="en-IN" baseline="30000"/>
            <a:t>rd</a:t>
          </a:r>
          <a:r>
            <a:rPr lang="en-IN"/>
            <a:t> quarter, but we can also see slight increase after quarter 3.</a:t>
          </a:r>
          <a:endParaRPr lang="en-US"/>
        </a:p>
      </dgm:t>
    </dgm:pt>
    <dgm:pt modelId="{8840CE9E-6209-4845-9655-5B7FFAAD16E1}" type="parTrans" cxnId="{16EB89A5-2891-4CC7-93A4-25BCFC3FD672}">
      <dgm:prSet/>
      <dgm:spPr/>
      <dgm:t>
        <a:bodyPr/>
        <a:lstStyle/>
        <a:p>
          <a:endParaRPr lang="en-US"/>
        </a:p>
      </dgm:t>
    </dgm:pt>
    <dgm:pt modelId="{1517CCD6-A8AB-4FE5-A3A2-69748709005D}" type="sibTrans" cxnId="{16EB89A5-2891-4CC7-93A4-25BCFC3FD672}">
      <dgm:prSet/>
      <dgm:spPr/>
      <dgm:t>
        <a:bodyPr/>
        <a:lstStyle/>
        <a:p>
          <a:endParaRPr lang="en-US"/>
        </a:p>
      </dgm:t>
    </dgm:pt>
    <dgm:pt modelId="{5D792D94-28EE-4B18-AC48-30101262C6A6}" type="pres">
      <dgm:prSet presAssocID="{54D23209-60BA-426F-9F0F-7ECF6A60EF17}" presName="root" presStyleCnt="0">
        <dgm:presLayoutVars>
          <dgm:dir/>
          <dgm:resizeHandles val="exact"/>
        </dgm:presLayoutVars>
      </dgm:prSet>
      <dgm:spPr/>
    </dgm:pt>
    <dgm:pt modelId="{4967EE16-CA79-4793-B88E-ADD9F305B71B}" type="pres">
      <dgm:prSet presAssocID="{0A8B6E9D-B004-4033-BB15-CABE40251AA7}" presName="compNode" presStyleCnt="0"/>
      <dgm:spPr/>
    </dgm:pt>
    <dgm:pt modelId="{22083B45-78C8-40A5-B774-518C97E50A1A}" type="pres">
      <dgm:prSet presAssocID="{0A8B6E9D-B004-4033-BB15-CABE40251AA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A19B1205-0E01-4B95-BE9D-5B39C0A60759}" type="pres">
      <dgm:prSet presAssocID="{0A8B6E9D-B004-4033-BB15-CABE40251AA7}" presName="spaceRect" presStyleCnt="0"/>
      <dgm:spPr/>
    </dgm:pt>
    <dgm:pt modelId="{E278F740-3BB9-45D8-ACD1-F04DD9932AA5}" type="pres">
      <dgm:prSet presAssocID="{0A8B6E9D-B004-4033-BB15-CABE40251AA7}" presName="textRect" presStyleLbl="revTx" presStyleIdx="0" presStyleCnt="3">
        <dgm:presLayoutVars>
          <dgm:chMax val="1"/>
          <dgm:chPref val="1"/>
        </dgm:presLayoutVars>
      </dgm:prSet>
      <dgm:spPr/>
    </dgm:pt>
    <dgm:pt modelId="{239240D0-EB1D-4122-88E8-E394D84C5913}" type="pres">
      <dgm:prSet presAssocID="{3A895A3B-352A-4C55-881F-6A85E6840C9D}" presName="sibTrans" presStyleCnt="0"/>
      <dgm:spPr/>
    </dgm:pt>
    <dgm:pt modelId="{DDD23E17-CCE7-4744-8D9A-BE73059E1E3C}" type="pres">
      <dgm:prSet presAssocID="{A72F64BC-3EC8-4FBD-8D55-32E46A2AB77B}" presName="compNode" presStyleCnt="0"/>
      <dgm:spPr/>
    </dgm:pt>
    <dgm:pt modelId="{B68D5031-25EF-4AD9-AB93-18E9B65A0569}" type="pres">
      <dgm:prSet presAssocID="{A72F64BC-3EC8-4FBD-8D55-32E46A2AB77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20E2E77B-9694-4E01-BF59-775756405B05}" type="pres">
      <dgm:prSet presAssocID="{A72F64BC-3EC8-4FBD-8D55-32E46A2AB77B}" presName="spaceRect" presStyleCnt="0"/>
      <dgm:spPr/>
    </dgm:pt>
    <dgm:pt modelId="{D9ADE7FC-B115-4C6D-93DB-5B95683AE43F}" type="pres">
      <dgm:prSet presAssocID="{A72F64BC-3EC8-4FBD-8D55-32E46A2AB77B}" presName="textRect" presStyleLbl="revTx" presStyleIdx="1" presStyleCnt="3">
        <dgm:presLayoutVars>
          <dgm:chMax val="1"/>
          <dgm:chPref val="1"/>
        </dgm:presLayoutVars>
      </dgm:prSet>
      <dgm:spPr/>
    </dgm:pt>
    <dgm:pt modelId="{14413EAB-AB33-4310-A27D-B4CD27E12246}" type="pres">
      <dgm:prSet presAssocID="{9F648F2F-760E-46B0-821C-4479AA9EA237}" presName="sibTrans" presStyleCnt="0"/>
      <dgm:spPr/>
    </dgm:pt>
    <dgm:pt modelId="{1DD846CB-814F-4815-9C3F-7B715E48BF54}" type="pres">
      <dgm:prSet presAssocID="{0C095B4C-49ED-43F8-B716-A42A70602FE6}" presName="compNode" presStyleCnt="0"/>
      <dgm:spPr/>
    </dgm:pt>
    <dgm:pt modelId="{D1510854-D52B-4A0C-B6FF-D1656FF17BAC}" type="pres">
      <dgm:prSet presAssocID="{0C095B4C-49ED-43F8-B716-A42A70602FE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Graph with Upward Trend"/>
        </a:ext>
      </dgm:extLst>
    </dgm:pt>
    <dgm:pt modelId="{E3128E6C-D7D2-4A11-B47C-F8C22781DFD0}" type="pres">
      <dgm:prSet presAssocID="{0C095B4C-49ED-43F8-B716-A42A70602FE6}" presName="spaceRect" presStyleCnt="0"/>
      <dgm:spPr/>
    </dgm:pt>
    <dgm:pt modelId="{2FCA5A1A-CCF7-4723-B23A-FD602347D082}" type="pres">
      <dgm:prSet presAssocID="{0C095B4C-49ED-43F8-B716-A42A70602FE6}" presName="textRect" presStyleLbl="revTx" presStyleIdx="2" presStyleCnt="3">
        <dgm:presLayoutVars>
          <dgm:chMax val="1"/>
          <dgm:chPref val="1"/>
        </dgm:presLayoutVars>
      </dgm:prSet>
      <dgm:spPr/>
    </dgm:pt>
  </dgm:ptLst>
  <dgm:cxnLst>
    <dgm:cxn modelId="{89BACD13-FCFA-4CB0-8400-850BBE8E9F72}" type="presOf" srcId="{0A8B6E9D-B004-4033-BB15-CABE40251AA7}" destId="{E278F740-3BB9-45D8-ACD1-F04DD9932AA5}" srcOrd="0" destOrd="0" presId="urn:microsoft.com/office/officeart/2018/2/layout/IconLabelList"/>
    <dgm:cxn modelId="{92421A1B-435C-4351-896D-7F43ADCCD76D}" type="presOf" srcId="{0C095B4C-49ED-43F8-B716-A42A70602FE6}" destId="{2FCA5A1A-CCF7-4723-B23A-FD602347D082}" srcOrd="0" destOrd="0" presId="urn:microsoft.com/office/officeart/2018/2/layout/IconLabelList"/>
    <dgm:cxn modelId="{C3691B27-FE68-42B1-A9C5-71B4AEAAF215}" type="presOf" srcId="{54D23209-60BA-426F-9F0F-7ECF6A60EF17}" destId="{5D792D94-28EE-4B18-AC48-30101262C6A6}" srcOrd="0" destOrd="0" presId="urn:microsoft.com/office/officeart/2018/2/layout/IconLabelList"/>
    <dgm:cxn modelId="{030BFD5A-C4D5-4302-9004-329A983FE126}" srcId="{54D23209-60BA-426F-9F0F-7ECF6A60EF17}" destId="{A72F64BC-3EC8-4FBD-8D55-32E46A2AB77B}" srcOrd="1" destOrd="0" parTransId="{A5AF578C-8D0D-4B67-84D7-91699D14B83C}" sibTransId="{9F648F2F-760E-46B0-821C-4479AA9EA237}"/>
    <dgm:cxn modelId="{16EB89A5-2891-4CC7-93A4-25BCFC3FD672}" srcId="{54D23209-60BA-426F-9F0F-7ECF6A60EF17}" destId="{0C095B4C-49ED-43F8-B716-A42A70602FE6}" srcOrd="2" destOrd="0" parTransId="{8840CE9E-6209-4845-9655-5B7FFAAD16E1}" sibTransId="{1517CCD6-A8AB-4FE5-A3A2-69748709005D}"/>
    <dgm:cxn modelId="{5AC028B6-411A-4AAC-9868-AE0B1D04B2A7}" type="presOf" srcId="{A72F64BC-3EC8-4FBD-8D55-32E46A2AB77B}" destId="{D9ADE7FC-B115-4C6D-93DB-5B95683AE43F}" srcOrd="0" destOrd="0" presId="urn:microsoft.com/office/officeart/2018/2/layout/IconLabelList"/>
    <dgm:cxn modelId="{2E9804F9-CDD0-4C56-9BEF-EAE62F568084}" srcId="{54D23209-60BA-426F-9F0F-7ECF6A60EF17}" destId="{0A8B6E9D-B004-4033-BB15-CABE40251AA7}" srcOrd="0" destOrd="0" parTransId="{126D4447-54C5-4ACA-9F18-40E83635DEC8}" sibTransId="{3A895A3B-352A-4C55-881F-6A85E6840C9D}"/>
    <dgm:cxn modelId="{92771E1D-2DA7-479D-B9BB-040123875902}" type="presParOf" srcId="{5D792D94-28EE-4B18-AC48-30101262C6A6}" destId="{4967EE16-CA79-4793-B88E-ADD9F305B71B}" srcOrd="0" destOrd="0" presId="urn:microsoft.com/office/officeart/2018/2/layout/IconLabelList"/>
    <dgm:cxn modelId="{DDF2DD4B-0352-4B8E-A08A-F6EF601CA8BC}" type="presParOf" srcId="{4967EE16-CA79-4793-B88E-ADD9F305B71B}" destId="{22083B45-78C8-40A5-B774-518C97E50A1A}" srcOrd="0" destOrd="0" presId="urn:microsoft.com/office/officeart/2018/2/layout/IconLabelList"/>
    <dgm:cxn modelId="{E1596144-CEF7-44C5-9E0B-5F7DDAF1D109}" type="presParOf" srcId="{4967EE16-CA79-4793-B88E-ADD9F305B71B}" destId="{A19B1205-0E01-4B95-BE9D-5B39C0A60759}" srcOrd="1" destOrd="0" presId="urn:microsoft.com/office/officeart/2018/2/layout/IconLabelList"/>
    <dgm:cxn modelId="{88D6D2EE-6178-4457-9101-4AA1DCD98A11}" type="presParOf" srcId="{4967EE16-CA79-4793-B88E-ADD9F305B71B}" destId="{E278F740-3BB9-45D8-ACD1-F04DD9932AA5}" srcOrd="2" destOrd="0" presId="urn:microsoft.com/office/officeart/2018/2/layout/IconLabelList"/>
    <dgm:cxn modelId="{7D1A2FC4-3300-49F4-809B-06E0239BF0FA}" type="presParOf" srcId="{5D792D94-28EE-4B18-AC48-30101262C6A6}" destId="{239240D0-EB1D-4122-88E8-E394D84C5913}" srcOrd="1" destOrd="0" presId="urn:microsoft.com/office/officeart/2018/2/layout/IconLabelList"/>
    <dgm:cxn modelId="{1F4154F3-D1EC-43EE-85DB-AA24C2E4A11E}" type="presParOf" srcId="{5D792D94-28EE-4B18-AC48-30101262C6A6}" destId="{DDD23E17-CCE7-4744-8D9A-BE73059E1E3C}" srcOrd="2" destOrd="0" presId="urn:microsoft.com/office/officeart/2018/2/layout/IconLabelList"/>
    <dgm:cxn modelId="{12620151-F6EC-443D-9F91-7611AEA79E53}" type="presParOf" srcId="{DDD23E17-CCE7-4744-8D9A-BE73059E1E3C}" destId="{B68D5031-25EF-4AD9-AB93-18E9B65A0569}" srcOrd="0" destOrd="0" presId="urn:microsoft.com/office/officeart/2018/2/layout/IconLabelList"/>
    <dgm:cxn modelId="{C43F9B76-C042-4365-9261-BB708D55873A}" type="presParOf" srcId="{DDD23E17-CCE7-4744-8D9A-BE73059E1E3C}" destId="{20E2E77B-9694-4E01-BF59-775756405B05}" srcOrd="1" destOrd="0" presId="urn:microsoft.com/office/officeart/2018/2/layout/IconLabelList"/>
    <dgm:cxn modelId="{E8DE836B-B1EB-41D4-8586-BA0F0AEA04DA}" type="presParOf" srcId="{DDD23E17-CCE7-4744-8D9A-BE73059E1E3C}" destId="{D9ADE7FC-B115-4C6D-93DB-5B95683AE43F}" srcOrd="2" destOrd="0" presId="urn:microsoft.com/office/officeart/2018/2/layout/IconLabelList"/>
    <dgm:cxn modelId="{F0B76EBA-83E6-4396-B971-BFD3318D09B9}" type="presParOf" srcId="{5D792D94-28EE-4B18-AC48-30101262C6A6}" destId="{14413EAB-AB33-4310-A27D-B4CD27E12246}" srcOrd="3" destOrd="0" presId="urn:microsoft.com/office/officeart/2018/2/layout/IconLabelList"/>
    <dgm:cxn modelId="{BA68972B-DB7C-4B01-BA31-DC0D205BB21A}" type="presParOf" srcId="{5D792D94-28EE-4B18-AC48-30101262C6A6}" destId="{1DD846CB-814F-4815-9C3F-7B715E48BF54}" srcOrd="4" destOrd="0" presId="urn:microsoft.com/office/officeart/2018/2/layout/IconLabelList"/>
    <dgm:cxn modelId="{A28C4509-5459-4A36-B896-1F9CA06B9599}" type="presParOf" srcId="{1DD846CB-814F-4815-9C3F-7B715E48BF54}" destId="{D1510854-D52B-4A0C-B6FF-D1656FF17BAC}" srcOrd="0" destOrd="0" presId="urn:microsoft.com/office/officeart/2018/2/layout/IconLabelList"/>
    <dgm:cxn modelId="{F60B6884-908A-4DED-B492-861E34A8EA3F}" type="presParOf" srcId="{1DD846CB-814F-4815-9C3F-7B715E48BF54}" destId="{E3128E6C-D7D2-4A11-B47C-F8C22781DFD0}" srcOrd="1" destOrd="0" presId="urn:microsoft.com/office/officeart/2018/2/layout/IconLabelList"/>
    <dgm:cxn modelId="{07B2C516-77FD-4969-83B1-4BA5CDF91059}" type="presParOf" srcId="{1DD846CB-814F-4815-9C3F-7B715E48BF54}" destId="{2FCA5A1A-CCF7-4723-B23A-FD602347D08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EB2356-573F-4C3A-BA46-DE43F634272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C3EFD4D-3D26-4E3E-8565-1E0B4568829E}">
      <dgm:prSet/>
      <dgm:spPr/>
      <dgm:t>
        <a:bodyPr/>
        <a:lstStyle/>
        <a:p>
          <a:pPr>
            <a:lnSpc>
              <a:spcPct val="100000"/>
            </a:lnSpc>
          </a:pPr>
          <a:r>
            <a:rPr lang="en-IN"/>
            <a:t>Here we can see that highest unit sold is 63 bikes in Pune city. In previous slid we checked that the highest revenue was in Pune city that means unit sold has a great impact on revenue.</a:t>
          </a:r>
          <a:endParaRPr lang="en-US"/>
        </a:p>
      </dgm:t>
    </dgm:pt>
    <dgm:pt modelId="{EBB84DDB-DC7F-4CD1-BABB-1C7CF0676783}" type="parTrans" cxnId="{BC97DF3B-A429-4D38-9625-A7C64163F000}">
      <dgm:prSet/>
      <dgm:spPr/>
      <dgm:t>
        <a:bodyPr/>
        <a:lstStyle/>
        <a:p>
          <a:endParaRPr lang="en-US"/>
        </a:p>
      </dgm:t>
    </dgm:pt>
    <dgm:pt modelId="{AE551550-74FF-41A8-B73F-FA7A5492B96B}" type="sibTrans" cxnId="{BC97DF3B-A429-4D38-9625-A7C64163F000}">
      <dgm:prSet/>
      <dgm:spPr/>
      <dgm:t>
        <a:bodyPr/>
        <a:lstStyle/>
        <a:p>
          <a:endParaRPr lang="en-US"/>
        </a:p>
      </dgm:t>
    </dgm:pt>
    <dgm:pt modelId="{35E12D6F-E08F-43C9-8C0E-368821F353A8}">
      <dgm:prSet/>
      <dgm:spPr/>
      <dgm:t>
        <a:bodyPr/>
        <a:lstStyle/>
        <a:p>
          <a:pPr>
            <a:lnSpc>
              <a:spcPct val="100000"/>
            </a:lnSpc>
          </a:pPr>
          <a:r>
            <a:rPr lang="en-IN"/>
            <a:t>The lowest unit sold is in Mumbai which leads to lowest revenue in that City as well.</a:t>
          </a:r>
          <a:endParaRPr lang="en-US"/>
        </a:p>
      </dgm:t>
    </dgm:pt>
    <dgm:pt modelId="{C4DE2466-BE83-43D3-9EE1-6D60800E9B6E}" type="parTrans" cxnId="{565AC439-6137-40E9-807A-B0ADBB1314FF}">
      <dgm:prSet/>
      <dgm:spPr/>
      <dgm:t>
        <a:bodyPr/>
        <a:lstStyle/>
        <a:p>
          <a:endParaRPr lang="en-US"/>
        </a:p>
      </dgm:t>
    </dgm:pt>
    <dgm:pt modelId="{63E812BD-3C1C-4CC4-A35A-2F371C4025AF}" type="sibTrans" cxnId="{565AC439-6137-40E9-807A-B0ADBB1314FF}">
      <dgm:prSet/>
      <dgm:spPr/>
      <dgm:t>
        <a:bodyPr/>
        <a:lstStyle/>
        <a:p>
          <a:endParaRPr lang="en-US"/>
        </a:p>
      </dgm:t>
    </dgm:pt>
    <dgm:pt modelId="{3C684EEF-40A4-4C72-A0E6-C04FF26E2D9B}" type="pres">
      <dgm:prSet presAssocID="{28EB2356-573F-4C3A-BA46-DE43F6342724}" presName="root" presStyleCnt="0">
        <dgm:presLayoutVars>
          <dgm:dir/>
          <dgm:resizeHandles val="exact"/>
        </dgm:presLayoutVars>
      </dgm:prSet>
      <dgm:spPr/>
    </dgm:pt>
    <dgm:pt modelId="{B5FA305E-6DF9-4EE4-8037-8A5D89511C1F}" type="pres">
      <dgm:prSet presAssocID="{0C3EFD4D-3D26-4E3E-8565-1E0B4568829E}" presName="compNode" presStyleCnt="0"/>
      <dgm:spPr/>
    </dgm:pt>
    <dgm:pt modelId="{CECE1936-BAAF-488F-8158-4DDB1B5E15B5}" type="pres">
      <dgm:prSet presAssocID="{0C3EFD4D-3D26-4E3E-8565-1E0B4568829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ike"/>
        </a:ext>
      </dgm:extLst>
    </dgm:pt>
    <dgm:pt modelId="{5F3D7F50-D164-42B5-AD85-DC7E5AEC73C5}" type="pres">
      <dgm:prSet presAssocID="{0C3EFD4D-3D26-4E3E-8565-1E0B4568829E}" presName="spaceRect" presStyleCnt="0"/>
      <dgm:spPr/>
    </dgm:pt>
    <dgm:pt modelId="{F5185E4D-1F38-4BB2-ADA5-9BBABD1ECDED}" type="pres">
      <dgm:prSet presAssocID="{0C3EFD4D-3D26-4E3E-8565-1E0B4568829E}" presName="textRect" presStyleLbl="revTx" presStyleIdx="0" presStyleCnt="2">
        <dgm:presLayoutVars>
          <dgm:chMax val="1"/>
          <dgm:chPref val="1"/>
        </dgm:presLayoutVars>
      </dgm:prSet>
      <dgm:spPr/>
    </dgm:pt>
    <dgm:pt modelId="{3493BFC9-B849-45E1-88B0-1EFD2681A0DF}" type="pres">
      <dgm:prSet presAssocID="{AE551550-74FF-41A8-B73F-FA7A5492B96B}" presName="sibTrans" presStyleCnt="0"/>
      <dgm:spPr/>
    </dgm:pt>
    <dgm:pt modelId="{16B82731-BF32-41BD-A6AC-D6EF48BB2B4D}" type="pres">
      <dgm:prSet presAssocID="{35E12D6F-E08F-43C9-8C0E-368821F353A8}" presName="compNode" presStyleCnt="0"/>
      <dgm:spPr/>
    </dgm:pt>
    <dgm:pt modelId="{8638EB99-C598-4D2F-BE46-F355E0BB3A4B}" type="pres">
      <dgm:prSet presAssocID="{35E12D6F-E08F-43C9-8C0E-368821F353A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ity"/>
        </a:ext>
      </dgm:extLst>
    </dgm:pt>
    <dgm:pt modelId="{52710E53-F64E-4072-8A3C-5E6B3E6BDCA6}" type="pres">
      <dgm:prSet presAssocID="{35E12D6F-E08F-43C9-8C0E-368821F353A8}" presName="spaceRect" presStyleCnt="0"/>
      <dgm:spPr/>
    </dgm:pt>
    <dgm:pt modelId="{D70B5333-1D5F-4D7B-842F-38350E4C339A}" type="pres">
      <dgm:prSet presAssocID="{35E12D6F-E08F-43C9-8C0E-368821F353A8}" presName="textRect" presStyleLbl="revTx" presStyleIdx="1" presStyleCnt="2">
        <dgm:presLayoutVars>
          <dgm:chMax val="1"/>
          <dgm:chPref val="1"/>
        </dgm:presLayoutVars>
      </dgm:prSet>
      <dgm:spPr/>
    </dgm:pt>
  </dgm:ptLst>
  <dgm:cxnLst>
    <dgm:cxn modelId="{565AC439-6137-40E9-807A-B0ADBB1314FF}" srcId="{28EB2356-573F-4C3A-BA46-DE43F6342724}" destId="{35E12D6F-E08F-43C9-8C0E-368821F353A8}" srcOrd="1" destOrd="0" parTransId="{C4DE2466-BE83-43D3-9EE1-6D60800E9B6E}" sibTransId="{63E812BD-3C1C-4CC4-A35A-2F371C4025AF}"/>
    <dgm:cxn modelId="{BC97DF3B-A429-4D38-9625-A7C64163F000}" srcId="{28EB2356-573F-4C3A-BA46-DE43F6342724}" destId="{0C3EFD4D-3D26-4E3E-8565-1E0B4568829E}" srcOrd="0" destOrd="0" parTransId="{EBB84DDB-DC7F-4CD1-BABB-1C7CF0676783}" sibTransId="{AE551550-74FF-41A8-B73F-FA7A5492B96B}"/>
    <dgm:cxn modelId="{7B41EA67-0A12-4187-AB71-26BACD0F9B0A}" type="presOf" srcId="{35E12D6F-E08F-43C9-8C0E-368821F353A8}" destId="{D70B5333-1D5F-4D7B-842F-38350E4C339A}" srcOrd="0" destOrd="0" presId="urn:microsoft.com/office/officeart/2018/2/layout/IconLabelList"/>
    <dgm:cxn modelId="{17CFA54F-737C-4594-91C7-BDB411D55E2D}" type="presOf" srcId="{0C3EFD4D-3D26-4E3E-8565-1E0B4568829E}" destId="{F5185E4D-1F38-4BB2-ADA5-9BBABD1ECDED}" srcOrd="0" destOrd="0" presId="urn:microsoft.com/office/officeart/2018/2/layout/IconLabelList"/>
    <dgm:cxn modelId="{9C5C8C7A-3E77-4EB2-AE69-FAE7F3B6875D}" type="presOf" srcId="{28EB2356-573F-4C3A-BA46-DE43F6342724}" destId="{3C684EEF-40A4-4C72-A0E6-C04FF26E2D9B}" srcOrd="0" destOrd="0" presId="urn:microsoft.com/office/officeart/2018/2/layout/IconLabelList"/>
    <dgm:cxn modelId="{6FB6DEDF-7D0F-41E7-8D4F-A1DBC2436EF1}" type="presParOf" srcId="{3C684EEF-40A4-4C72-A0E6-C04FF26E2D9B}" destId="{B5FA305E-6DF9-4EE4-8037-8A5D89511C1F}" srcOrd="0" destOrd="0" presId="urn:microsoft.com/office/officeart/2018/2/layout/IconLabelList"/>
    <dgm:cxn modelId="{91C9B400-34A9-4A7E-8F35-B0A98138E3C1}" type="presParOf" srcId="{B5FA305E-6DF9-4EE4-8037-8A5D89511C1F}" destId="{CECE1936-BAAF-488F-8158-4DDB1B5E15B5}" srcOrd="0" destOrd="0" presId="urn:microsoft.com/office/officeart/2018/2/layout/IconLabelList"/>
    <dgm:cxn modelId="{20EB3B0D-8296-4BF3-9DAF-1C608FEF3073}" type="presParOf" srcId="{B5FA305E-6DF9-4EE4-8037-8A5D89511C1F}" destId="{5F3D7F50-D164-42B5-AD85-DC7E5AEC73C5}" srcOrd="1" destOrd="0" presId="urn:microsoft.com/office/officeart/2018/2/layout/IconLabelList"/>
    <dgm:cxn modelId="{B8E7D36F-6806-4BA5-A6C8-360C5B9AB86E}" type="presParOf" srcId="{B5FA305E-6DF9-4EE4-8037-8A5D89511C1F}" destId="{F5185E4D-1F38-4BB2-ADA5-9BBABD1ECDED}" srcOrd="2" destOrd="0" presId="urn:microsoft.com/office/officeart/2018/2/layout/IconLabelList"/>
    <dgm:cxn modelId="{E060ED9A-703D-47ED-A0C1-2C61AF41DAD8}" type="presParOf" srcId="{3C684EEF-40A4-4C72-A0E6-C04FF26E2D9B}" destId="{3493BFC9-B849-45E1-88B0-1EFD2681A0DF}" srcOrd="1" destOrd="0" presId="urn:microsoft.com/office/officeart/2018/2/layout/IconLabelList"/>
    <dgm:cxn modelId="{06D8CA0E-0FFD-4CAA-BACB-95E0728F5093}" type="presParOf" srcId="{3C684EEF-40A4-4C72-A0E6-C04FF26E2D9B}" destId="{16B82731-BF32-41BD-A6AC-D6EF48BB2B4D}" srcOrd="2" destOrd="0" presId="urn:microsoft.com/office/officeart/2018/2/layout/IconLabelList"/>
    <dgm:cxn modelId="{59F06134-D9C5-4C89-8977-085FF8CA1174}" type="presParOf" srcId="{16B82731-BF32-41BD-A6AC-D6EF48BB2B4D}" destId="{8638EB99-C598-4D2F-BE46-F355E0BB3A4B}" srcOrd="0" destOrd="0" presId="urn:microsoft.com/office/officeart/2018/2/layout/IconLabelList"/>
    <dgm:cxn modelId="{A8B5052C-2838-4DE0-9138-40CA8F1A6650}" type="presParOf" srcId="{16B82731-BF32-41BD-A6AC-D6EF48BB2B4D}" destId="{52710E53-F64E-4072-8A3C-5E6B3E6BDCA6}" srcOrd="1" destOrd="0" presId="urn:microsoft.com/office/officeart/2018/2/layout/IconLabelList"/>
    <dgm:cxn modelId="{74F3FD36-8238-40A3-A98D-915D89CA40A3}" type="presParOf" srcId="{16B82731-BF32-41BD-A6AC-D6EF48BB2B4D}" destId="{D70B5333-1D5F-4D7B-842F-38350E4C339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FD7B07-1439-4242-8065-9C2647DF2360}">
      <dsp:nvSpPr>
        <dsp:cNvPr id="0" name=""/>
        <dsp:cNvSpPr/>
      </dsp:nvSpPr>
      <dsp:spPr>
        <a:xfrm>
          <a:off x="0" y="565"/>
          <a:ext cx="5924550" cy="0"/>
        </a:xfrm>
        <a:prstGeom prst="line">
          <a:avLst/>
        </a:prstGeom>
        <a:gradFill rotWithShape="0">
          <a:gsLst>
            <a:gs pos="0">
              <a:schemeClr val="accent2">
                <a:hueOff val="0"/>
                <a:satOff val="0"/>
                <a:lumOff val="0"/>
                <a:alphaOff val="0"/>
                <a:tint val="94000"/>
                <a:satMod val="100000"/>
                <a:lumMod val="104000"/>
              </a:schemeClr>
            </a:gs>
            <a:gs pos="69000">
              <a:schemeClr val="accent2">
                <a:hueOff val="0"/>
                <a:satOff val="0"/>
                <a:lumOff val="0"/>
                <a:alphaOff val="0"/>
                <a:shade val="86000"/>
                <a:satMod val="130000"/>
                <a:lumMod val="102000"/>
              </a:schemeClr>
            </a:gs>
            <a:gs pos="100000">
              <a:schemeClr val="accent2">
                <a:hueOff val="0"/>
                <a:satOff val="0"/>
                <a:lumOff val="0"/>
                <a:alphaOff val="0"/>
                <a:shade val="72000"/>
                <a:satMod val="130000"/>
                <a:lumMod val="100000"/>
              </a:schemeClr>
            </a:gs>
          </a:gsLst>
          <a:lin ang="5400000" scaled="0"/>
        </a:gradFill>
        <a:ln w="12700" cap="flat" cmpd="sng" algn="ctr">
          <a:solidFill>
            <a:schemeClr val="accent2">
              <a:hueOff val="0"/>
              <a:satOff val="0"/>
              <a:lumOff val="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7D14A9DF-04F7-4F33-8F50-C3B5FBBE81C0}">
      <dsp:nvSpPr>
        <dsp:cNvPr id="0" name=""/>
        <dsp:cNvSpPr/>
      </dsp:nvSpPr>
      <dsp:spPr>
        <a:xfrm>
          <a:off x="0" y="565"/>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a:t>Contents:</a:t>
          </a:r>
          <a:endParaRPr lang="en-US" sz="3100" kern="1200"/>
        </a:p>
      </dsp:txBody>
      <dsp:txXfrm>
        <a:off x="0" y="565"/>
        <a:ext cx="5924550" cy="661145"/>
      </dsp:txXfrm>
    </dsp:sp>
    <dsp:sp modelId="{3DFBE526-2BEA-4ABA-BE6A-EA649064B32B}">
      <dsp:nvSpPr>
        <dsp:cNvPr id="0" name=""/>
        <dsp:cNvSpPr/>
      </dsp:nvSpPr>
      <dsp:spPr>
        <a:xfrm>
          <a:off x="0" y="661710"/>
          <a:ext cx="5924550" cy="0"/>
        </a:xfrm>
        <a:prstGeom prst="line">
          <a:avLst/>
        </a:prstGeom>
        <a:gradFill rotWithShape="0">
          <a:gsLst>
            <a:gs pos="0">
              <a:schemeClr val="accent2">
                <a:hueOff val="0"/>
                <a:satOff val="0"/>
                <a:lumOff val="-1830"/>
                <a:alphaOff val="0"/>
                <a:tint val="94000"/>
                <a:satMod val="100000"/>
                <a:lumMod val="104000"/>
              </a:schemeClr>
            </a:gs>
            <a:gs pos="69000">
              <a:schemeClr val="accent2">
                <a:hueOff val="0"/>
                <a:satOff val="0"/>
                <a:lumOff val="-1830"/>
                <a:alphaOff val="0"/>
                <a:shade val="86000"/>
                <a:satMod val="130000"/>
                <a:lumMod val="102000"/>
              </a:schemeClr>
            </a:gs>
            <a:gs pos="100000">
              <a:schemeClr val="accent2">
                <a:hueOff val="0"/>
                <a:satOff val="0"/>
                <a:lumOff val="-1830"/>
                <a:alphaOff val="0"/>
                <a:shade val="72000"/>
                <a:satMod val="130000"/>
                <a:lumMod val="100000"/>
              </a:schemeClr>
            </a:gs>
          </a:gsLst>
          <a:lin ang="5400000" scaled="0"/>
        </a:gradFill>
        <a:ln w="12700" cap="flat" cmpd="sng" algn="ctr">
          <a:solidFill>
            <a:schemeClr val="accent2">
              <a:hueOff val="0"/>
              <a:satOff val="0"/>
              <a:lumOff val="-183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3A20BA00-0975-4977-9A2C-A56A906615D0}">
      <dsp:nvSpPr>
        <dsp:cNvPr id="0" name=""/>
        <dsp:cNvSpPr/>
      </dsp:nvSpPr>
      <dsp:spPr>
        <a:xfrm>
          <a:off x="0" y="661710"/>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a:t>1). Introduction</a:t>
          </a:r>
          <a:endParaRPr lang="en-US" sz="3100" kern="1200"/>
        </a:p>
      </dsp:txBody>
      <dsp:txXfrm>
        <a:off x="0" y="661710"/>
        <a:ext cx="5924550" cy="661145"/>
      </dsp:txXfrm>
    </dsp:sp>
    <dsp:sp modelId="{478711D0-21E4-4A4F-8484-586B37AB7A06}">
      <dsp:nvSpPr>
        <dsp:cNvPr id="0" name=""/>
        <dsp:cNvSpPr/>
      </dsp:nvSpPr>
      <dsp:spPr>
        <a:xfrm>
          <a:off x="0" y="1322856"/>
          <a:ext cx="5924550" cy="0"/>
        </a:xfrm>
        <a:prstGeom prst="line">
          <a:avLst/>
        </a:prstGeom>
        <a:gradFill rotWithShape="0">
          <a:gsLst>
            <a:gs pos="0">
              <a:schemeClr val="accent2">
                <a:hueOff val="0"/>
                <a:satOff val="0"/>
                <a:lumOff val="-3660"/>
                <a:alphaOff val="0"/>
                <a:tint val="94000"/>
                <a:satMod val="100000"/>
                <a:lumMod val="104000"/>
              </a:schemeClr>
            </a:gs>
            <a:gs pos="69000">
              <a:schemeClr val="accent2">
                <a:hueOff val="0"/>
                <a:satOff val="0"/>
                <a:lumOff val="-3660"/>
                <a:alphaOff val="0"/>
                <a:shade val="86000"/>
                <a:satMod val="130000"/>
                <a:lumMod val="102000"/>
              </a:schemeClr>
            </a:gs>
            <a:gs pos="100000">
              <a:schemeClr val="accent2">
                <a:hueOff val="0"/>
                <a:satOff val="0"/>
                <a:lumOff val="-3660"/>
                <a:alphaOff val="0"/>
                <a:shade val="72000"/>
                <a:satMod val="130000"/>
                <a:lumMod val="100000"/>
              </a:schemeClr>
            </a:gs>
          </a:gsLst>
          <a:lin ang="5400000" scaled="0"/>
        </a:gradFill>
        <a:ln w="12700" cap="flat" cmpd="sng" algn="ctr">
          <a:solidFill>
            <a:schemeClr val="accent2">
              <a:hueOff val="0"/>
              <a:satOff val="0"/>
              <a:lumOff val="-366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14EE756E-176C-471C-AA94-6B5CF4CC45B3}">
      <dsp:nvSpPr>
        <dsp:cNvPr id="0" name=""/>
        <dsp:cNvSpPr/>
      </dsp:nvSpPr>
      <dsp:spPr>
        <a:xfrm>
          <a:off x="0" y="1322856"/>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a:t>2). Project Overview</a:t>
          </a:r>
          <a:endParaRPr lang="en-US" sz="3100" kern="1200"/>
        </a:p>
      </dsp:txBody>
      <dsp:txXfrm>
        <a:off x="0" y="1322856"/>
        <a:ext cx="5924550" cy="661145"/>
      </dsp:txXfrm>
    </dsp:sp>
    <dsp:sp modelId="{485C8591-4F5E-40E0-BBEF-90585B3A12DE}">
      <dsp:nvSpPr>
        <dsp:cNvPr id="0" name=""/>
        <dsp:cNvSpPr/>
      </dsp:nvSpPr>
      <dsp:spPr>
        <a:xfrm>
          <a:off x="0" y="1984002"/>
          <a:ext cx="5924550" cy="0"/>
        </a:xfrm>
        <a:prstGeom prst="line">
          <a:avLst/>
        </a:prstGeom>
        <a:gradFill rotWithShape="0">
          <a:gsLst>
            <a:gs pos="0">
              <a:schemeClr val="accent2">
                <a:hueOff val="0"/>
                <a:satOff val="0"/>
                <a:lumOff val="-5490"/>
                <a:alphaOff val="0"/>
                <a:tint val="94000"/>
                <a:satMod val="100000"/>
                <a:lumMod val="104000"/>
              </a:schemeClr>
            </a:gs>
            <a:gs pos="69000">
              <a:schemeClr val="accent2">
                <a:hueOff val="0"/>
                <a:satOff val="0"/>
                <a:lumOff val="-5490"/>
                <a:alphaOff val="0"/>
                <a:shade val="86000"/>
                <a:satMod val="130000"/>
                <a:lumMod val="102000"/>
              </a:schemeClr>
            </a:gs>
            <a:gs pos="100000">
              <a:schemeClr val="accent2">
                <a:hueOff val="0"/>
                <a:satOff val="0"/>
                <a:lumOff val="-5490"/>
                <a:alphaOff val="0"/>
                <a:shade val="72000"/>
                <a:satMod val="130000"/>
                <a:lumMod val="100000"/>
              </a:schemeClr>
            </a:gs>
          </a:gsLst>
          <a:lin ang="5400000" scaled="0"/>
        </a:gradFill>
        <a:ln w="12700" cap="flat" cmpd="sng" algn="ctr">
          <a:solidFill>
            <a:schemeClr val="accent2">
              <a:hueOff val="0"/>
              <a:satOff val="0"/>
              <a:lumOff val="-549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DB2E32A4-B750-4922-BD88-7A4B1D0AE277}">
      <dsp:nvSpPr>
        <dsp:cNvPr id="0" name=""/>
        <dsp:cNvSpPr/>
      </dsp:nvSpPr>
      <dsp:spPr>
        <a:xfrm>
          <a:off x="0" y="1984002"/>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a:t>3). Data Description</a:t>
          </a:r>
          <a:endParaRPr lang="en-US" sz="3100" kern="1200"/>
        </a:p>
      </dsp:txBody>
      <dsp:txXfrm>
        <a:off x="0" y="1984002"/>
        <a:ext cx="5924550" cy="661145"/>
      </dsp:txXfrm>
    </dsp:sp>
    <dsp:sp modelId="{505C49A6-0EF9-473F-8E3C-367CBE74C295}">
      <dsp:nvSpPr>
        <dsp:cNvPr id="0" name=""/>
        <dsp:cNvSpPr/>
      </dsp:nvSpPr>
      <dsp:spPr>
        <a:xfrm>
          <a:off x="0" y="2645147"/>
          <a:ext cx="5924550" cy="0"/>
        </a:xfrm>
        <a:prstGeom prst="line">
          <a:avLst/>
        </a:prstGeom>
        <a:gradFill rotWithShape="0">
          <a:gsLst>
            <a:gs pos="0">
              <a:schemeClr val="accent2">
                <a:hueOff val="0"/>
                <a:satOff val="0"/>
                <a:lumOff val="-7320"/>
                <a:alphaOff val="0"/>
                <a:tint val="94000"/>
                <a:satMod val="100000"/>
                <a:lumMod val="104000"/>
              </a:schemeClr>
            </a:gs>
            <a:gs pos="69000">
              <a:schemeClr val="accent2">
                <a:hueOff val="0"/>
                <a:satOff val="0"/>
                <a:lumOff val="-7320"/>
                <a:alphaOff val="0"/>
                <a:shade val="86000"/>
                <a:satMod val="130000"/>
                <a:lumMod val="102000"/>
              </a:schemeClr>
            </a:gs>
            <a:gs pos="100000">
              <a:schemeClr val="accent2">
                <a:hueOff val="0"/>
                <a:satOff val="0"/>
                <a:lumOff val="-7320"/>
                <a:alphaOff val="0"/>
                <a:shade val="72000"/>
                <a:satMod val="130000"/>
                <a:lumMod val="100000"/>
              </a:schemeClr>
            </a:gs>
          </a:gsLst>
          <a:lin ang="5400000" scaled="0"/>
        </a:gradFill>
        <a:ln w="12700" cap="flat" cmpd="sng" algn="ctr">
          <a:solidFill>
            <a:schemeClr val="accent2">
              <a:hueOff val="0"/>
              <a:satOff val="0"/>
              <a:lumOff val="-732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8C6F9443-C2AE-48EC-AD4B-921D1A509761}">
      <dsp:nvSpPr>
        <dsp:cNvPr id="0" name=""/>
        <dsp:cNvSpPr/>
      </dsp:nvSpPr>
      <dsp:spPr>
        <a:xfrm>
          <a:off x="0" y="2645147"/>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dirty="0"/>
            <a:t>4). Dashboard design and KPI</a:t>
          </a:r>
          <a:endParaRPr lang="en-US" sz="3100" kern="1200" dirty="0"/>
        </a:p>
      </dsp:txBody>
      <dsp:txXfrm>
        <a:off x="0" y="2645147"/>
        <a:ext cx="5924550" cy="661145"/>
      </dsp:txXfrm>
    </dsp:sp>
    <dsp:sp modelId="{C1C88FB7-44F5-465C-BAA2-98B3832EE81E}">
      <dsp:nvSpPr>
        <dsp:cNvPr id="0" name=""/>
        <dsp:cNvSpPr/>
      </dsp:nvSpPr>
      <dsp:spPr>
        <a:xfrm>
          <a:off x="0" y="3306293"/>
          <a:ext cx="5924550" cy="0"/>
        </a:xfrm>
        <a:prstGeom prst="line">
          <a:avLst/>
        </a:prstGeom>
        <a:gradFill rotWithShape="0">
          <a:gsLst>
            <a:gs pos="0">
              <a:schemeClr val="accent2">
                <a:hueOff val="0"/>
                <a:satOff val="0"/>
                <a:lumOff val="-9150"/>
                <a:alphaOff val="0"/>
                <a:tint val="94000"/>
                <a:satMod val="100000"/>
                <a:lumMod val="104000"/>
              </a:schemeClr>
            </a:gs>
            <a:gs pos="69000">
              <a:schemeClr val="accent2">
                <a:hueOff val="0"/>
                <a:satOff val="0"/>
                <a:lumOff val="-9150"/>
                <a:alphaOff val="0"/>
                <a:shade val="86000"/>
                <a:satMod val="130000"/>
                <a:lumMod val="102000"/>
              </a:schemeClr>
            </a:gs>
            <a:gs pos="100000">
              <a:schemeClr val="accent2">
                <a:hueOff val="0"/>
                <a:satOff val="0"/>
                <a:lumOff val="-9150"/>
                <a:alphaOff val="0"/>
                <a:shade val="72000"/>
                <a:satMod val="130000"/>
                <a:lumMod val="100000"/>
              </a:schemeClr>
            </a:gs>
          </a:gsLst>
          <a:lin ang="5400000" scaled="0"/>
        </a:gradFill>
        <a:ln w="12700" cap="flat" cmpd="sng" algn="ctr">
          <a:solidFill>
            <a:schemeClr val="accent2">
              <a:hueOff val="0"/>
              <a:satOff val="0"/>
              <a:lumOff val="-915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37366B0E-64F5-47AC-8851-209D82527243}">
      <dsp:nvSpPr>
        <dsp:cNvPr id="0" name=""/>
        <dsp:cNvSpPr/>
      </dsp:nvSpPr>
      <dsp:spPr>
        <a:xfrm>
          <a:off x="0" y="3306293"/>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dirty="0"/>
            <a:t>5). Sales Analysis</a:t>
          </a:r>
          <a:endParaRPr lang="en-US" sz="3100" kern="1200" dirty="0"/>
        </a:p>
      </dsp:txBody>
      <dsp:txXfrm>
        <a:off x="0" y="3306293"/>
        <a:ext cx="5924550" cy="661145"/>
      </dsp:txXfrm>
    </dsp:sp>
    <dsp:sp modelId="{5F870256-76DD-49FA-85CA-10626B26E4BA}">
      <dsp:nvSpPr>
        <dsp:cNvPr id="0" name=""/>
        <dsp:cNvSpPr/>
      </dsp:nvSpPr>
      <dsp:spPr>
        <a:xfrm>
          <a:off x="0" y="3967439"/>
          <a:ext cx="5924550" cy="0"/>
        </a:xfrm>
        <a:prstGeom prst="line">
          <a:avLst/>
        </a:prstGeom>
        <a:gradFill rotWithShape="0">
          <a:gsLst>
            <a:gs pos="0">
              <a:schemeClr val="accent2">
                <a:hueOff val="0"/>
                <a:satOff val="0"/>
                <a:lumOff val="-10980"/>
                <a:alphaOff val="0"/>
                <a:tint val="94000"/>
                <a:satMod val="100000"/>
                <a:lumMod val="104000"/>
              </a:schemeClr>
            </a:gs>
            <a:gs pos="69000">
              <a:schemeClr val="accent2">
                <a:hueOff val="0"/>
                <a:satOff val="0"/>
                <a:lumOff val="-10980"/>
                <a:alphaOff val="0"/>
                <a:shade val="86000"/>
                <a:satMod val="130000"/>
                <a:lumMod val="102000"/>
              </a:schemeClr>
            </a:gs>
            <a:gs pos="100000">
              <a:schemeClr val="accent2">
                <a:hueOff val="0"/>
                <a:satOff val="0"/>
                <a:lumOff val="-10980"/>
                <a:alphaOff val="0"/>
                <a:shade val="72000"/>
                <a:satMod val="130000"/>
                <a:lumMod val="100000"/>
              </a:schemeClr>
            </a:gs>
          </a:gsLst>
          <a:lin ang="5400000" scaled="0"/>
        </a:gradFill>
        <a:ln w="12700" cap="flat" cmpd="sng" algn="ctr">
          <a:solidFill>
            <a:schemeClr val="accent2">
              <a:hueOff val="0"/>
              <a:satOff val="0"/>
              <a:lumOff val="-1098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CDB74E2B-92C8-48D4-B8E2-70B50D3091E7}">
      <dsp:nvSpPr>
        <dsp:cNvPr id="0" name=""/>
        <dsp:cNvSpPr/>
      </dsp:nvSpPr>
      <dsp:spPr>
        <a:xfrm>
          <a:off x="0" y="3967439"/>
          <a:ext cx="5924550" cy="661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kern="1200"/>
            <a:t>6) Key Insights and findings</a:t>
          </a:r>
          <a:endParaRPr lang="en-US" sz="3100" kern="1200"/>
        </a:p>
      </dsp:txBody>
      <dsp:txXfrm>
        <a:off x="0" y="3967439"/>
        <a:ext cx="5924550" cy="6611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083B45-78C8-40A5-B774-518C97E50A1A}">
      <dsp:nvSpPr>
        <dsp:cNvPr id="0" name=""/>
        <dsp:cNvSpPr/>
      </dsp:nvSpPr>
      <dsp:spPr>
        <a:xfrm>
          <a:off x="592065" y="935857"/>
          <a:ext cx="878180" cy="8781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78F740-3BB9-45D8-ACD1-F04DD9932AA5}">
      <dsp:nvSpPr>
        <dsp:cNvPr id="0" name=""/>
        <dsp:cNvSpPr/>
      </dsp:nvSpPr>
      <dsp:spPr>
        <a:xfrm>
          <a:off x="55399" y="2310742"/>
          <a:ext cx="1951511" cy="19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IN" sz="2100" b="1" u="sng" kern="1200"/>
            <a:t>Total Revenue by Quarter</a:t>
          </a:r>
          <a:r>
            <a:rPr lang="en-IN" sz="2100" u="sng" kern="1200"/>
            <a:t>.</a:t>
          </a:r>
          <a:endParaRPr lang="en-US" sz="2100" kern="1200"/>
        </a:p>
      </dsp:txBody>
      <dsp:txXfrm>
        <a:off x="55399" y="2310742"/>
        <a:ext cx="1951511" cy="1935000"/>
      </dsp:txXfrm>
    </dsp:sp>
    <dsp:sp modelId="{B68D5031-25EF-4AD9-AB93-18E9B65A0569}">
      <dsp:nvSpPr>
        <dsp:cNvPr id="0" name=""/>
        <dsp:cNvSpPr/>
      </dsp:nvSpPr>
      <dsp:spPr>
        <a:xfrm>
          <a:off x="2885090" y="935857"/>
          <a:ext cx="878180" cy="8781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ADE7FC-B115-4C6D-93DB-5B95683AE43F}">
      <dsp:nvSpPr>
        <dsp:cNvPr id="0" name=""/>
        <dsp:cNvSpPr/>
      </dsp:nvSpPr>
      <dsp:spPr>
        <a:xfrm>
          <a:off x="2348425" y="2310742"/>
          <a:ext cx="1951511" cy="19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IN" sz="1600" kern="1200" dirty="0"/>
            <a:t>*As we can see here, this chart shows total revenue earned by quarter. Minimum revenue is in 3</a:t>
          </a:r>
          <a:r>
            <a:rPr lang="en-IN" sz="1600" kern="1200" baseline="30000" dirty="0"/>
            <a:t>rd</a:t>
          </a:r>
          <a:r>
            <a:rPr lang="en-IN" sz="1600" kern="1200" dirty="0"/>
            <a:t> quarter and the maximum quarter is in 2</a:t>
          </a:r>
          <a:r>
            <a:rPr lang="en-IN" sz="1600" kern="1200" baseline="30000" dirty="0"/>
            <a:t>nd</a:t>
          </a:r>
          <a:r>
            <a:rPr lang="en-IN" sz="1600" kern="1200" dirty="0"/>
            <a:t> quarter.</a:t>
          </a:r>
          <a:endParaRPr lang="en-US" sz="1600" kern="1200" dirty="0"/>
        </a:p>
      </dsp:txBody>
      <dsp:txXfrm>
        <a:off x="2348425" y="2310742"/>
        <a:ext cx="1951511" cy="1935000"/>
      </dsp:txXfrm>
    </dsp:sp>
    <dsp:sp modelId="{D1510854-D52B-4A0C-B6FF-D1656FF17BAC}">
      <dsp:nvSpPr>
        <dsp:cNvPr id="0" name=""/>
        <dsp:cNvSpPr/>
      </dsp:nvSpPr>
      <dsp:spPr>
        <a:xfrm>
          <a:off x="5178116" y="935857"/>
          <a:ext cx="878180" cy="8781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CA5A1A-CCF7-4723-B23A-FD602347D082}">
      <dsp:nvSpPr>
        <dsp:cNvPr id="0" name=""/>
        <dsp:cNvSpPr/>
      </dsp:nvSpPr>
      <dsp:spPr>
        <a:xfrm>
          <a:off x="4641451" y="2310742"/>
          <a:ext cx="1951511" cy="19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n-IN" sz="2100" kern="1200"/>
            <a:t>There is a drop in revenue after 3</a:t>
          </a:r>
          <a:r>
            <a:rPr lang="en-IN" sz="2100" kern="1200" baseline="30000"/>
            <a:t>rd</a:t>
          </a:r>
          <a:r>
            <a:rPr lang="en-IN" sz="2100" kern="1200"/>
            <a:t> quarter, but we can also see slight increase after quarter 3.</a:t>
          </a:r>
          <a:endParaRPr lang="en-US" sz="2100" kern="1200"/>
        </a:p>
      </dsp:txBody>
      <dsp:txXfrm>
        <a:off x="4641451" y="2310742"/>
        <a:ext cx="1951511" cy="1935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E1936-BAAF-488F-8158-4DDB1B5E15B5}">
      <dsp:nvSpPr>
        <dsp:cNvPr id="0" name=""/>
        <dsp:cNvSpPr/>
      </dsp:nvSpPr>
      <dsp:spPr>
        <a:xfrm>
          <a:off x="800449" y="1353549"/>
          <a:ext cx="1270687" cy="12706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185E4D-1F38-4BB2-ADA5-9BBABD1ECDED}">
      <dsp:nvSpPr>
        <dsp:cNvPr id="0" name=""/>
        <dsp:cNvSpPr/>
      </dsp:nvSpPr>
      <dsp:spPr>
        <a:xfrm>
          <a:off x="23917" y="2995550"/>
          <a:ext cx="2823750"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Here we can see that highest unit sold is 63 bikes in Pune city. In previous slid we checked that the highest revenue was in Pune city that means unit sold has a great impact on revenue.</a:t>
          </a:r>
          <a:endParaRPr lang="en-US" sz="1100" kern="1200"/>
        </a:p>
      </dsp:txBody>
      <dsp:txXfrm>
        <a:off x="23917" y="2995550"/>
        <a:ext cx="2823750" cy="832500"/>
      </dsp:txXfrm>
    </dsp:sp>
    <dsp:sp modelId="{8638EB99-C598-4D2F-BE46-F355E0BB3A4B}">
      <dsp:nvSpPr>
        <dsp:cNvPr id="0" name=""/>
        <dsp:cNvSpPr/>
      </dsp:nvSpPr>
      <dsp:spPr>
        <a:xfrm>
          <a:off x="4118355" y="1353549"/>
          <a:ext cx="1270687" cy="12706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0B5333-1D5F-4D7B-842F-38350E4C339A}">
      <dsp:nvSpPr>
        <dsp:cNvPr id="0" name=""/>
        <dsp:cNvSpPr/>
      </dsp:nvSpPr>
      <dsp:spPr>
        <a:xfrm>
          <a:off x="3341824" y="2995550"/>
          <a:ext cx="2823750"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The lowest unit sold is in Mumbai which leads to lowest revenue in that City as well.</a:t>
          </a:r>
          <a:endParaRPr lang="en-US" sz="1100" kern="1200"/>
        </a:p>
      </dsp:txBody>
      <dsp:txXfrm>
        <a:off x="3341824" y="2995550"/>
        <a:ext cx="2823750" cy="8325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065E4-A0B6-4B0C-A5C4-88F8945EE6E1}" type="datetimeFigureOut">
              <a:rPr lang="en-IN" smtClean="0"/>
              <a:t>26-01-2026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7CFD4-543D-49A1-B431-11EE6CDB1475}" type="slidenum">
              <a:rPr lang="en-IN" smtClean="0"/>
              <a:t>‹#›</a:t>
            </a:fld>
            <a:endParaRPr lang="en-IN"/>
          </a:p>
        </p:txBody>
      </p:sp>
    </p:spTree>
    <p:extLst>
      <p:ext uri="{BB962C8B-B14F-4D97-AF65-F5344CB8AC3E}">
        <p14:creationId xmlns:p14="http://schemas.microsoft.com/office/powerpoint/2010/main" val="3275829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97CFD4-543D-49A1-B431-11EE6CDB1475}" type="slidenum">
              <a:rPr lang="en-IN" smtClean="0"/>
              <a:t>8</a:t>
            </a:fld>
            <a:endParaRPr lang="en-IN"/>
          </a:p>
        </p:txBody>
      </p:sp>
    </p:spTree>
    <p:extLst>
      <p:ext uri="{BB962C8B-B14F-4D97-AF65-F5344CB8AC3E}">
        <p14:creationId xmlns:p14="http://schemas.microsoft.com/office/powerpoint/2010/main" val="2875279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4173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5631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214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47398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1/26/2026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8112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1/26/2026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756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1/26/2026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34930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10475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1/26/2026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242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1706981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1516775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941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3560184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1/26/2026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9149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1/26/2026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58064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55054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55826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2D6E202-B606-4609-B914-27C9371A1F6D}" type="datetime1">
              <a:rPr lang="en-US" smtClean="0"/>
              <a:t>1/26/2026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725003539"/>
      </p:ext>
    </p:extLst>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2.png"/><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6.png"/><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313FA-AAF2-FB54-B8C4-04982DF1CABB}"/>
              </a:ext>
            </a:extLst>
          </p:cNvPr>
          <p:cNvSpPr>
            <a:spLocks noGrp="1"/>
          </p:cNvSpPr>
          <p:nvPr>
            <p:ph type="title"/>
          </p:nvPr>
        </p:nvSpPr>
        <p:spPr>
          <a:xfrm>
            <a:off x="752475" y="609600"/>
            <a:ext cx="3643150" cy="5603310"/>
          </a:xfrm>
        </p:spPr>
        <p:txBody>
          <a:bodyPr>
            <a:normAutofit/>
          </a:bodyPr>
          <a:lstStyle/>
          <a:p>
            <a:r>
              <a:rPr lang="en-IN" sz="3100" dirty="0"/>
              <a:t>Motorcycle sales Performance.</a:t>
            </a:r>
          </a:p>
        </p:txBody>
      </p:sp>
      <p:graphicFrame>
        <p:nvGraphicFramePr>
          <p:cNvPr id="5" name="Content Placeholder 2">
            <a:extLst>
              <a:ext uri="{FF2B5EF4-FFF2-40B4-BE49-F238E27FC236}">
                <a16:creationId xmlns:a16="http://schemas.microsoft.com/office/drawing/2014/main" id="{B7C38CBE-EDA1-11A1-40BA-0DACEC36707E}"/>
              </a:ext>
            </a:extLst>
          </p:cNvPr>
          <p:cNvGraphicFramePr>
            <a:graphicFrameLocks noGrp="1"/>
          </p:cNvGraphicFramePr>
          <p:nvPr>
            <p:ph idx="1"/>
            <p:extLst>
              <p:ext uri="{D42A27DB-BD31-4B8C-83A1-F6EECF244321}">
                <p14:modId xmlns:p14="http://schemas.microsoft.com/office/powerpoint/2010/main" val="1636347894"/>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7285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9435F-BF70-E831-0CC0-0C44B4126977}"/>
              </a:ext>
            </a:extLst>
          </p:cNvPr>
          <p:cNvSpPr>
            <a:spLocks noGrp="1"/>
          </p:cNvSpPr>
          <p:nvPr>
            <p:ph type="title"/>
          </p:nvPr>
        </p:nvSpPr>
        <p:spPr>
          <a:xfrm>
            <a:off x="4927472" y="609600"/>
            <a:ext cx="6340084" cy="1326321"/>
          </a:xfrm>
        </p:spPr>
        <p:txBody>
          <a:bodyPr>
            <a:normAutofit/>
          </a:bodyPr>
          <a:lstStyle/>
          <a:p>
            <a:r>
              <a:rPr lang="en-IN"/>
              <a:t>Introduction</a:t>
            </a:r>
            <a:endParaRPr lang="en-IN" dirty="0"/>
          </a:p>
        </p:txBody>
      </p:sp>
      <p:sp>
        <p:nvSpPr>
          <p:cNvPr id="14" name="Content Placeholder 2">
            <a:extLst>
              <a:ext uri="{FF2B5EF4-FFF2-40B4-BE49-F238E27FC236}">
                <a16:creationId xmlns:a16="http://schemas.microsoft.com/office/drawing/2014/main" id="{E7BF426C-14D7-EA5B-2F1E-46EBEB10C7F4}"/>
              </a:ext>
            </a:extLst>
          </p:cNvPr>
          <p:cNvSpPr>
            <a:spLocks noGrp="1"/>
          </p:cNvSpPr>
          <p:nvPr>
            <p:ph idx="1"/>
          </p:nvPr>
        </p:nvSpPr>
        <p:spPr>
          <a:xfrm>
            <a:off x="4927471" y="2096064"/>
            <a:ext cx="6340085" cy="3695136"/>
          </a:xfrm>
        </p:spPr>
        <p:txBody>
          <a:bodyPr>
            <a:normAutofit/>
          </a:bodyPr>
          <a:lstStyle/>
          <a:p>
            <a:pPr>
              <a:lnSpc>
                <a:spcPct val="110000"/>
              </a:lnSpc>
            </a:pPr>
            <a:r>
              <a:rPr lang="en-IN" sz="1400" dirty="0"/>
              <a:t>Name: Darshana </a:t>
            </a:r>
            <a:r>
              <a:rPr lang="en-IN" sz="1400" dirty="0" err="1"/>
              <a:t>Shahaji</a:t>
            </a:r>
            <a:r>
              <a:rPr lang="en-IN" sz="1400" dirty="0"/>
              <a:t> Pawar</a:t>
            </a:r>
          </a:p>
          <a:p>
            <a:pPr>
              <a:lnSpc>
                <a:spcPct val="110000"/>
              </a:lnSpc>
            </a:pPr>
            <a:r>
              <a:rPr lang="en-IN" sz="1400" dirty="0"/>
              <a:t>Topic: Bike sales Performance Overview</a:t>
            </a:r>
          </a:p>
          <a:p>
            <a:pPr>
              <a:lnSpc>
                <a:spcPct val="110000"/>
              </a:lnSpc>
            </a:pPr>
            <a:r>
              <a:rPr lang="en-IN" sz="1400" dirty="0"/>
              <a:t>Objectives of the project: The project focuses on the revenue analysis as per to various aspects like cities, unit sold, revenue etc. Regression analysis is used to predict the model is significant or no. There was no user input so I just found the insights and the forecast about revenue.</a:t>
            </a:r>
          </a:p>
          <a:p>
            <a:pPr>
              <a:lnSpc>
                <a:spcPct val="110000"/>
              </a:lnSpc>
            </a:pPr>
            <a:r>
              <a:rPr lang="en-IN" sz="1400" dirty="0"/>
              <a:t>Tools used: Python, SQL, power BI </a:t>
            </a:r>
          </a:p>
          <a:p>
            <a:pPr marL="0" indent="0">
              <a:lnSpc>
                <a:spcPct val="110000"/>
              </a:lnSpc>
              <a:buNone/>
            </a:pPr>
            <a:r>
              <a:rPr lang="en-IN" sz="1400" dirty="0"/>
              <a:t>Python- Cleaning data</a:t>
            </a:r>
          </a:p>
          <a:p>
            <a:pPr marL="0" indent="0">
              <a:lnSpc>
                <a:spcPct val="110000"/>
              </a:lnSpc>
              <a:buNone/>
            </a:pPr>
            <a:r>
              <a:rPr lang="en-IN" sz="1400" dirty="0"/>
              <a:t>SQL- To perform some highest and lowest values</a:t>
            </a:r>
          </a:p>
          <a:p>
            <a:pPr marL="0" indent="0">
              <a:lnSpc>
                <a:spcPct val="110000"/>
              </a:lnSpc>
              <a:buNone/>
            </a:pPr>
            <a:r>
              <a:rPr lang="en-IN" sz="1400" dirty="0"/>
              <a:t>Power BI- Visualization and modelling.</a:t>
            </a:r>
          </a:p>
        </p:txBody>
      </p:sp>
      <p:pic>
        <p:nvPicPr>
          <p:cNvPr id="5" name="Picture 4" descr="Graph">
            <a:extLst>
              <a:ext uri="{FF2B5EF4-FFF2-40B4-BE49-F238E27FC236}">
                <a16:creationId xmlns:a16="http://schemas.microsoft.com/office/drawing/2014/main" id="{022FACF6-C06F-6E22-6358-A1922EECA5D4}"/>
              </a:ext>
            </a:extLst>
          </p:cNvPr>
          <p:cNvPicPr>
            <a:picLocks noChangeAspect="1"/>
          </p:cNvPicPr>
          <p:nvPr/>
        </p:nvPicPr>
        <p:blipFill>
          <a:blip r:embed="rId3"/>
          <a:srcRect l="23242" r="34508"/>
          <a:stretch>
            <a:fillRect/>
          </a:stretch>
        </p:blipFill>
        <p:spPr>
          <a:xfrm>
            <a:off x="20" y="10"/>
            <a:ext cx="4635987" cy="6857990"/>
          </a:xfrm>
          <a:prstGeom prst="rect">
            <a:avLst/>
          </a:prstGeom>
        </p:spPr>
      </p:pic>
    </p:spTree>
    <p:extLst>
      <p:ext uri="{BB962C8B-B14F-4D97-AF65-F5344CB8AC3E}">
        <p14:creationId xmlns:p14="http://schemas.microsoft.com/office/powerpoint/2010/main" val="47157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C74E2-85D5-DA13-F59F-B444DAFA2711}"/>
              </a:ext>
            </a:extLst>
          </p:cNvPr>
          <p:cNvSpPr>
            <a:spLocks noGrp="1"/>
          </p:cNvSpPr>
          <p:nvPr>
            <p:ph type="title"/>
          </p:nvPr>
        </p:nvSpPr>
        <p:spPr/>
        <p:txBody>
          <a:bodyPr>
            <a:normAutofit/>
          </a:bodyPr>
          <a:lstStyle/>
          <a:p>
            <a:r>
              <a:rPr lang="en-IN" dirty="0"/>
              <a:t>Project Overview.</a:t>
            </a:r>
          </a:p>
        </p:txBody>
      </p:sp>
      <p:sp>
        <p:nvSpPr>
          <p:cNvPr id="9" name="Content Placeholder 2">
            <a:extLst>
              <a:ext uri="{FF2B5EF4-FFF2-40B4-BE49-F238E27FC236}">
                <a16:creationId xmlns:a16="http://schemas.microsoft.com/office/drawing/2014/main" id="{F77CF17D-3452-BCD3-750B-813AAB2275C2}"/>
              </a:ext>
            </a:extLst>
          </p:cNvPr>
          <p:cNvSpPr>
            <a:spLocks noGrp="1"/>
          </p:cNvSpPr>
          <p:nvPr>
            <p:ph idx="1"/>
          </p:nvPr>
        </p:nvSpPr>
        <p:spPr>
          <a:xfrm>
            <a:off x="913795" y="2096064"/>
            <a:ext cx="5016860" cy="3695136"/>
          </a:xfrm>
        </p:spPr>
        <p:txBody>
          <a:bodyPr>
            <a:normAutofit/>
          </a:bodyPr>
          <a:lstStyle/>
          <a:p>
            <a:pPr>
              <a:lnSpc>
                <a:spcPct val="110000"/>
              </a:lnSpc>
            </a:pPr>
            <a:r>
              <a:rPr lang="en-IN" sz="1600"/>
              <a:t>My project focuses mainly on last two years of bike sales. It showcase the difference between the two years. I have also analyse that the profit has increases from past year. If we focuses on few aspect the profit will be increase more.</a:t>
            </a:r>
          </a:p>
          <a:p>
            <a:pPr>
              <a:lnSpc>
                <a:spcPct val="110000"/>
              </a:lnSpc>
            </a:pPr>
            <a:r>
              <a:rPr lang="en-IN" sz="1600"/>
              <a:t>The default profit is </a:t>
            </a:r>
            <a:r>
              <a:rPr lang="en-IN" sz="1600">
                <a:effectLst/>
              </a:rPr>
              <a:t>₹ 1,29,584, even if there is 0 unit sold the profit will be the same. I also want to showcase the revenue increasing by per unit. If we sell 1 unit the profit increases by ₹1,04,668. </a:t>
            </a:r>
          </a:p>
          <a:p>
            <a:pPr>
              <a:lnSpc>
                <a:spcPct val="110000"/>
              </a:lnSpc>
            </a:pPr>
            <a:r>
              <a:rPr lang="en-IN" sz="1600">
                <a:effectLst/>
              </a:rPr>
              <a:t>We are 95% confidence that each unit sold increases the revenue between ₹8K to ₹13K.</a:t>
            </a:r>
            <a:endParaRPr lang="en-IN" sz="1600"/>
          </a:p>
        </p:txBody>
      </p:sp>
      <p:pic>
        <p:nvPicPr>
          <p:cNvPr id="10" name="Graphic 9" descr="Bike">
            <a:extLst>
              <a:ext uri="{FF2B5EF4-FFF2-40B4-BE49-F238E27FC236}">
                <a16:creationId xmlns:a16="http://schemas.microsoft.com/office/drawing/2014/main" id="{49709A39-DD02-164F-984B-6F6874E234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27295"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4204694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1CA75C3-EC3F-85C3-41AF-E9AA9D028BD0}"/>
              </a:ext>
            </a:extLst>
          </p:cNvPr>
          <p:cNvPicPr>
            <a:picLocks noChangeAspect="1"/>
          </p:cNvPicPr>
          <p:nvPr/>
        </p:nvPicPr>
        <p:blipFill>
          <a:blip r:embed="rId3">
            <a:alphaModFix amt="35000"/>
          </a:blip>
          <a:srcRect t="29"/>
          <a:stretch>
            <a:fillRect/>
          </a:stretch>
        </p:blipFill>
        <p:spPr>
          <a:xfrm>
            <a:off x="20" y="2030"/>
            <a:ext cx="12191980" cy="6855970"/>
          </a:xfrm>
          <a:prstGeom prst="rect">
            <a:avLst/>
          </a:prstGeom>
        </p:spPr>
      </p:pic>
      <p:sp>
        <p:nvSpPr>
          <p:cNvPr id="2" name="Title 1">
            <a:extLst>
              <a:ext uri="{FF2B5EF4-FFF2-40B4-BE49-F238E27FC236}">
                <a16:creationId xmlns:a16="http://schemas.microsoft.com/office/drawing/2014/main" id="{5BC7D37F-47E5-944C-2C8D-371E7ED8D391}"/>
              </a:ext>
            </a:extLst>
          </p:cNvPr>
          <p:cNvSpPr>
            <a:spLocks noGrp="1"/>
          </p:cNvSpPr>
          <p:nvPr>
            <p:ph type="title"/>
          </p:nvPr>
        </p:nvSpPr>
        <p:spPr/>
        <p:txBody>
          <a:bodyPr>
            <a:normAutofit/>
          </a:bodyPr>
          <a:lstStyle/>
          <a:p>
            <a:r>
              <a:rPr lang="en-IN" dirty="0"/>
              <a:t>Data description.</a:t>
            </a:r>
          </a:p>
        </p:txBody>
      </p:sp>
      <p:sp>
        <p:nvSpPr>
          <p:cNvPr id="16" name="Content Placeholder 2">
            <a:extLst>
              <a:ext uri="{FF2B5EF4-FFF2-40B4-BE49-F238E27FC236}">
                <a16:creationId xmlns:a16="http://schemas.microsoft.com/office/drawing/2014/main" id="{E01E21BD-2305-AC26-6107-80295C7F3AAD}"/>
              </a:ext>
            </a:extLst>
          </p:cNvPr>
          <p:cNvSpPr>
            <a:spLocks noGrp="1"/>
          </p:cNvSpPr>
          <p:nvPr>
            <p:ph idx="1"/>
          </p:nvPr>
        </p:nvSpPr>
        <p:spPr/>
        <p:txBody>
          <a:bodyPr>
            <a:normAutofit/>
          </a:bodyPr>
          <a:lstStyle/>
          <a:p>
            <a:r>
              <a:rPr lang="en-IN" dirty="0"/>
              <a:t>The dataset contains bike sales for last two years 2024 and 2025. It also includes revenue, unit sold, customer feedback, bike model and time period.</a:t>
            </a:r>
          </a:p>
          <a:p>
            <a:r>
              <a:rPr lang="en-IN" dirty="0"/>
              <a:t>Data was absolutely clean, there was no duplicate values no null values.</a:t>
            </a:r>
          </a:p>
          <a:p>
            <a:r>
              <a:rPr lang="en-IN" dirty="0"/>
              <a:t>We derived insights like total revenue as per to city, as per to the unit sold. This model is significant as the p value &lt;0.05.</a:t>
            </a:r>
          </a:p>
          <a:p>
            <a:r>
              <a:rPr lang="en-IN" dirty="0"/>
              <a:t>The columns that we have is unit sold, time period, model name this impact 46% on a profit and rest 54% depends upon other aspects like discount, price, etc.</a:t>
            </a:r>
          </a:p>
          <a:p>
            <a:r>
              <a:rPr lang="en-IN" dirty="0"/>
              <a:t>Correlation is 1 so it is stronger relationship.</a:t>
            </a:r>
          </a:p>
        </p:txBody>
      </p:sp>
    </p:spTree>
    <p:extLst>
      <p:ext uri="{BB962C8B-B14F-4D97-AF65-F5344CB8AC3E}">
        <p14:creationId xmlns:p14="http://schemas.microsoft.com/office/powerpoint/2010/main" val="2129432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07E1-AC76-3377-5F85-DE868F680440}"/>
              </a:ext>
            </a:extLst>
          </p:cNvPr>
          <p:cNvSpPr>
            <a:spLocks noGrp="1"/>
          </p:cNvSpPr>
          <p:nvPr>
            <p:ph type="title"/>
          </p:nvPr>
        </p:nvSpPr>
        <p:spPr/>
        <p:txBody>
          <a:bodyPr/>
          <a:lstStyle/>
          <a:p>
            <a:r>
              <a:rPr lang="en-IN" dirty="0"/>
              <a:t>Dashboard design and KPI</a:t>
            </a:r>
            <a:br>
              <a:rPr lang="en-IN" dirty="0"/>
            </a:br>
            <a:endParaRPr lang="en-IN" dirty="0"/>
          </a:p>
        </p:txBody>
      </p:sp>
      <p:graphicFrame>
        <p:nvGraphicFramePr>
          <p:cNvPr id="10" name="Content Placeholder 2">
            <a:extLst>
              <a:ext uri="{FF2B5EF4-FFF2-40B4-BE49-F238E27FC236}">
                <a16:creationId xmlns:a16="http://schemas.microsoft.com/office/drawing/2014/main" id="{31902900-6C19-88AA-0B8A-67D5B0093350}"/>
              </a:ext>
            </a:extLst>
          </p:cNvPr>
          <p:cNvGraphicFramePr>
            <a:graphicFrameLocks noGrp="1"/>
          </p:cNvGraphicFramePr>
          <p:nvPr>
            <p:ph idx="1"/>
            <p:extLst>
              <p:ext uri="{D42A27DB-BD31-4B8C-83A1-F6EECF244321}">
                <p14:modId xmlns:p14="http://schemas.microsoft.com/office/powerpoint/2010/main" val="262830972"/>
              </p:ext>
            </p:extLst>
          </p:nvPr>
        </p:nvGraphicFramePr>
        <p:xfrm>
          <a:off x="5078064" y="609600"/>
          <a:ext cx="6648362"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C4FC4280-2298-9C33-29C9-BF4B2F935C6A}"/>
              </a:ext>
            </a:extLst>
          </p:cNvPr>
          <p:cNvSpPr>
            <a:spLocks noGrp="1"/>
          </p:cNvSpPr>
          <p:nvPr>
            <p:ph type="body" sz="half" idx="2"/>
          </p:nvPr>
        </p:nvSpPr>
        <p:spPr/>
        <p:txBody>
          <a:bodyPr/>
          <a:lstStyle/>
          <a:p>
            <a:endParaRPr lang="en-IN" dirty="0"/>
          </a:p>
        </p:txBody>
      </p:sp>
      <p:pic>
        <p:nvPicPr>
          <p:cNvPr id="6" name="Picture 5">
            <a:extLst>
              <a:ext uri="{FF2B5EF4-FFF2-40B4-BE49-F238E27FC236}">
                <a16:creationId xmlns:a16="http://schemas.microsoft.com/office/drawing/2014/main" id="{B0294A3F-46D8-B22E-D50D-E484214DC1DD}"/>
              </a:ext>
            </a:extLst>
          </p:cNvPr>
          <p:cNvPicPr>
            <a:picLocks noChangeAspect="1"/>
          </p:cNvPicPr>
          <p:nvPr/>
        </p:nvPicPr>
        <p:blipFill>
          <a:blip r:embed="rId7"/>
          <a:stretch>
            <a:fillRect/>
          </a:stretch>
        </p:blipFill>
        <p:spPr>
          <a:xfrm>
            <a:off x="627859" y="2928256"/>
            <a:ext cx="4510973" cy="2906486"/>
          </a:xfrm>
          <a:prstGeom prst="rect">
            <a:avLst/>
          </a:prstGeom>
        </p:spPr>
      </p:pic>
    </p:spTree>
    <p:extLst>
      <p:ext uri="{BB962C8B-B14F-4D97-AF65-F5344CB8AC3E}">
        <p14:creationId xmlns:p14="http://schemas.microsoft.com/office/powerpoint/2010/main" val="3214179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A3ED-BE38-3105-8681-0268F71FC4C2}"/>
              </a:ext>
            </a:extLst>
          </p:cNvPr>
          <p:cNvSpPr>
            <a:spLocks noGrp="1"/>
          </p:cNvSpPr>
          <p:nvPr>
            <p:ph type="title"/>
          </p:nvPr>
        </p:nvSpPr>
        <p:spPr/>
        <p:txBody>
          <a:bodyPr/>
          <a:lstStyle/>
          <a:p>
            <a:r>
              <a:rPr lang="en-IN" u="sng" dirty="0"/>
              <a:t>Total Revenue by city.</a:t>
            </a:r>
          </a:p>
        </p:txBody>
      </p:sp>
      <p:sp>
        <p:nvSpPr>
          <p:cNvPr id="3" name="Content Placeholder 2">
            <a:extLst>
              <a:ext uri="{FF2B5EF4-FFF2-40B4-BE49-F238E27FC236}">
                <a16:creationId xmlns:a16="http://schemas.microsoft.com/office/drawing/2014/main" id="{9EA9266A-434D-65A1-83AF-EF6E91F59F09}"/>
              </a:ext>
            </a:extLst>
          </p:cNvPr>
          <p:cNvSpPr>
            <a:spLocks noGrp="1"/>
          </p:cNvSpPr>
          <p:nvPr>
            <p:ph idx="1"/>
          </p:nvPr>
        </p:nvSpPr>
        <p:spPr/>
        <p:txBody>
          <a:bodyPr/>
          <a:lstStyle/>
          <a:p>
            <a:r>
              <a:rPr lang="en-IN" dirty="0"/>
              <a:t>This line chart shows total revenue earned as per to the city</a:t>
            </a:r>
          </a:p>
          <a:p>
            <a:r>
              <a:rPr lang="en-IN" dirty="0"/>
              <a:t>The highest revenue is earned by Pune city whereas the lower is in Mumbai.</a:t>
            </a:r>
          </a:p>
          <a:p>
            <a:pPr marL="0" indent="0">
              <a:buNone/>
            </a:pPr>
            <a:endParaRPr lang="en-IN" dirty="0"/>
          </a:p>
        </p:txBody>
      </p:sp>
      <p:sp>
        <p:nvSpPr>
          <p:cNvPr id="4" name="Text Placeholder 3">
            <a:extLst>
              <a:ext uri="{FF2B5EF4-FFF2-40B4-BE49-F238E27FC236}">
                <a16:creationId xmlns:a16="http://schemas.microsoft.com/office/drawing/2014/main" id="{1FCA111A-CA63-4145-3B2A-6ED8F25CE662}"/>
              </a:ext>
            </a:extLst>
          </p:cNvPr>
          <p:cNvSpPr>
            <a:spLocks noGrp="1"/>
          </p:cNvSpPr>
          <p:nvPr>
            <p:ph type="body" sz="half" idx="2"/>
          </p:nvPr>
        </p:nvSpPr>
        <p:spPr/>
        <p:txBody>
          <a:bodyPr/>
          <a:lstStyle/>
          <a:p>
            <a:endParaRPr lang="en-IN"/>
          </a:p>
        </p:txBody>
      </p:sp>
      <p:pic>
        <p:nvPicPr>
          <p:cNvPr id="6" name="Picture 5">
            <a:extLst>
              <a:ext uri="{FF2B5EF4-FFF2-40B4-BE49-F238E27FC236}">
                <a16:creationId xmlns:a16="http://schemas.microsoft.com/office/drawing/2014/main" id="{5826CA43-75BC-93FB-DDF1-EADECFB864A1}"/>
              </a:ext>
            </a:extLst>
          </p:cNvPr>
          <p:cNvPicPr>
            <a:picLocks noChangeAspect="1"/>
          </p:cNvPicPr>
          <p:nvPr/>
        </p:nvPicPr>
        <p:blipFill>
          <a:blip r:embed="rId2"/>
          <a:stretch>
            <a:fillRect/>
          </a:stretch>
        </p:blipFill>
        <p:spPr>
          <a:xfrm>
            <a:off x="688629" y="2971799"/>
            <a:ext cx="4276661" cy="2819399"/>
          </a:xfrm>
          <a:prstGeom prst="rect">
            <a:avLst/>
          </a:prstGeom>
        </p:spPr>
      </p:pic>
    </p:spTree>
    <p:extLst>
      <p:ext uri="{BB962C8B-B14F-4D97-AF65-F5344CB8AC3E}">
        <p14:creationId xmlns:p14="http://schemas.microsoft.com/office/powerpoint/2010/main" val="179858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27191-371E-3E2C-E053-0EC6F28431B4}"/>
              </a:ext>
            </a:extLst>
          </p:cNvPr>
          <p:cNvSpPr>
            <a:spLocks noGrp="1"/>
          </p:cNvSpPr>
          <p:nvPr>
            <p:ph type="title"/>
          </p:nvPr>
        </p:nvSpPr>
        <p:spPr/>
        <p:txBody>
          <a:bodyPr/>
          <a:lstStyle/>
          <a:p>
            <a:r>
              <a:rPr lang="en-IN" u="sng" dirty="0"/>
              <a:t>Total Units sold by city.</a:t>
            </a:r>
          </a:p>
        </p:txBody>
      </p:sp>
      <p:graphicFrame>
        <p:nvGraphicFramePr>
          <p:cNvPr id="10" name="Content Placeholder 2">
            <a:extLst>
              <a:ext uri="{FF2B5EF4-FFF2-40B4-BE49-F238E27FC236}">
                <a16:creationId xmlns:a16="http://schemas.microsoft.com/office/drawing/2014/main" id="{6BE0F34E-5B26-76FD-82BF-2CF1830E75EA}"/>
              </a:ext>
            </a:extLst>
          </p:cNvPr>
          <p:cNvGraphicFramePr>
            <a:graphicFrameLocks noGrp="1"/>
          </p:cNvGraphicFramePr>
          <p:nvPr>
            <p:ph idx="1"/>
          </p:nvPr>
        </p:nvGraphicFramePr>
        <p:xfrm>
          <a:off x="5078064" y="609600"/>
          <a:ext cx="6189492"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79D71094-54F5-1D0F-1740-72EDA326EA4A}"/>
              </a:ext>
            </a:extLst>
          </p:cNvPr>
          <p:cNvSpPr>
            <a:spLocks noGrp="1"/>
          </p:cNvSpPr>
          <p:nvPr>
            <p:ph type="body" sz="half" idx="2"/>
          </p:nvPr>
        </p:nvSpPr>
        <p:spPr/>
        <p:txBody>
          <a:bodyPr/>
          <a:lstStyle/>
          <a:p>
            <a:endParaRPr lang="en-IN" dirty="0"/>
          </a:p>
        </p:txBody>
      </p:sp>
      <p:pic>
        <p:nvPicPr>
          <p:cNvPr id="6" name="Picture 5">
            <a:extLst>
              <a:ext uri="{FF2B5EF4-FFF2-40B4-BE49-F238E27FC236}">
                <a16:creationId xmlns:a16="http://schemas.microsoft.com/office/drawing/2014/main" id="{E1143E53-E1B8-787C-14F0-E8F9D5530D47}"/>
              </a:ext>
            </a:extLst>
          </p:cNvPr>
          <p:cNvPicPr>
            <a:picLocks noChangeAspect="1"/>
          </p:cNvPicPr>
          <p:nvPr/>
        </p:nvPicPr>
        <p:blipFill>
          <a:blip r:embed="rId7"/>
          <a:stretch>
            <a:fillRect/>
          </a:stretch>
        </p:blipFill>
        <p:spPr>
          <a:xfrm>
            <a:off x="917228" y="2971800"/>
            <a:ext cx="3973909" cy="2819399"/>
          </a:xfrm>
          <a:prstGeom prst="rect">
            <a:avLst/>
          </a:prstGeom>
        </p:spPr>
      </p:pic>
    </p:spTree>
    <p:extLst>
      <p:ext uri="{BB962C8B-B14F-4D97-AF65-F5344CB8AC3E}">
        <p14:creationId xmlns:p14="http://schemas.microsoft.com/office/powerpoint/2010/main" val="25497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7A1A-A3DF-D5DD-263F-25428A70D1E1}"/>
              </a:ext>
            </a:extLst>
          </p:cNvPr>
          <p:cNvSpPr>
            <a:spLocks noGrp="1"/>
          </p:cNvSpPr>
          <p:nvPr>
            <p:ph type="title"/>
          </p:nvPr>
        </p:nvSpPr>
        <p:spPr>
          <a:xfrm>
            <a:off x="917228" y="609600"/>
            <a:ext cx="4160836" cy="937846"/>
          </a:xfrm>
        </p:spPr>
        <p:txBody>
          <a:bodyPr/>
          <a:lstStyle/>
          <a:p>
            <a:r>
              <a:rPr lang="en-IN" u="sng" dirty="0"/>
              <a:t>Maximum and Minimum value</a:t>
            </a:r>
            <a:r>
              <a:rPr lang="en-IN" dirty="0"/>
              <a:t>.</a:t>
            </a:r>
          </a:p>
        </p:txBody>
      </p:sp>
      <p:sp>
        <p:nvSpPr>
          <p:cNvPr id="3" name="Content Placeholder 2">
            <a:extLst>
              <a:ext uri="{FF2B5EF4-FFF2-40B4-BE49-F238E27FC236}">
                <a16:creationId xmlns:a16="http://schemas.microsoft.com/office/drawing/2014/main" id="{D489D6A5-5CE4-6258-9C81-8553FFA7471C}"/>
              </a:ext>
            </a:extLst>
          </p:cNvPr>
          <p:cNvSpPr>
            <a:spLocks noGrp="1"/>
          </p:cNvSpPr>
          <p:nvPr>
            <p:ph idx="1"/>
          </p:nvPr>
        </p:nvSpPr>
        <p:spPr/>
        <p:txBody>
          <a:bodyPr/>
          <a:lstStyle/>
          <a:p>
            <a:r>
              <a:rPr lang="en-IN" dirty="0"/>
              <a:t>Here we can see that we are 95% accurate about the minimum and maximum value.</a:t>
            </a:r>
          </a:p>
          <a:p>
            <a:r>
              <a:rPr lang="en-IN" dirty="0"/>
              <a:t>If we check the F value it says that it is 95% accurate and significant.</a:t>
            </a:r>
          </a:p>
          <a:p>
            <a:r>
              <a:rPr lang="en-IN" dirty="0"/>
              <a:t>In this chart we can see that by selling even 1 unit we can earn revenue between 8k to 13K.</a:t>
            </a:r>
          </a:p>
          <a:p>
            <a:r>
              <a:rPr lang="en-IN" dirty="0"/>
              <a:t>The p value&lt;0.05 that means our model is highly significant.</a:t>
            </a:r>
          </a:p>
          <a:p>
            <a:endParaRPr lang="en-IN" dirty="0"/>
          </a:p>
        </p:txBody>
      </p:sp>
      <p:sp>
        <p:nvSpPr>
          <p:cNvPr id="4" name="Text Placeholder 3">
            <a:extLst>
              <a:ext uri="{FF2B5EF4-FFF2-40B4-BE49-F238E27FC236}">
                <a16:creationId xmlns:a16="http://schemas.microsoft.com/office/drawing/2014/main" id="{F606DDF2-C1E8-5D46-388F-E34CB915DFED}"/>
              </a:ext>
            </a:extLst>
          </p:cNvPr>
          <p:cNvSpPr>
            <a:spLocks noGrp="1"/>
          </p:cNvSpPr>
          <p:nvPr>
            <p:ph type="body" sz="half" idx="2"/>
          </p:nvPr>
        </p:nvSpPr>
        <p:spPr/>
        <p:txBody>
          <a:bodyPr/>
          <a:lstStyle/>
          <a:p>
            <a:endParaRPr lang="en-IN"/>
          </a:p>
        </p:txBody>
      </p:sp>
      <p:pic>
        <p:nvPicPr>
          <p:cNvPr id="6" name="Picture 5">
            <a:extLst>
              <a:ext uri="{FF2B5EF4-FFF2-40B4-BE49-F238E27FC236}">
                <a16:creationId xmlns:a16="http://schemas.microsoft.com/office/drawing/2014/main" id="{226AC08E-A54F-6275-886E-75F552378BDB}"/>
              </a:ext>
            </a:extLst>
          </p:cNvPr>
          <p:cNvPicPr>
            <a:picLocks noChangeAspect="1"/>
          </p:cNvPicPr>
          <p:nvPr/>
        </p:nvPicPr>
        <p:blipFill>
          <a:blip r:embed="rId3"/>
          <a:stretch>
            <a:fillRect/>
          </a:stretch>
        </p:blipFill>
        <p:spPr>
          <a:xfrm>
            <a:off x="831102" y="1655835"/>
            <a:ext cx="4240409" cy="2368964"/>
          </a:xfrm>
          <a:prstGeom prst="rect">
            <a:avLst/>
          </a:prstGeom>
        </p:spPr>
      </p:pic>
      <p:pic>
        <p:nvPicPr>
          <p:cNvPr id="8" name="Picture 7">
            <a:extLst>
              <a:ext uri="{FF2B5EF4-FFF2-40B4-BE49-F238E27FC236}">
                <a16:creationId xmlns:a16="http://schemas.microsoft.com/office/drawing/2014/main" id="{E05E7065-10AB-F46F-DD56-037DCFAA8A6A}"/>
              </a:ext>
            </a:extLst>
          </p:cNvPr>
          <p:cNvPicPr>
            <a:picLocks noChangeAspect="1"/>
          </p:cNvPicPr>
          <p:nvPr/>
        </p:nvPicPr>
        <p:blipFill>
          <a:blip r:embed="rId4"/>
          <a:stretch>
            <a:fillRect/>
          </a:stretch>
        </p:blipFill>
        <p:spPr>
          <a:xfrm>
            <a:off x="831102" y="4017683"/>
            <a:ext cx="4246962" cy="2531615"/>
          </a:xfrm>
          <a:prstGeom prst="rect">
            <a:avLst/>
          </a:prstGeom>
        </p:spPr>
      </p:pic>
    </p:spTree>
    <p:extLst>
      <p:ext uri="{BB962C8B-B14F-4D97-AF65-F5344CB8AC3E}">
        <p14:creationId xmlns:p14="http://schemas.microsoft.com/office/powerpoint/2010/main" val="2995568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509F15-A223-93D6-E846-2A29DE39CD5D}"/>
              </a:ext>
            </a:extLst>
          </p:cNvPr>
          <p:cNvPicPr>
            <a:picLocks noChangeAspect="1"/>
          </p:cNvPicPr>
          <p:nvPr/>
        </p:nvPicPr>
        <p:blipFill>
          <a:blip r:embed="rId3"/>
          <a:srcRect r="1" b="1882"/>
          <a:stretch>
            <a:fillRect/>
          </a:stretch>
        </p:blipFill>
        <p:spPr>
          <a:xfrm>
            <a:off x="913795" y="643466"/>
            <a:ext cx="10276720" cy="5571067"/>
          </a:xfrm>
          <a:prstGeom prst="rect">
            <a:avLst/>
          </a:prstGeom>
          <a:ln w="1270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400802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27B3C2-9E18-480C-E504-4A78DA65DFF4}"/>
              </a:ext>
            </a:extLst>
          </p:cNvPr>
          <p:cNvSpPr>
            <a:spLocks noGrp="1"/>
          </p:cNvSpPr>
          <p:nvPr>
            <p:ph type="title"/>
          </p:nvPr>
        </p:nvSpPr>
        <p:spPr>
          <a:xfrm>
            <a:off x="913795" y="609600"/>
            <a:ext cx="10353761" cy="1326321"/>
          </a:xfrm>
        </p:spPr>
        <p:txBody>
          <a:bodyPr>
            <a:normAutofit/>
          </a:bodyPr>
          <a:lstStyle/>
          <a:p>
            <a:r>
              <a:rPr lang="en-IN" dirty="0"/>
              <a:t>Conclusion.</a:t>
            </a:r>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DBD840E-F175-C5E4-3855-9326C54B2CE5}"/>
              </a:ext>
            </a:extLst>
          </p:cNvPr>
          <p:cNvSpPr>
            <a:spLocks noGrp="1"/>
          </p:cNvSpPr>
          <p:nvPr>
            <p:ph idx="1"/>
          </p:nvPr>
        </p:nvSpPr>
        <p:spPr>
          <a:xfrm>
            <a:off x="1466850" y="2463800"/>
            <a:ext cx="9247652" cy="3327400"/>
          </a:xfrm>
        </p:spPr>
        <p:txBody>
          <a:bodyPr>
            <a:normAutofit/>
          </a:bodyPr>
          <a:lstStyle/>
          <a:p>
            <a:r>
              <a:rPr lang="en-IN" dirty="0"/>
              <a:t>This dashboard summarizes overall bike sales performance across quarters, Cities, and models. Total revenue stands at 55M, with Q2 being the highest performing quarter. Pune emerges as the top revenue- generating city, while Mumbai, Chennai shows the lower performance. As it is various  aspects to generate more revenue but the unit sold, city and time period is 46% impact on revenue.</a:t>
            </a:r>
          </a:p>
        </p:txBody>
      </p:sp>
    </p:spTree>
    <p:extLst>
      <p:ext uri="{BB962C8B-B14F-4D97-AF65-F5344CB8AC3E}">
        <p14:creationId xmlns:p14="http://schemas.microsoft.com/office/powerpoint/2010/main" val="251278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87C3DD-7675-7CAC-B1D1-B6FC167BC8A9}"/>
              </a:ext>
            </a:extLst>
          </p:cNvPr>
          <p:cNvSpPr>
            <a:spLocks noGrp="1"/>
          </p:cNvSpPr>
          <p:nvPr>
            <p:ph type="title"/>
          </p:nvPr>
        </p:nvSpPr>
        <p:spPr>
          <a:xfrm>
            <a:off x="1135781" y="1122363"/>
            <a:ext cx="5896391" cy="2387600"/>
          </a:xfrm>
        </p:spPr>
        <p:txBody>
          <a:bodyPr vert="horz" lIns="91440" tIns="45720" rIns="91440" bIns="45720" rtlCol="0" anchor="b">
            <a:normAutofit/>
          </a:bodyPr>
          <a:lstStyle/>
          <a:p>
            <a:r>
              <a:rPr lang="en-US" sz="4800" dirty="0"/>
              <a:t>Thank you.</a:t>
            </a:r>
          </a:p>
        </p:txBody>
      </p:sp>
      <p:pic>
        <p:nvPicPr>
          <p:cNvPr id="8" name="Graphic 7" descr="Handshake">
            <a:extLst>
              <a:ext uri="{FF2B5EF4-FFF2-40B4-BE49-F238E27FC236}">
                <a16:creationId xmlns:a16="http://schemas.microsoft.com/office/drawing/2014/main" id="{DC4E0026-D62E-2F16-6833-9DAB693C32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8736" y="1488697"/>
            <a:ext cx="3402767" cy="3402767"/>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37449807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Damask</Template>
  <TotalTime>97</TotalTime>
  <Words>670</Words>
  <Application>Microsoft Office PowerPoint</Application>
  <PresentationFormat>Widescreen</PresentationFormat>
  <Paragraphs>45</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Bookman Old Style</vt:lpstr>
      <vt:lpstr>Rockwell</vt:lpstr>
      <vt:lpstr>Damask</vt:lpstr>
      <vt:lpstr>Motorcycle sales Performance.</vt:lpstr>
      <vt:lpstr>Introduction</vt:lpstr>
      <vt:lpstr>Project Overview.</vt:lpstr>
      <vt:lpstr>Data description.</vt:lpstr>
      <vt:lpstr>Dashboard design and KPI </vt:lpstr>
      <vt:lpstr>Total Revenue by city.</vt:lpstr>
      <vt:lpstr>Total Units sold by city.</vt:lpstr>
      <vt:lpstr>Maximum and Minimum value.</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Darshana Pawar</dc:creator>
  <cp:lastModifiedBy>Darshana Pawar</cp:lastModifiedBy>
  <cp:revision>2</cp:revision>
  <dcterms:created xsi:type="dcterms:W3CDTF">2026-01-19T06:49:47Z</dcterms:created>
  <dcterms:modified xsi:type="dcterms:W3CDTF">2026-01-26T00:20:39Z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